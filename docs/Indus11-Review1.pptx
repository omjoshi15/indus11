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Decisions</c:v>
                </c:pt>
              </c:strCache>
            </c:strRef>
          </c:tx>
          <c:spPr>
            <a:solidFill>
              <a:schemeClr val="accent1"/>
            </a:solidFill>
            <a:ln w="9525" cap="flat">
              <a:solidFill>
                <a:srgbClr val="F9F9F9"/>
              </a:solidFill>
              <a:prstDash val="solid"/>
              <a:round/>
            </a:ln>
            <a:effectLst/>
          </c:spPr>
          <c:dPt>
            <c:idx val="0"/>
            <c:bubble3D val="0"/>
            <c:spPr>
              <a:solidFill>
                <a:srgbClr val="34D399"/>
              </a:solidFill>
              <a:effectLst/>
            </c:spPr>
          </c:dPt>
          <c:dPt>
            <c:idx val="1"/>
            <c:bubble3D val="0"/>
            <c:spPr>
              <a:solidFill>
                <a:srgbClr val="FBBF24"/>
              </a:solidFill>
              <a:effectLst/>
            </c:spPr>
          </c:dPt>
          <c:dPt>
            <c:idx val="2"/>
            <c:bubble3D val="0"/>
            <c:spPr>
              <a:solidFill>
                <a:srgbClr val="F87171"/>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Approve</c:v>
                </c:pt>
                <c:pt idx="1">
                  <c:v>Review</c:v>
                </c:pt>
                <c:pt idx="2">
                  <c:v>Block</c:v>
                </c:pt>
              </c:strCache>
            </c:strRef>
          </c:cat>
          <c:val>
            <c:numRef>
              <c:f>Sheet1!$B$2:$B$4</c:f>
              <c:numCache>
                <c:ptCount val="3"/>
                <c:pt idx="0">
                  <c:v>132</c:v>
                </c:pt>
                <c:pt idx="1">
                  <c:v>38</c:v>
                </c:pt>
                <c:pt idx="2">
                  <c:v>17</c:v>
                </c:pt>
              </c:numCache>
            </c:numRef>
          </c:val>
        </c:ser>
        <c:firstSliceAng val="0"/>
        <c:holeSize val="62"/>
      </c:doughnutChart>
      <c:spPr>
        <a:noFill/>
        <a:ln>
          <a:noFill/>
        </a:ln>
        <a:effectLst/>
      </c:spPr>
    </c:plotArea>
    <c:legend>
      <c:legendPos val="b"/>
      <c:overlay val="0"/>
      <c:txPr>
        <a:bodyPr/>
        <a:lstStyle/>
        <a:p>
          <a:pPr>
            <a:defRPr sz="1000">
              <a:solidFill>
                <a:srgbClr val="94A3B8"/>
              </a:solidFill>
            </a:defRPr>
          </a:pPr>
          <a:endParaRPr lang="en-US"/>
        </a:p>
      </c:txPr>
    </c:legend>
    <c:plotVisOnly val="1"/>
    <c:dispBlanksAs val="span"/>
  </c:chart>
  <c:spPr>
    <a:solidFill>
      <a:srgbClr val="161D2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(replace the placeholder names). One-liner: Indus11 is a real-time fraud detection API that scores every transaction 0-100 and returns APPROVE, REVIEW or BLOCK with a plain-English explanation generated by an LLM.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differentiator: explainability. The composite score comes from three engines that each catch a different class of fraud. Thresholds (40/70) are configurable via environment variables.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flow: request hits FastAPI, account profiles load from Redis (300s TTL) falling back to MongoDB. The three engines run concurrently via asyncio.gather, so latency is max(engines) not sum. Decision engine sums scores and applies thresholds; result is persisted to MongoDB for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services run under Docker Compose; the API can also run bare with a .venv. LLM cost control: LLM_PROVIDER=ollama runs the whole pipeline free and offline with llama3.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panel's inevitable 'did you consider alternatives?' question. Key rationale: MongoDB — flexible document model fits evolving fraud signals and needs no migrations; Neo4j — fraud rings are relationship patterns (cycles, shared devices) that are one-line Cypher but painful in SQL; ChromaDB — zero-config local vector store, swappable for FAISS/Qdrant at scale; Ollama fallback keeps the whole pipeline free and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Replace [Name] with real member names. Ownership follows the pipeline layers so integration points are explicit: shared Pydantic schemas are the API contract between all three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phases 1-3 delivered a working system, not documents: every layer is implemented and unit-tested, seed data generators exist for both databases, and the dashboard runs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'what actually runs today': the API + tests + dashboard run locally; full docker-compose integration with live MongoDB/Neo4j/Redis is this week's task (phase 4), finishing before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demo live if the panel allows; otherwise show the dashboard on localhost:5173. The dashboard has an offline mode with labeled sample data, so the demo cannot hard-fail.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keeps the same ownership as before. Biggest remaining technical risk is LLM scoring consistency, which the Jul 14-24 evaluation phase addresses with a labeled synthetic test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inviting questions. Likely panel questions: How do you measure accuracy? (labeled synthetic set, precision/recall in the Jul 14-24 phase). Why Neo4j? (fraud rings are relationship patterns — cycles and shared devices are one-line Cypher queries but complex SQL). What's novel? (three independent engines + LLM explanations grounded in a curated fraud-pattern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0F17"/>
        </a:solidFill>
      </p:bgPr>
    </p:bg>
    <p:spTree>
      <p:nvGrpSpPr>
        <p:cNvPr id="1" name=""/>
        <p:cNvGrpSpPr/>
        <p:nvPr/>
      </p:nvGrpSpPr>
      <p:grpSpPr>
        <a:xfrm>
          <a:off x="0" y="0"/>
          <a:ext cx="0" cy="0"/>
          <a:chOff x="0" y="0"/>
          <a:chExt cx="0" cy="0"/>
        </a:xfrm>
      </p:grpSpPr>
      <p:sp>
        <p:nvSpPr>
          <p:cNvPr id="2" name="Shape 0"/>
          <p:cNvSpPr/>
          <p:nvPr/>
        </p:nvSpPr>
        <p:spPr>
          <a:xfrm>
            <a:off x="4041648" y="713232"/>
            <a:ext cx="1060704" cy="1060704"/>
          </a:xfrm>
          <a:prstGeom prst="roundRect">
            <a:avLst>
              <a:gd name="adj" fmla="val 13793"/>
            </a:avLst>
          </a:prstGeom>
          <a:solidFill>
            <a:srgbClr val="3B82F6"/>
          </a:solidFill>
          <a:ln/>
          <a:effectLst>
            <a:outerShdw sx="100000" sy="100000" kx="0" ky="0" algn="bl" rotWithShape="0" blurRad="101600" dist="38100" dir="5400000">
              <a:srgbClr val="000000">
                <a:alpha val="35000"/>
              </a:srgbClr>
            </a:outerShdw>
          </a:effectLst>
        </p:spPr>
      </p:sp>
      <p:pic>
        <p:nvPicPr>
          <p:cNvPr id="3" name="Image 0" descr="preencoded.png">    </p:cNvPr>
          <p:cNvPicPr>
            <a:picLocks noChangeAspect="1"/>
          </p:cNvPicPr>
          <p:nvPr/>
        </p:nvPicPr>
        <p:blipFill>
          <a:blip r:embed="rId1"/>
          <a:stretch>
            <a:fillRect/>
          </a:stretch>
        </p:blipFill>
        <p:spPr>
          <a:xfrm>
            <a:off x="4297680" y="969264"/>
            <a:ext cx="548640" cy="548640"/>
          </a:xfrm>
          <a:prstGeom prst="rect">
            <a:avLst/>
          </a:prstGeom>
        </p:spPr>
      </p:pic>
      <p:sp>
        <p:nvSpPr>
          <p:cNvPr id="4" name="Text 1"/>
          <p:cNvSpPr/>
          <p:nvPr/>
        </p:nvSpPr>
        <p:spPr>
          <a:xfrm>
            <a:off x="914400" y="1938528"/>
            <a:ext cx="7315200" cy="685800"/>
          </a:xfrm>
          <a:prstGeom prst="rect">
            <a:avLst/>
          </a:prstGeom>
          <a:noFill/>
          <a:ln/>
        </p:spPr>
        <p:txBody>
          <a:bodyPr wrap="square" lIns="0" tIns="0" rIns="0" bIns="0" rtlCol="0" anchor="ctr"/>
          <a:lstStyle/>
          <a:p>
            <a:pPr algn="ctr" indent="0" marL="0">
              <a:buNone/>
            </a:pPr>
            <a:r>
              <a:rPr lang="en-US" sz="4400" b="1" spc="600" kern="0" dirty="0">
                <a:solidFill>
                  <a:srgbClr val="E8EDF7"/>
                </a:solidFill>
                <a:latin typeface="Courier New" pitchFamily="34" charset="0"/>
                <a:ea typeface="Courier New" pitchFamily="34" charset="-122"/>
                <a:cs typeface="Courier New" pitchFamily="34" charset="-120"/>
              </a:rPr>
              <a:t>INDUS11</a:t>
            </a:r>
            <a:endParaRPr lang="en-US" sz="4400" dirty="0"/>
          </a:p>
        </p:txBody>
      </p:sp>
      <p:sp>
        <p:nvSpPr>
          <p:cNvPr id="5" name="Text 2"/>
          <p:cNvSpPr/>
          <p:nvPr/>
        </p:nvSpPr>
        <p:spPr>
          <a:xfrm>
            <a:off x="914400" y="2633472"/>
            <a:ext cx="7315200" cy="365760"/>
          </a:xfrm>
          <a:prstGeom prst="rect">
            <a:avLst/>
          </a:prstGeom>
          <a:noFill/>
          <a:ln/>
        </p:spPr>
        <p:txBody>
          <a:bodyPr wrap="square" lIns="0" tIns="0" rIns="0" bIns="0" rtlCol="0" anchor="ctr"/>
          <a:lstStyle/>
          <a:p>
            <a:pPr algn="ctr" indent="0" marL="0">
              <a:buNone/>
            </a:pPr>
            <a:r>
              <a:rPr lang="en-US" sz="1700" dirty="0">
                <a:solidFill>
                  <a:srgbClr val="CADCFC"/>
                </a:solidFill>
                <a:latin typeface="Calibri" pitchFamily="34" charset="0"/>
                <a:ea typeface="Calibri" pitchFamily="34" charset="-122"/>
                <a:cs typeface="Calibri" pitchFamily="34" charset="-120"/>
              </a:rPr>
              <a:t>AI Financial Risk &amp; Fraud Decision Engine</a:t>
            </a:r>
            <a:endParaRPr lang="en-US" sz="1700" dirty="0"/>
          </a:p>
        </p:txBody>
      </p:sp>
      <p:sp>
        <p:nvSpPr>
          <p:cNvPr id="6" name="Text 3"/>
          <p:cNvSpPr/>
          <p:nvPr/>
        </p:nvSpPr>
        <p:spPr>
          <a:xfrm>
            <a:off x="914400" y="3200400"/>
            <a:ext cx="7315200" cy="320040"/>
          </a:xfrm>
          <a:prstGeom prst="rect">
            <a:avLst/>
          </a:prstGeom>
          <a:noFill/>
          <a:ln/>
        </p:spPr>
        <p:txBody>
          <a:bodyPr wrap="square" lIns="0" tIns="0" rIns="0" bIns="0" rtlCol="0" anchor="ctr"/>
          <a:lstStyle/>
          <a:p>
            <a:pPr algn="ctr" indent="0" marL="0">
              <a:buNone/>
            </a:pPr>
            <a:r>
              <a:rPr lang="en-US" sz="1300" b="1" dirty="0">
                <a:solidFill>
                  <a:srgbClr val="FBBF24"/>
                </a:solidFill>
                <a:latin typeface="Courier New" pitchFamily="34" charset="0"/>
                <a:ea typeface="Courier New" pitchFamily="34" charset="-122"/>
                <a:cs typeface="Courier New" pitchFamily="34" charset="-120"/>
              </a:rPr>
              <a:t>FIRST PROJECT REVIEW</a:t>
            </a:r>
            <a:pPr algn="ctr" indent="0" marL="0">
              <a:buNone/>
            </a:pPr>
            <a:r>
              <a:rPr lang="en-US" sz="1300" dirty="0">
                <a:solidFill>
                  <a:srgbClr val="94A3B8"/>
                </a:solidFill>
                <a:latin typeface="Courier New" pitchFamily="34" charset="0"/>
                <a:ea typeface="Courier New" pitchFamily="34" charset="-122"/>
                <a:cs typeface="Courier New" pitchFamily="34" charset="-120"/>
              </a:rPr>
              <a:t>   ·   July 11, 2026</a:t>
            </a:r>
            <a:endParaRPr lang="en-US" sz="1300" dirty="0"/>
          </a:p>
        </p:txBody>
      </p:sp>
      <p:sp>
        <p:nvSpPr>
          <p:cNvPr id="7" name="Text 4"/>
          <p:cNvSpPr/>
          <p:nvPr/>
        </p:nvSpPr>
        <p:spPr>
          <a:xfrm>
            <a:off x="914400" y="3730752"/>
            <a:ext cx="7315200" cy="310896"/>
          </a:xfrm>
          <a:prstGeom prst="rect">
            <a:avLst/>
          </a:prstGeom>
          <a:noFill/>
          <a:ln/>
        </p:spPr>
        <p:txBody>
          <a:bodyPr wrap="square" lIns="0" tIns="0" rIns="0" bIns="0" rtlCol="0" anchor="ctr"/>
          <a:lstStyle/>
          <a:p>
            <a:pPr algn="ctr" indent="0" marL="0">
              <a:buNone/>
            </a:pPr>
            <a:r>
              <a:rPr lang="en-US" sz="1400" dirty="0">
                <a:solidFill>
                  <a:srgbClr val="E8EDF7"/>
                </a:solidFill>
                <a:latin typeface="Calibri" pitchFamily="34" charset="0"/>
                <a:ea typeface="Calibri" pitchFamily="34" charset="-122"/>
                <a:cs typeface="Calibri" pitchFamily="34" charset="-120"/>
              </a:rPr>
              <a:t>Joshi Om   ·   Krish Gajera   ·   Drashti Dedaniya</a:t>
            </a:r>
            <a:endParaRPr lang="en-US" sz="1400" dirty="0"/>
          </a:p>
        </p:txBody>
      </p:sp>
      <p:sp>
        <p:nvSpPr>
          <p:cNvPr id="8" name="Text 5"/>
          <p:cNvSpPr/>
          <p:nvPr/>
        </p:nvSpPr>
        <p:spPr>
          <a:xfrm>
            <a:off x="914400" y="4059936"/>
            <a:ext cx="7315200" cy="274320"/>
          </a:xfrm>
          <a:prstGeom prst="rect">
            <a:avLst/>
          </a:prstGeom>
          <a:noFill/>
          <a:ln/>
        </p:spPr>
        <p:txBody>
          <a:bodyPr wrap="square" lIns="0" tIns="0" rIns="0" bIns="0" rtlCol="0" anchor="ctr"/>
          <a:lstStyle/>
          <a:p>
            <a:pPr algn="ctr" indent="0" marL="0">
              <a:buNone/>
            </a:pPr>
            <a:r>
              <a:rPr lang="en-US" sz="1100" dirty="0">
                <a:solidFill>
                  <a:srgbClr val="94A3B8"/>
                </a:solidFill>
                <a:latin typeface="Calibri" pitchFamily="34" charset="0"/>
                <a:ea typeface="Calibri" pitchFamily="34" charset="-122"/>
                <a:cs typeface="Calibri" pitchFamily="34" charset="-120"/>
              </a:rPr>
              <a:t>Semester Group Project · Algoma University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01 · PROJECT IDEA</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Real-time fraud decisions, explained in plain English</a:t>
            </a:r>
            <a:endParaRPr lang="en-US" sz="2800" dirty="0"/>
          </a:p>
        </p:txBody>
      </p:sp>
      <p:sp>
        <p:nvSpPr>
          <p:cNvPr id="4" name="Shape 2"/>
          <p:cNvSpPr/>
          <p:nvPr/>
        </p:nvSpPr>
        <p:spPr>
          <a:xfrm>
            <a:off x="502920" y="1280160"/>
            <a:ext cx="4663440" cy="3429000"/>
          </a:xfrm>
          <a:prstGeom prst="roundRect">
            <a:avLst>
              <a:gd name="adj" fmla="val 1867"/>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777240" y="1481328"/>
            <a:ext cx="4114800" cy="274320"/>
          </a:xfrm>
          <a:prstGeom prst="rect">
            <a:avLst/>
          </a:prstGeom>
          <a:noFill/>
          <a:ln/>
        </p:spPr>
        <p:txBody>
          <a:bodyPr wrap="square" lIns="0" tIns="0" rIns="0" bIns="0" rtlCol="0" anchor="ctr"/>
          <a:lstStyle/>
          <a:p>
            <a:pPr indent="0" marL="0">
              <a:buNone/>
            </a:pPr>
            <a:r>
              <a:rPr lang="en-US" sz="1400" b="1" dirty="0">
                <a:solidFill>
                  <a:srgbClr val="60A5FA"/>
                </a:solidFill>
                <a:latin typeface="Calibri" pitchFamily="34" charset="0"/>
                <a:ea typeface="Calibri" pitchFamily="34" charset="-122"/>
                <a:cs typeface="Calibri" pitchFamily="34" charset="-120"/>
              </a:rPr>
              <a:t>The problem</a:t>
            </a:r>
            <a:endParaRPr lang="en-US" sz="1400" dirty="0"/>
          </a:p>
        </p:txBody>
      </p:sp>
      <p:sp>
        <p:nvSpPr>
          <p:cNvPr id="6" name="Text 4"/>
          <p:cNvSpPr/>
          <p:nvPr/>
        </p:nvSpPr>
        <p:spPr>
          <a:xfrm>
            <a:off x="777240" y="1773936"/>
            <a:ext cx="4160520" cy="868680"/>
          </a:xfrm>
          <a:prstGeom prst="rect">
            <a:avLst/>
          </a:prstGeom>
          <a:noFill/>
          <a:ln/>
        </p:spPr>
        <p:txBody>
          <a:bodyPr wrap="square" lIns="0" tIns="0" rIns="0" bIns="0" rtlCol="0" anchor="ctr"/>
          <a:lstStyle/>
          <a:p>
            <a:pPr indent="0" marL="0">
              <a:buNone/>
            </a:pPr>
            <a:r>
              <a:rPr lang="en-US" sz="1250" dirty="0">
                <a:solidFill>
                  <a:srgbClr val="E8EDF7"/>
                </a:solidFill>
                <a:latin typeface="Calibri" pitchFamily="34" charset="0"/>
                <a:ea typeface="Calibri" pitchFamily="34" charset="-122"/>
                <a:cs typeface="Calibri" pitchFamily="34" charset="-120"/>
              </a:rPr>
              <a:t>Banks must decide in milliseconds whether a payment is legitimate. Pure rule systems miss novel fraud; pure ML systems can't explain why they blocked a customer.</a:t>
            </a:r>
            <a:endParaRPr lang="en-US" sz="1250" dirty="0"/>
          </a:p>
        </p:txBody>
      </p:sp>
      <p:sp>
        <p:nvSpPr>
          <p:cNvPr id="7" name="Text 5"/>
          <p:cNvSpPr/>
          <p:nvPr/>
        </p:nvSpPr>
        <p:spPr>
          <a:xfrm>
            <a:off x="777240" y="2743200"/>
            <a:ext cx="4114800" cy="274320"/>
          </a:xfrm>
          <a:prstGeom prst="rect">
            <a:avLst/>
          </a:prstGeom>
          <a:noFill/>
          <a:ln/>
        </p:spPr>
        <p:txBody>
          <a:bodyPr wrap="square" lIns="0" tIns="0" rIns="0" bIns="0" rtlCol="0" anchor="ctr"/>
          <a:lstStyle/>
          <a:p>
            <a:pPr indent="0" marL="0">
              <a:buNone/>
            </a:pPr>
            <a:r>
              <a:rPr lang="en-US" sz="1400" b="1" dirty="0">
                <a:solidFill>
                  <a:srgbClr val="60A5FA"/>
                </a:solidFill>
                <a:latin typeface="Calibri" pitchFamily="34" charset="0"/>
                <a:ea typeface="Calibri" pitchFamily="34" charset="-122"/>
                <a:cs typeface="Calibri" pitchFamily="34" charset="-120"/>
              </a:rPr>
              <a:t>Our idea</a:t>
            </a:r>
            <a:endParaRPr lang="en-US" sz="1400" dirty="0"/>
          </a:p>
        </p:txBody>
      </p:sp>
      <p:sp>
        <p:nvSpPr>
          <p:cNvPr id="8" name="Text 6"/>
          <p:cNvSpPr/>
          <p:nvPr/>
        </p:nvSpPr>
        <p:spPr>
          <a:xfrm>
            <a:off x="777240" y="3035808"/>
            <a:ext cx="4160520" cy="1554480"/>
          </a:xfrm>
          <a:prstGeom prst="rect">
            <a:avLst/>
          </a:prstGeom>
          <a:noFill/>
          <a:ln/>
        </p:spPr>
        <p:txBody>
          <a:bodyPr wrap="square" lIns="0" tIns="0" rIns="0" bIns="0" rtlCol="0" anchor="ctr"/>
          <a:lstStyle/>
          <a:p>
            <a:pPr marL="342900" indent="-342900">
              <a:spcAft>
                <a:spcPts val="600"/>
              </a:spcAft>
              <a:buSzPct val="100000"/>
              <a:buChar char="•"/>
            </a:pPr>
            <a:r>
              <a:rPr lang="en-US" sz="1250" dirty="0">
                <a:solidFill>
                  <a:srgbClr val="E8EDF7"/>
                </a:solidFill>
                <a:latin typeface="Calibri" pitchFamily="34" charset="0"/>
                <a:ea typeface="Calibri" pitchFamily="34" charset="-122"/>
                <a:cs typeface="Calibri" pitchFamily="34" charset="-120"/>
              </a:rPr>
              <a:t>Score every transaction with three independent engines — business rules, graph analysis of fraud rings, and a RAG-grounded LLM</a:t>
            </a:r>
            <a:endParaRPr lang="en-US" sz="1250" dirty="0"/>
          </a:p>
          <a:p>
            <a:pPr marL="342900" indent="-342900">
              <a:spcAft>
                <a:spcPts val="600"/>
              </a:spcAft>
              <a:buSzPct val="100000"/>
              <a:buChar char="•"/>
            </a:pPr>
            <a:r>
              <a:rPr lang="en-US" sz="1250" dirty="0">
                <a:solidFill>
                  <a:srgbClr val="E8EDF7"/>
                </a:solidFill>
                <a:latin typeface="Calibri" pitchFamily="34" charset="0"/>
                <a:ea typeface="Calibri" pitchFamily="34" charset="-122"/>
                <a:cs typeface="Calibri" pitchFamily="34" charset="-120"/>
              </a:rPr>
              <a:t>Combine them into one 0-100 composite score with clear thresholds</a:t>
            </a:r>
            <a:endParaRPr lang="en-US" sz="1250" dirty="0"/>
          </a:p>
          <a:p>
            <a:pPr marL="342900" indent="-342900">
              <a:buSzPct val="100000"/>
              <a:buChar char="•"/>
            </a:pPr>
            <a:r>
              <a:rPr lang="en-US" sz="1250" dirty="0">
                <a:solidFill>
                  <a:srgbClr val="E8EDF7"/>
                </a:solidFill>
                <a:latin typeface="Calibri" pitchFamily="34" charset="0"/>
                <a:ea typeface="Calibri" pitchFamily="34" charset="-122"/>
                <a:cs typeface="Calibri" pitchFamily="34" charset="-120"/>
              </a:rPr>
              <a:t>Return the decision plus a natural-language explanation an analyst can act on</a:t>
            </a:r>
            <a:endParaRPr lang="en-US" sz="1250" dirty="0"/>
          </a:p>
        </p:txBody>
      </p:sp>
      <p:sp>
        <p:nvSpPr>
          <p:cNvPr id="9" name="Shape 7"/>
          <p:cNvSpPr/>
          <p:nvPr/>
        </p:nvSpPr>
        <p:spPr>
          <a:xfrm>
            <a:off x="5440680" y="1280160"/>
            <a:ext cx="3200400" cy="1024128"/>
          </a:xfrm>
          <a:prstGeom prst="roundRect">
            <a:avLst>
              <a:gd name="adj" fmla="val 6250"/>
            </a:avLst>
          </a:prstGeom>
          <a:solidFill>
            <a:srgbClr val="1C2539"/>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5623560" y="1517904"/>
            <a:ext cx="548640" cy="548640"/>
          </a:xfrm>
          <a:prstGeom prst="roundRect">
            <a:avLst>
              <a:gd name="adj" fmla="val 15000"/>
            </a:avLst>
          </a:prstGeom>
          <a:solidFill>
            <a:srgbClr val="0B0F17"/>
          </a:solidFill>
          <a:ln/>
        </p:spPr>
      </p:sp>
      <p:pic>
        <p:nvPicPr>
          <p:cNvPr id="11" name="Image 0" descr="preencoded.png">    </p:cNvPr>
          <p:cNvPicPr>
            <a:picLocks noChangeAspect="1"/>
          </p:cNvPicPr>
          <p:nvPr/>
        </p:nvPicPr>
        <p:blipFill>
          <a:blip r:embed="rId1"/>
          <a:stretch>
            <a:fillRect/>
          </a:stretch>
        </p:blipFill>
        <p:spPr>
          <a:xfrm>
            <a:off x="5766206" y="1660550"/>
            <a:ext cx="263347" cy="263347"/>
          </a:xfrm>
          <a:prstGeom prst="rect">
            <a:avLst/>
          </a:prstGeom>
        </p:spPr>
      </p:pic>
      <p:sp>
        <p:nvSpPr>
          <p:cNvPr id="12" name="Text 9"/>
          <p:cNvSpPr/>
          <p:nvPr/>
        </p:nvSpPr>
        <p:spPr>
          <a:xfrm>
            <a:off x="6309360" y="1444752"/>
            <a:ext cx="2286000" cy="292608"/>
          </a:xfrm>
          <a:prstGeom prst="rect">
            <a:avLst/>
          </a:prstGeom>
          <a:noFill/>
          <a:ln/>
        </p:spPr>
        <p:txBody>
          <a:bodyPr wrap="square" lIns="0" tIns="0" rIns="0" bIns="0" rtlCol="0" anchor="ctr"/>
          <a:lstStyle/>
          <a:p>
            <a:pPr indent="0" marL="0">
              <a:buNone/>
            </a:pPr>
            <a:r>
              <a:rPr lang="en-US" sz="1500" b="1" dirty="0">
                <a:solidFill>
                  <a:srgbClr val="34D399"/>
                </a:solidFill>
                <a:latin typeface="Calibri" pitchFamily="34" charset="0"/>
                <a:ea typeface="Calibri" pitchFamily="34" charset="-122"/>
                <a:cs typeface="Calibri" pitchFamily="34" charset="-120"/>
              </a:rPr>
              <a:t>APPROVE  </a:t>
            </a:r>
            <a:pPr indent="0" marL="0">
              <a:buNone/>
            </a:pPr>
            <a:r>
              <a:rPr lang="en-US" sz="1050" dirty="0">
                <a:solidFill>
                  <a:srgbClr val="94A3B8"/>
                </a:solidFill>
                <a:latin typeface="Courier New" pitchFamily="34" charset="0"/>
                <a:ea typeface="Courier New" pitchFamily="34" charset="-122"/>
                <a:cs typeface="Courier New" pitchFamily="34" charset="-120"/>
              </a:rPr>
              <a:t>score 0–39</a:t>
            </a:r>
            <a:endParaRPr lang="en-US" sz="1500" dirty="0"/>
          </a:p>
        </p:txBody>
      </p:sp>
      <p:sp>
        <p:nvSpPr>
          <p:cNvPr id="13" name="Text 10"/>
          <p:cNvSpPr/>
          <p:nvPr/>
        </p:nvSpPr>
        <p:spPr>
          <a:xfrm>
            <a:off x="6309360" y="1755648"/>
            <a:ext cx="2240280" cy="457200"/>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Clean payment — release instantly</a:t>
            </a:r>
            <a:endParaRPr lang="en-US" sz="1100" dirty="0"/>
          </a:p>
        </p:txBody>
      </p:sp>
      <p:sp>
        <p:nvSpPr>
          <p:cNvPr id="14" name="Shape 11"/>
          <p:cNvSpPr/>
          <p:nvPr/>
        </p:nvSpPr>
        <p:spPr>
          <a:xfrm>
            <a:off x="5440680" y="2468880"/>
            <a:ext cx="3200400" cy="1024128"/>
          </a:xfrm>
          <a:prstGeom prst="roundRect">
            <a:avLst>
              <a:gd name="adj" fmla="val 6250"/>
            </a:avLst>
          </a:prstGeom>
          <a:solidFill>
            <a:srgbClr val="1C2539"/>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5" name="Shape 12"/>
          <p:cNvSpPr/>
          <p:nvPr/>
        </p:nvSpPr>
        <p:spPr>
          <a:xfrm>
            <a:off x="5623560" y="2706624"/>
            <a:ext cx="548640" cy="548640"/>
          </a:xfrm>
          <a:prstGeom prst="roundRect">
            <a:avLst>
              <a:gd name="adj" fmla="val 15000"/>
            </a:avLst>
          </a:prstGeom>
          <a:solidFill>
            <a:srgbClr val="0B0F17"/>
          </a:solidFill>
          <a:ln/>
        </p:spPr>
      </p:sp>
      <p:pic>
        <p:nvPicPr>
          <p:cNvPr id="16" name="Image 1" descr="preencoded.png">    </p:cNvPr>
          <p:cNvPicPr>
            <a:picLocks noChangeAspect="1"/>
          </p:cNvPicPr>
          <p:nvPr/>
        </p:nvPicPr>
        <p:blipFill>
          <a:blip r:embed="rId2"/>
          <a:stretch>
            <a:fillRect/>
          </a:stretch>
        </p:blipFill>
        <p:spPr>
          <a:xfrm>
            <a:off x="5766206" y="2849270"/>
            <a:ext cx="263347" cy="263347"/>
          </a:xfrm>
          <a:prstGeom prst="rect">
            <a:avLst/>
          </a:prstGeom>
        </p:spPr>
      </p:pic>
      <p:sp>
        <p:nvSpPr>
          <p:cNvPr id="17" name="Text 13"/>
          <p:cNvSpPr/>
          <p:nvPr/>
        </p:nvSpPr>
        <p:spPr>
          <a:xfrm>
            <a:off x="6309360" y="2633472"/>
            <a:ext cx="2286000" cy="292608"/>
          </a:xfrm>
          <a:prstGeom prst="rect">
            <a:avLst/>
          </a:prstGeom>
          <a:noFill/>
          <a:ln/>
        </p:spPr>
        <p:txBody>
          <a:bodyPr wrap="square" lIns="0" tIns="0" rIns="0" bIns="0" rtlCol="0" anchor="ctr"/>
          <a:lstStyle/>
          <a:p>
            <a:pPr indent="0" marL="0">
              <a:buNone/>
            </a:pPr>
            <a:r>
              <a:rPr lang="en-US" sz="1500" b="1" dirty="0">
                <a:solidFill>
                  <a:srgbClr val="FBBF24"/>
                </a:solidFill>
                <a:latin typeface="Calibri" pitchFamily="34" charset="0"/>
                <a:ea typeface="Calibri" pitchFamily="34" charset="-122"/>
                <a:cs typeface="Calibri" pitchFamily="34" charset="-120"/>
              </a:rPr>
              <a:t>REVIEW  </a:t>
            </a:r>
            <a:pPr indent="0" marL="0">
              <a:buNone/>
            </a:pPr>
            <a:r>
              <a:rPr lang="en-US" sz="1050" dirty="0">
                <a:solidFill>
                  <a:srgbClr val="94A3B8"/>
                </a:solidFill>
                <a:latin typeface="Courier New" pitchFamily="34" charset="0"/>
                <a:ea typeface="Courier New" pitchFamily="34" charset="-122"/>
                <a:cs typeface="Courier New" pitchFamily="34" charset="-120"/>
              </a:rPr>
              <a:t>score 40–69</a:t>
            </a:r>
            <a:endParaRPr lang="en-US" sz="1500" dirty="0"/>
          </a:p>
        </p:txBody>
      </p:sp>
      <p:sp>
        <p:nvSpPr>
          <p:cNvPr id="18" name="Text 14"/>
          <p:cNvSpPr/>
          <p:nvPr/>
        </p:nvSpPr>
        <p:spPr>
          <a:xfrm>
            <a:off x="6309360" y="2944368"/>
            <a:ext cx="2240280" cy="457200"/>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Suspicious — queue for an analyst</a:t>
            </a:r>
            <a:endParaRPr lang="en-US" sz="1100" dirty="0"/>
          </a:p>
        </p:txBody>
      </p:sp>
      <p:sp>
        <p:nvSpPr>
          <p:cNvPr id="19" name="Shape 15"/>
          <p:cNvSpPr/>
          <p:nvPr/>
        </p:nvSpPr>
        <p:spPr>
          <a:xfrm>
            <a:off x="5440680" y="3657600"/>
            <a:ext cx="3200400" cy="1024128"/>
          </a:xfrm>
          <a:prstGeom prst="roundRect">
            <a:avLst>
              <a:gd name="adj" fmla="val 6250"/>
            </a:avLst>
          </a:prstGeom>
          <a:solidFill>
            <a:srgbClr val="1C2539"/>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20" name="Shape 16"/>
          <p:cNvSpPr/>
          <p:nvPr/>
        </p:nvSpPr>
        <p:spPr>
          <a:xfrm>
            <a:off x="5623560" y="3895344"/>
            <a:ext cx="548640" cy="548640"/>
          </a:xfrm>
          <a:prstGeom prst="roundRect">
            <a:avLst>
              <a:gd name="adj" fmla="val 15000"/>
            </a:avLst>
          </a:prstGeom>
          <a:solidFill>
            <a:srgbClr val="0B0F17"/>
          </a:solidFill>
          <a:ln/>
        </p:spPr>
      </p:sp>
      <p:pic>
        <p:nvPicPr>
          <p:cNvPr id="21" name="Image 2" descr="preencoded.png">    </p:cNvPr>
          <p:cNvPicPr>
            <a:picLocks noChangeAspect="1"/>
          </p:cNvPicPr>
          <p:nvPr/>
        </p:nvPicPr>
        <p:blipFill>
          <a:blip r:embed="rId3"/>
          <a:stretch>
            <a:fillRect/>
          </a:stretch>
        </p:blipFill>
        <p:spPr>
          <a:xfrm>
            <a:off x="5766206" y="4037990"/>
            <a:ext cx="263347" cy="263347"/>
          </a:xfrm>
          <a:prstGeom prst="rect">
            <a:avLst/>
          </a:prstGeom>
        </p:spPr>
      </p:pic>
      <p:sp>
        <p:nvSpPr>
          <p:cNvPr id="22" name="Text 17"/>
          <p:cNvSpPr/>
          <p:nvPr/>
        </p:nvSpPr>
        <p:spPr>
          <a:xfrm>
            <a:off x="6309360" y="3822192"/>
            <a:ext cx="2286000" cy="292608"/>
          </a:xfrm>
          <a:prstGeom prst="rect">
            <a:avLst/>
          </a:prstGeom>
          <a:noFill/>
          <a:ln/>
        </p:spPr>
        <p:txBody>
          <a:bodyPr wrap="square" lIns="0" tIns="0" rIns="0" bIns="0" rtlCol="0" anchor="ctr"/>
          <a:lstStyle/>
          <a:p>
            <a:pPr indent="0" marL="0">
              <a:buNone/>
            </a:pPr>
            <a:r>
              <a:rPr lang="en-US" sz="1500" b="1" dirty="0">
                <a:solidFill>
                  <a:srgbClr val="F87171"/>
                </a:solidFill>
                <a:latin typeface="Calibri" pitchFamily="34" charset="0"/>
                <a:ea typeface="Calibri" pitchFamily="34" charset="-122"/>
                <a:cs typeface="Calibri" pitchFamily="34" charset="-120"/>
              </a:rPr>
              <a:t>BLOCK  </a:t>
            </a:r>
            <a:pPr indent="0" marL="0">
              <a:buNone/>
            </a:pPr>
            <a:r>
              <a:rPr lang="en-US" sz="1050" dirty="0">
                <a:solidFill>
                  <a:srgbClr val="94A3B8"/>
                </a:solidFill>
                <a:latin typeface="Courier New" pitchFamily="34" charset="0"/>
                <a:ea typeface="Courier New" pitchFamily="34" charset="-122"/>
                <a:cs typeface="Courier New" pitchFamily="34" charset="-120"/>
              </a:rPr>
              <a:t>score 70–100</a:t>
            </a:r>
            <a:endParaRPr lang="en-US" sz="1500" dirty="0"/>
          </a:p>
        </p:txBody>
      </p:sp>
      <p:sp>
        <p:nvSpPr>
          <p:cNvPr id="23" name="Text 18"/>
          <p:cNvSpPr/>
          <p:nvPr/>
        </p:nvSpPr>
        <p:spPr>
          <a:xfrm>
            <a:off x="6309360" y="4133088"/>
            <a:ext cx="2240280" cy="457200"/>
          </a:xfrm>
          <a:prstGeom prst="rect">
            <a:avLst/>
          </a:prstGeom>
          <a:noFill/>
          <a:ln/>
        </p:spPr>
        <p:txBody>
          <a:bodyPr wrap="square" lIns="0" tIns="0" rIns="0" bIns="0" rtlCol="0" anchor="ctr"/>
          <a:lstStyle/>
          <a:p>
            <a:pPr indent="0" marL="0">
              <a:buNone/>
            </a:pPr>
            <a:r>
              <a:rPr lang="en-US" sz="1100" dirty="0">
                <a:solidFill>
                  <a:srgbClr val="E8EDF7"/>
                </a:solidFill>
                <a:latin typeface="Calibri" pitchFamily="34" charset="0"/>
                <a:ea typeface="Calibri" pitchFamily="34" charset="-122"/>
                <a:cs typeface="Calibri" pitchFamily="34" charset="-120"/>
              </a:rPr>
              <a:t>High risk — stop the transaction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02 · ARCHITECTURE</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Five-layer pipeline — three engines run in parallel</a:t>
            </a:r>
            <a:endParaRPr lang="en-US" sz="2800" dirty="0"/>
          </a:p>
        </p:txBody>
      </p:sp>
      <p:sp>
        <p:nvSpPr>
          <p:cNvPr id="4" name="Shape 2"/>
          <p:cNvSpPr/>
          <p:nvPr/>
        </p:nvSpPr>
        <p:spPr>
          <a:xfrm>
            <a:off x="3200400" y="1207008"/>
            <a:ext cx="2743200" cy="566928"/>
          </a:xfrm>
          <a:prstGeom prst="roundRect">
            <a:avLst>
              <a:gd name="adj" fmla="val 11290"/>
            </a:avLst>
          </a:prstGeom>
          <a:solidFill>
            <a:srgbClr val="1C2539"/>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3291840" y="1207008"/>
            <a:ext cx="2560320" cy="566928"/>
          </a:xfrm>
          <a:prstGeom prst="rect">
            <a:avLst/>
          </a:prstGeom>
          <a:noFill/>
          <a:ln/>
        </p:spPr>
        <p:txBody>
          <a:bodyPr wrap="square" lIns="0" tIns="0" rIns="0" bIns="0" rtlCol="0" anchor="ctr"/>
          <a:lstStyle/>
          <a:p>
            <a:pPr algn="ctr" indent="0" marL="0">
              <a:buNone/>
            </a:pPr>
            <a:r>
              <a:rPr lang="en-US" sz="1200" b="1" dirty="0">
                <a:solidFill>
                  <a:srgbClr val="60A5FA"/>
                </a:solidFill>
                <a:latin typeface="Calibri" pitchFamily="34" charset="0"/>
                <a:ea typeface="Calibri" pitchFamily="34" charset="-122"/>
                <a:cs typeface="Calibri" pitchFamily="34" charset="-120"/>
              </a:rPr>
              <a:t>L1 · API GATEWAY</a:t>
            </a:r>
            <a:pPr algn="ctr" indent="0" marL="0">
              <a:buNone/>
            </a:pPr>
            <a:r>
              <a:rPr lang="en-US" sz="1050" dirty="0">
                <a:solidFill>
                  <a:srgbClr val="94A3B8"/>
                </a:solidFill>
                <a:latin typeface="Calibri" pitchFamily="34" charset="0"/>
                <a:ea typeface="Calibri" pitchFamily="34" charset="-122"/>
                <a:cs typeface="Calibri" pitchFamily="34" charset="-120"/>
              </a:rPr>
              <a:t>   FastAPI + Redis cache</a:t>
            </a:r>
            <a:endParaRPr lang="en-US" sz="1200" dirty="0"/>
          </a:p>
        </p:txBody>
      </p:sp>
      <p:sp>
        <p:nvSpPr>
          <p:cNvPr id="6" name="Shape 4"/>
          <p:cNvSpPr/>
          <p:nvPr/>
        </p:nvSpPr>
        <p:spPr>
          <a:xfrm>
            <a:off x="4572000" y="1773936"/>
            <a:ext cx="0" cy="256032"/>
          </a:xfrm>
          <a:prstGeom prst="line">
            <a:avLst/>
          </a:prstGeom>
          <a:noFill/>
          <a:ln w="19050">
            <a:solidFill>
              <a:srgbClr val="94A3B8"/>
            </a:solidFill>
            <a:prstDash val="solid"/>
            <a:tailEnd type="triangle"/>
          </a:ln>
        </p:spPr>
      </p:sp>
      <p:sp>
        <p:nvSpPr>
          <p:cNvPr id="7" name="Shape 5"/>
          <p:cNvSpPr/>
          <p:nvPr/>
        </p:nvSpPr>
        <p:spPr>
          <a:xfrm flipH="1">
            <a:off x="1737360" y="1883664"/>
            <a:ext cx="2834640" cy="384048"/>
          </a:xfrm>
          <a:prstGeom prst="line">
            <a:avLst/>
          </a:prstGeom>
          <a:noFill/>
          <a:ln w="19050">
            <a:solidFill>
              <a:srgbClr val="94A3B8"/>
            </a:solidFill>
            <a:prstDash val="solid"/>
            <a:tailEnd type="triangle"/>
          </a:ln>
        </p:spPr>
      </p:sp>
      <p:sp>
        <p:nvSpPr>
          <p:cNvPr id="8" name="Shape 6"/>
          <p:cNvSpPr/>
          <p:nvPr/>
        </p:nvSpPr>
        <p:spPr>
          <a:xfrm>
            <a:off x="4572000" y="1883664"/>
            <a:ext cx="2834640" cy="384048"/>
          </a:xfrm>
          <a:prstGeom prst="line">
            <a:avLst/>
          </a:prstGeom>
          <a:noFill/>
          <a:ln w="19050">
            <a:solidFill>
              <a:srgbClr val="94A3B8"/>
            </a:solidFill>
            <a:prstDash val="solid"/>
            <a:tailEnd type="triangle"/>
          </a:ln>
        </p:spPr>
      </p:sp>
      <p:sp>
        <p:nvSpPr>
          <p:cNvPr id="9" name="Shape 7"/>
          <p:cNvSpPr/>
          <p:nvPr/>
        </p:nvSpPr>
        <p:spPr>
          <a:xfrm>
            <a:off x="548640" y="2304288"/>
            <a:ext cx="2560320" cy="1170432"/>
          </a:xfrm>
          <a:prstGeom prst="roundRect">
            <a:avLst>
              <a:gd name="adj" fmla="val 5469"/>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0" name="Shape 8"/>
          <p:cNvSpPr/>
          <p:nvPr/>
        </p:nvSpPr>
        <p:spPr>
          <a:xfrm>
            <a:off x="713232" y="2487168"/>
            <a:ext cx="475488" cy="475488"/>
          </a:xfrm>
          <a:prstGeom prst="roundRect">
            <a:avLst>
              <a:gd name="adj" fmla="val 17308"/>
            </a:avLst>
          </a:prstGeom>
          <a:solidFill>
            <a:srgbClr val="0B0F17"/>
          </a:solidFill>
          <a:ln/>
        </p:spPr>
      </p:sp>
      <p:pic>
        <p:nvPicPr>
          <p:cNvPr id="11" name="Image 0" descr="preencoded.png">    </p:cNvPr>
          <p:cNvPicPr>
            <a:picLocks noChangeAspect="1"/>
          </p:cNvPicPr>
          <p:nvPr/>
        </p:nvPicPr>
        <p:blipFill>
          <a:blip r:embed="rId1"/>
          <a:stretch>
            <a:fillRect/>
          </a:stretch>
        </p:blipFill>
        <p:spPr>
          <a:xfrm>
            <a:off x="836859" y="2610795"/>
            <a:ext cx="228234" cy="228234"/>
          </a:xfrm>
          <a:prstGeom prst="rect">
            <a:avLst/>
          </a:prstGeom>
        </p:spPr>
      </p:pic>
      <p:sp>
        <p:nvSpPr>
          <p:cNvPr id="12" name="Text 9"/>
          <p:cNvSpPr/>
          <p:nvPr/>
        </p:nvSpPr>
        <p:spPr>
          <a:xfrm>
            <a:off x="1298448" y="2432304"/>
            <a:ext cx="1783080" cy="274320"/>
          </a:xfrm>
          <a:prstGeom prst="rect">
            <a:avLst/>
          </a:prstGeom>
          <a:noFill/>
          <a:ln/>
        </p:spPr>
        <p:txBody>
          <a:bodyPr wrap="square" lIns="0" tIns="0" rIns="0" bIns="0" rtlCol="0" anchor="ctr"/>
          <a:lstStyle/>
          <a:p>
            <a:pPr indent="0" marL="0">
              <a:buNone/>
            </a:pPr>
            <a:r>
              <a:rPr lang="en-US" sz="1150" b="1" dirty="0">
                <a:solidFill>
                  <a:srgbClr val="60A5FA"/>
                </a:solidFill>
                <a:latin typeface="Calibri" pitchFamily="34" charset="0"/>
                <a:ea typeface="Calibri" pitchFamily="34" charset="-122"/>
                <a:cs typeface="Calibri" pitchFamily="34" charset="-120"/>
              </a:rPr>
              <a:t>L2 · RULE ENGINE</a:t>
            </a:r>
            <a:endParaRPr lang="en-US" sz="1150" dirty="0"/>
          </a:p>
        </p:txBody>
      </p:sp>
      <p:sp>
        <p:nvSpPr>
          <p:cNvPr id="13" name="Text 10"/>
          <p:cNvSpPr/>
          <p:nvPr/>
        </p:nvSpPr>
        <p:spPr>
          <a:xfrm>
            <a:off x="1298448" y="2706624"/>
            <a:ext cx="1783080" cy="457200"/>
          </a:xfrm>
          <a:prstGeom prst="rect">
            <a:avLst/>
          </a:prstGeom>
          <a:noFill/>
          <a:ln/>
        </p:spPr>
        <p:txBody>
          <a:bodyPr wrap="square" lIns="0" tIns="0" rIns="0" bIns="0" rtlCol="0" anchor="ctr"/>
          <a:lstStyle/>
          <a:p>
            <a:pPr indent="0" marL="0">
              <a:buNone/>
            </a:pPr>
            <a:r>
              <a:rPr lang="en-US" sz="950" dirty="0">
                <a:solidFill>
                  <a:srgbClr val="E8EDF7"/>
                </a:solidFill>
                <a:latin typeface="Calibri" pitchFamily="34" charset="0"/>
                <a:ea typeface="Calibri" pitchFamily="34" charset="-122"/>
                <a:cs typeface="Calibri" pitchFamily="34" charset="-120"/>
              </a:rPr>
              <a:t>Velocity · anomaly · blacklist</a:t>
            </a:r>
            <a:endParaRPr lang="en-US" sz="950" dirty="0"/>
          </a:p>
        </p:txBody>
      </p:sp>
      <p:sp>
        <p:nvSpPr>
          <p:cNvPr id="14" name="Text 11"/>
          <p:cNvSpPr/>
          <p:nvPr/>
        </p:nvSpPr>
        <p:spPr>
          <a:xfrm>
            <a:off x="713232" y="3127248"/>
            <a:ext cx="2194560" cy="237744"/>
          </a:xfrm>
          <a:prstGeom prst="rect">
            <a:avLst/>
          </a:prstGeom>
          <a:noFill/>
          <a:ln/>
        </p:spPr>
        <p:txBody>
          <a:bodyPr wrap="square" lIns="0" tIns="0" rIns="0" bIns="0" rtlCol="0" anchor="ctr"/>
          <a:lstStyle/>
          <a:p>
            <a:pPr indent="0" marL="0">
              <a:buNone/>
            </a:pPr>
            <a:r>
              <a:rPr lang="en-US" sz="1000" dirty="0">
                <a:solidFill>
                  <a:srgbClr val="94A3B8"/>
                </a:solidFill>
                <a:latin typeface="Courier New" pitchFamily="34" charset="0"/>
                <a:ea typeface="Courier New" pitchFamily="34" charset="-122"/>
                <a:cs typeface="Courier New" pitchFamily="34" charset="-120"/>
              </a:rPr>
              <a:t>0–40 pts</a:t>
            </a:r>
            <a:endParaRPr lang="en-US" sz="1000" dirty="0"/>
          </a:p>
        </p:txBody>
      </p:sp>
      <p:sp>
        <p:nvSpPr>
          <p:cNvPr id="15" name="Shape 12"/>
          <p:cNvSpPr/>
          <p:nvPr/>
        </p:nvSpPr>
        <p:spPr>
          <a:xfrm>
            <a:off x="3291840" y="2304288"/>
            <a:ext cx="2560320" cy="1170432"/>
          </a:xfrm>
          <a:prstGeom prst="roundRect">
            <a:avLst>
              <a:gd name="adj" fmla="val 5469"/>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6" name="Shape 13"/>
          <p:cNvSpPr/>
          <p:nvPr/>
        </p:nvSpPr>
        <p:spPr>
          <a:xfrm>
            <a:off x="3456432" y="2487168"/>
            <a:ext cx="475488" cy="475488"/>
          </a:xfrm>
          <a:prstGeom prst="roundRect">
            <a:avLst>
              <a:gd name="adj" fmla="val 17308"/>
            </a:avLst>
          </a:prstGeom>
          <a:solidFill>
            <a:srgbClr val="0B0F17"/>
          </a:solidFill>
          <a:ln/>
        </p:spPr>
      </p:sp>
      <p:pic>
        <p:nvPicPr>
          <p:cNvPr id="17" name="Image 1" descr="preencoded.png">    </p:cNvPr>
          <p:cNvPicPr>
            <a:picLocks noChangeAspect="1"/>
          </p:cNvPicPr>
          <p:nvPr/>
        </p:nvPicPr>
        <p:blipFill>
          <a:blip r:embed="rId2"/>
          <a:stretch>
            <a:fillRect/>
          </a:stretch>
        </p:blipFill>
        <p:spPr>
          <a:xfrm>
            <a:off x="3580059" y="2610795"/>
            <a:ext cx="228234" cy="228234"/>
          </a:xfrm>
          <a:prstGeom prst="rect">
            <a:avLst/>
          </a:prstGeom>
        </p:spPr>
      </p:pic>
      <p:sp>
        <p:nvSpPr>
          <p:cNvPr id="18" name="Text 14"/>
          <p:cNvSpPr/>
          <p:nvPr/>
        </p:nvSpPr>
        <p:spPr>
          <a:xfrm>
            <a:off x="4041648" y="2432304"/>
            <a:ext cx="1783080" cy="274320"/>
          </a:xfrm>
          <a:prstGeom prst="rect">
            <a:avLst/>
          </a:prstGeom>
          <a:noFill/>
          <a:ln/>
        </p:spPr>
        <p:txBody>
          <a:bodyPr wrap="square" lIns="0" tIns="0" rIns="0" bIns="0"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L3 · GRAPH (NEO4J)</a:t>
            </a:r>
            <a:endParaRPr lang="en-US" sz="1150" dirty="0"/>
          </a:p>
        </p:txBody>
      </p:sp>
      <p:sp>
        <p:nvSpPr>
          <p:cNvPr id="19" name="Text 15"/>
          <p:cNvSpPr/>
          <p:nvPr/>
        </p:nvSpPr>
        <p:spPr>
          <a:xfrm>
            <a:off x="4041648" y="2706624"/>
            <a:ext cx="1783080" cy="457200"/>
          </a:xfrm>
          <a:prstGeom prst="rect">
            <a:avLst/>
          </a:prstGeom>
          <a:noFill/>
          <a:ln/>
        </p:spPr>
        <p:txBody>
          <a:bodyPr wrap="square" lIns="0" tIns="0" rIns="0" bIns="0" rtlCol="0" anchor="ctr"/>
          <a:lstStyle/>
          <a:p>
            <a:pPr indent="0" marL="0">
              <a:buNone/>
            </a:pPr>
            <a:r>
              <a:rPr lang="en-US" sz="950" dirty="0">
                <a:solidFill>
                  <a:srgbClr val="E8EDF7"/>
                </a:solidFill>
                <a:latin typeface="Calibri" pitchFamily="34" charset="0"/>
                <a:ea typeface="Calibri" pitchFamily="34" charset="-122"/>
                <a:cs typeface="Calibri" pitchFamily="34" charset="-120"/>
              </a:rPr>
              <a:t>Fraud rings · shared devices</a:t>
            </a:r>
            <a:endParaRPr lang="en-US" sz="950" dirty="0"/>
          </a:p>
        </p:txBody>
      </p:sp>
      <p:sp>
        <p:nvSpPr>
          <p:cNvPr id="20" name="Text 16"/>
          <p:cNvSpPr/>
          <p:nvPr/>
        </p:nvSpPr>
        <p:spPr>
          <a:xfrm>
            <a:off x="3456432" y="3127248"/>
            <a:ext cx="2194560" cy="237744"/>
          </a:xfrm>
          <a:prstGeom prst="rect">
            <a:avLst/>
          </a:prstGeom>
          <a:noFill/>
          <a:ln/>
        </p:spPr>
        <p:txBody>
          <a:bodyPr wrap="square" lIns="0" tIns="0" rIns="0" bIns="0" rtlCol="0" anchor="ctr"/>
          <a:lstStyle/>
          <a:p>
            <a:pPr indent="0" marL="0">
              <a:buNone/>
            </a:pPr>
            <a:r>
              <a:rPr lang="en-US" sz="1000" dirty="0">
                <a:solidFill>
                  <a:srgbClr val="94A3B8"/>
                </a:solidFill>
                <a:latin typeface="Courier New" pitchFamily="34" charset="0"/>
                <a:ea typeface="Courier New" pitchFamily="34" charset="-122"/>
                <a:cs typeface="Courier New" pitchFamily="34" charset="-120"/>
              </a:rPr>
              <a:t>0–30 pts</a:t>
            </a:r>
            <a:endParaRPr lang="en-US" sz="1000" dirty="0"/>
          </a:p>
        </p:txBody>
      </p:sp>
      <p:sp>
        <p:nvSpPr>
          <p:cNvPr id="21" name="Shape 17"/>
          <p:cNvSpPr/>
          <p:nvPr/>
        </p:nvSpPr>
        <p:spPr>
          <a:xfrm>
            <a:off x="6035040" y="2304288"/>
            <a:ext cx="2560320" cy="1170432"/>
          </a:xfrm>
          <a:prstGeom prst="roundRect">
            <a:avLst>
              <a:gd name="adj" fmla="val 5469"/>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22" name="Shape 18"/>
          <p:cNvSpPr/>
          <p:nvPr/>
        </p:nvSpPr>
        <p:spPr>
          <a:xfrm>
            <a:off x="6199632" y="2487168"/>
            <a:ext cx="475488" cy="475488"/>
          </a:xfrm>
          <a:prstGeom prst="roundRect">
            <a:avLst>
              <a:gd name="adj" fmla="val 17308"/>
            </a:avLst>
          </a:prstGeom>
          <a:solidFill>
            <a:srgbClr val="0B0F17"/>
          </a:solidFill>
          <a:ln/>
        </p:spPr>
      </p:sp>
      <p:pic>
        <p:nvPicPr>
          <p:cNvPr id="23" name="Image 2" descr="preencoded.png">    </p:cNvPr>
          <p:cNvPicPr>
            <a:picLocks noChangeAspect="1"/>
          </p:cNvPicPr>
          <p:nvPr/>
        </p:nvPicPr>
        <p:blipFill>
          <a:blip r:embed="rId3"/>
          <a:stretch>
            <a:fillRect/>
          </a:stretch>
        </p:blipFill>
        <p:spPr>
          <a:xfrm>
            <a:off x="6323259" y="2610795"/>
            <a:ext cx="228234" cy="228234"/>
          </a:xfrm>
          <a:prstGeom prst="rect">
            <a:avLst/>
          </a:prstGeom>
        </p:spPr>
      </p:pic>
      <p:sp>
        <p:nvSpPr>
          <p:cNvPr id="24" name="Text 19"/>
          <p:cNvSpPr/>
          <p:nvPr/>
        </p:nvSpPr>
        <p:spPr>
          <a:xfrm>
            <a:off x="6784848" y="2432304"/>
            <a:ext cx="1783080" cy="274320"/>
          </a:xfrm>
          <a:prstGeom prst="rect">
            <a:avLst/>
          </a:prstGeom>
          <a:noFill/>
          <a:ln/>
        </p:spPr>
        <p:txBody>
          <a:bodyPr wrap="square" lIns="0" tIns="0" rIns="0" bIns="0" rtlCol="0" anchor="ctr"/>
          <a:lstStyle/>
          <a:p>
            <a:pPr indent="0" marL="0">
              <a:buNone/>
            </a:pPr>
            <a:r>
              <a:rPr lang="en-US" sz="1150" b="1" dirty="0">
                <a:solidFill>
                  <a:srgbClr val="FBBF24"/>
                </a:solidFill>
                <a:latin typeface="Calibri" pitchFamily="34" charset="0"/>
                <a:ea typeface="Calibri" pitchFamily="34" charset="-122"/>
                <a:cs typeface="Calibri" pitchFamily="34" charset="-120"/>
              </a:rPr>
              <a:t>L4 · RAG + LLM</a:t>
            </a:r>
            <a:endParaRPr lang="en-US" sz="1150" dirty="0"/>
          </a:p>
        </p:txBody>
      </p:sp>
      <p:sp>
        <p:nvSpPr>
          <p:cNvPr id="25" name="Text 20"/>
          <p:cNvSpPr/>
          <p:nvPr/>
        </p:nvSpPr>
        <p:spPr>
          <a:xfrm>
            <a:off x="6784848" y="2706624"/>
            <a:ext cx="1783080" cy="457200"/>
          </a:xfrm>
          <a:prstGeom prst="rect">
            <a:avLst/>
          </a:prstGeom>
          <a:noFill/>
          <a:ln/>
        </p:spPr>
        <p:txBody>
          <a:bodyPr wrap="square" lIns="0" tIns="0" rIns="0" bIns="0" rtlCol="0" anchor="ctr"/>
          <a:lstStyle/>
          <a:p>
            <a:pPr indent="0" marL="0">
              <a:buNone/>
            </a:pPr>
            <a:r>
              <a:rPr lang="en-US" sz="950" dirty="0">
                <a:solidFill>
                  <a:srgbClr val="E8EDF7"/>
                </a:solidFill>
                <a:latin typeface="Calibri" pitchFamily="34" charset="0"/>
                <a:ea typeface="Calibri" pitchFamily="34" charset="-122"/>
                <a:cs typeface="Calibri" pitchFamily="34" charset="-120"/>
              </a:rPr>
              <a:t>58 patterns · ChromaDB · GPT/Ollama</a:t>
            </a:r>
            <a:endParaRPr lang="en-US" sz="950" dirty="0"/>
          </a:p>
        </p:txBody>
      </p:sp>
      <p:sp>
        <p:nvSpPr>
          <p:cNvPr id="26" name="Text 21"/>
          <p:cNvSpPr/>
          <p:nvPr/>
        </p:nvSpPr>
        <p:spPr>
          <a:xfrm>
            <a:off x="6199632" y="3127248"/>
            <a:ext cx="2194560" cy="237744"/>
          </a:xfrm>
          <a:prstGeom prst="rect">
            <a:avLst/>
          </a:prstGeom>
          <a:noFill/>
          <a:ln/>
        </p:spPr>
        <p:txBody>
          <a:bodyPr wrap="square" lIns="0" tIns="0" rIns="0" bIns="0" rtlCol="0" anchor="ctr"/>
          <a:lstStyle/>
          <a:p>
            <a:pPr indent="0" marL="0">
              <a:buNone/>
            </a:pPr>
            <a:r>
              <a:rPr lang="en-US" sz="1000" dirty="0">
                <a:solidFill>
                  <a:srgbClr val="94A3B8"/>
                </a:solidFill>
                <a:latin typeface="Courier New" pitchFamily="34" charset="0"/>
                <a:ea typeface="Courier New" pitchFamily="34" charset="-122"/>
                <a:cs typeface="Courier New" pitchFamily="34" charset="-120"/>
              </a:rPr>
              <a:t>0–30 pts</a:t>
            </a:r>
            <a:endParaRPr lang="en-US" sz="1000" dirty="0"/>
          </a:p>
        </p:txBody>
      </p:sp>
      <p:sp>
        <p:nvSpPr>
          <p:cNvPr id="27" name="Shape 22"/>
          <p:cNvSpPr/>
          <p:nvPr/>
        </p:nvSpPr>
        <p:spPr>
          <a:xfrm>
            <a:off x="1737360" y="3474720"/>
            <a:ext cx="2377440" cy="384048"/>
          </a:xfrm>
          <a:prstGeom prst="line">
            <a:avLst/>
          </a:prstGeom>
          <a:noFill/>
          <a:ln w="19050">
            <a:solidFill>
              <a:srgbClr val="94A3B8"/>
            </a:solidFill>
            <a:prstDash val="solid"/>
            <a:tailEnd type="triangle"/>
          </a:ln>
        </p:spPr>
      </p:sp>
      <p:sp>
        <p:nvSpPr>
          <p:cNvPr id="28" name="Shape 23"/>
          <p:cNvSpPr/>
          <p:nvPr/>
        </p:nvSpPr>
        <p:spPr>
          <a:xfrm>
            <a:off x="4572000" y="3474720"/>
            <a:ext cx="0" cy="384048"/>
          </a:xfrm>
          <a:prstGeom prst="line">
            <a:avLst/>
          </a:prstGeom>
          <a:noFill/>
          <a:ln w="19050">
            <a:solidFill>
              <a:srgbClr val="94A3B8"/>
            </a:solidFill>
            <a:prstDash val="solid"/>
            <a:tailEnd type="triangle"/>
          </a:ln>
        </p:spPr>
      </p:sp>
      <p:sp>
        <p:nvSpPr>
          <p:cNvPr id="29" name="Shape 24"/>
          <p:cNvSpPr/>
          <p:nvPr/>
        </p:nvSpPr>
        <p:spPr>
          <a:xfrm flipH="1">
            <a:off x="5029200" y="3474720"/>
            <a:ext cx="2377440" cy="384048"/>
          </a:xfrm>
          <a:prstGeom prst="line">
            <a:avLst/>
          </a:prstGeom>
          <a:noFill/>
          <a:ln w="19050">
            <a:solidFill>
              <a:srgbClr val="94A3B8"/>
            </a:solidFill>
            <a:prstDash val="solid"/>
            <a:tailEnd type="triangle"/>
          </a:ln>
        </p:spPr>
      </p:sp>
      <p:sp>
        <p:nvSpPr>
          <p:cNvPr id="30" name="Shape 25"/>
          <p:cNvSpPr/>
          <p:nvPr/>
        </p:nvSpPr>
        <p:spPr>
          <a:xfrm>
            <a:off x="2926080" y="3858768"/>
            <a:ext cx="3291840" cy="566928"/>
          </a:xfrm>
          <a:prstGeom prst="roundRect">
            <a:avLst>
              <a:gd name="adj" fmla="val 11290"/>
            </a:avLst>
          </a:prstGeom>
          <a:solidFill>
            <a:srgbClr val="1C2539"/>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31" name="Text 26"/>
          <p:cNvSpPr/>
          <p:nvPr/>
        </p:nvSpPr>
        <p:spPr>
          <a:xfrm>
            <a:off x="3017520" y="3858768"/>
            <a:ext cx="3108960" cy="566928"/>
          </a:xfrm>
          <a:prstGeom prst="rect">
            <a:avLst/>
          </a:prstGeom>
          <a:noFill/>
          <a:ln/>
        </p:spPr>
        <p:txBody>
          <a:bodyPr wrap="square" lIns="0" tIns="0" rIns="0" bIns="0" rtlCol="0" anchor="ctr"/>
          <a:lstStyle/>
          <a:p>
            <a:pPr algn="ctr" indent="0" marL="0">
              <a:buNone/>
            </a:pPr>
            <a:r>
              <a:rPr lang="en-US" sz="1200" b="1" dirty="0">
                <a:solidFill>
                  <a:srgbClr val="E8EDF7"/>
                </a:solidFill>
                <a:latin typeface="Calibri" pitchFamily="34" charset="0"/>
                <a:ea typeface="Calibri" pitchFamily="34" charset="-122"/>
                <a:cs typeface="Calibri" pitchFamily="34" charset="-120"/>
              </a:rPr>
              <a:t>L5 · DECISION ENGINE</a:t>
            </a:r>
            <a:pPr algn="ctr" indent="0" marL="0">
              <a:buNone/>
            </a:pPr>
            <a:r>
              <a:rPr lang="en-US" sz="1000" dirty="0">
                <a:solidFill>
                  <a:srgbClr val="94A3B8"/>
                </a:solidFill>
                <a:latin typeface="Courier New" pitchFamily="34" charset="0"/>
                <a:ea typeface="Courier New" pitchFamily="34" charset="-122"/>
                <a:cs typeface="Courier New" pitchFamily="34" charset="-120"/>
              </a:rPr>
              <a:t>  composite 0–100</a:t>
            </a:r>
            <a:endParaRPr lang="en-US" sz="1200" dirty="0"/>
          </a:p>
        </p:txBody>
      </p:sp>
      <p:sp>
        <p:nvSpPr>
          <p:cNvPr id="32" name="Shape 27"/>
          <p:cNvSpPr/>
          <p:nvPr/>
        </p:nvSpPr>
        <p:spPr>
          <a:xfrm>
            <a:off x="3035808" y="4626864"/>
            <a:ext cx="1005840" cy="310896"/>
          </a:xfrm>
          <a:prstGeom prst="roundRect">
            <a:avLst>
              <a:gd name="adj" fmla="val 50000"/>
            </a:avLst>
          </a:prstGeom>
          <a:solidFill>
            <a:srgbClr val="161D2E"/>
          </a:solidFill>
          <a:ln w="12700">
            <a:solidFill>
              <a:srgbClr val="34D399"/>
            </a:solidFill>
            <a:prstDash val="solid"/>
          </a:ln>
        </p:spPr>
      </p:sp>
      <p:sp>
        <p:nvSpPr>
          <p:cNvPr id="33" name="Text 28"/>
          <p:cNvSpPr/>
          <p:nvPr/>
        </p:nvSpPr>
        <p:spPr>
          <a:xfrm>
            <a:off x="3035808" y="4626864"/>
            <a:ext cx="1005840" cy="310896"/>
          </a:xfrm>
          <a:prstGeom prst="rect">
            <a:avLst/>
          </a:prstGeom>
          <a:noFill/>
          <a:ln/>
        </p:spPr>
        <p:txBody>
          <a:bodyPr wrap="square" lIns="0" tIns="0" rIns="0" bIns="0" rtlCol="0" anchor="ctr"/>
          <a:lstStyle/>
          <a:p>
            <a:pPr algn="ctr" indent="0" marL="0">
              <a:buNone/>
            </a:pPr>
            <a:r>
              <a:rPr lang="en-US" sz="1000" b="1" dirty="0">
                <a:solidFill>
                  <a:srgbClr val="34D399"/>
                </a:solidFill>
                <a:latin typeface="Courier New" pitchFamily="34" charset="0"/>
                <a:ea typeface="Courier New" pitchFamily="34" charset="-122"/>
                <a:cs typeface="Courier New" pitchFamily="34" charset="-120"/>
              </a:rPr>
              <a:t>APPROVE</a:t>
            </a:r>
            <a:endParaRPr lang="en-US" sz="1000" dirty="0"/>
          </a:p>
        </p:txBody>
      </p:sp>
      <p:sp>
        <p:nvSpPr>
          <p:cNvPr id="34" name="Shape 29"/>
          <p:cNvSpPr/>
          <p:nvPr/>
        </p:nvSpPr>
        <p:spPr>
          <a:xfrm>
            <a:off x="4133088" y="4626864"/>
            <a:ext cx="1005840" cy="310896"/>
          </a:xfrm>
          <a:prstGeom prst="roundRect">
            <a:avLst>
              <a:gd name="adj" fmla="val 50000"/>
            </a:avLst>
          </a:prstGeom>
          <a:solidFill>
            <a:srgbClr val="161D2E"/>
          </a:solidFill>
          <a:ln w="12700">
            <a:solidFill>
              <a:srgbClr val="FBBF24"/>
            </a:solidFill>
            <a:prstDash val="solid"/>
          </a:ln>
        </p:spPr>
      </p:sp>
      <p:sp>
        <p:nvSpPr>
          <p:cNvPr id="35" name="Text 30"/>
          <p:cNvSpPr/>
          <p:nvPr/>
        </p:nvSpPr>
        <p:spPr>
          <a:xfrm>
            <a:off x="4133088" y="4626864"/>
            <a:ext cx="1005840" cy="310896"/>
          </a:xfrm>
          <a:prstGeom prst="rect">
            <a:avLst/>
          </a:prstGeom>
          <a:noFill/>
          <a:ln/>
        </p:spPr>
        <p:txBody>
          <a:bodyPr wrap="square" lIns="0" tIns="0" rIns="0" bIns="0" rtlCol="0" anchor="ctr"/>
          <a:lstStyle/>
          <a:p>
            <a:pPr algn="ctr" indent="0" marL="0">
              <a:buNone/>
            </a:pPr>
            <a:r>
              <a:rPr lang="en-US" sz="1000" b="1" dirty="0">
                <a:solidFill>
                  <a:srgbClr val="FBBF24"/>
                </a:solidFill>
                <a:latin typeface="Courier New" pitchFamily="34" charset="0"/>
                <a:ea typeface="Courier New" pitchFamily="34" charset="-122"/>
                <a:cs typeface="Courier New" pitchFamily="34" charset="-120"/>
              </a:rPr>
              <a:t>REVIEW</a:t>
            </a:r>
            <a:endParaRPr lang="en-US" sz="1000" dirty="0"/>
          </a:p>
        </p:txBody>
      </p:sp>
      <p:sp>
        <p:nvSpPr>
          <p:cNvPr id="36" name="Shape 31"/>
          <p:cNvSpPr/>
          <p:nvPr/>
        </p:nvSpPr>
        <p:spPr>
          <a:xfrm>
            <a:off x="5230368" y="4626864"/>
            <a:ext cx="1005840" cy="310896"/>
          </a:xfrm>
          <a:prstGeom prst="roundRect">
            <a:avLst>
              <a:gd name="adj" fmla="val 50000"/>
            </a:avLst>
          </a:prstGeom>
          <a:solidFill>
            <a:srgbClr val="161D2E"/>
          </a:solidFill>
          <a:ln w="12700">
            <a:solidFill>
              <a:srgbClr val="F87171"/>
            </a:solidFill>
            <a:prstDash val="solid"/>
          </a:ln>
        </p:spPr>
      </p:sp>
      <p:sp>
        <p:nvSpPr>
          <p:cNvPr id="37" name="Text 32"/>
          <p:cNvSpPr/>
          <p:nvPr/>
        </p:nvSpPr>
        <p:spPr>
          <a:xfrm>
            <a:off x="5230368" y="4626864"/>
            <a:ext cx="1005840" cy="310896"/>
          </a:xfrm>
          <a:prstGeom prst="rect">
            <a:avLst/>
          </a:prstGeom>
          <a:noFill/>
          <a:ln/>
        </p:spPr>
        <p:txBody>
          <a:bodyPr wrap="square" lIns="0" tIns="0" rIns="0" bIns="0" rtlCol="0" anchor="ctr"/>
          <a:lstStyle/>
          <a:p>
            <a:pPr algn="ctr" indent="0" marL="0">
              <a:buNone/>
            </a:pPr>
            <a:r>
              <a:rPr lang="en-US" sz="1000" b="1" dirty="0">
                <a:solidFill>
                  <a:srgbClr val="F87171"/>
                </a:solidFill>
                <a:latin typeface="Courier New" pitchFamily="34" charset="0"/>
                <a:ea typeface="Courier New" pitchFamily="34" charset="-122"/>
                <a:cs typeface="Courier New" pitchFamily="34" charset="-120"/>
              </a:rPr>
              <a:t>BLOCK</a:t>
            </a:r>
            <a:endParaRPr lang="en-US" sz="1000" dirty="0"/>
          </a:p>
        </p:txBody>
      </p:sp>
      <p:sp>
        <p:nvSpPr>
          <p:cNvPr id="38" name="Text 33"/>
          <p:cNvSpPr/>
          <p:nvPr/>
        </p:nvSpPr>
        <p:spPr>
          <a:xfrm>
            <a:off x="6126480" y="4663440"/>
            <a:ext cx="2651760" cy="256032"/>
          </a:xfrm>
          <a:prstGeom prst="rect">
            <a:avLst/>
          </a:prstGeom>
          <a:noFill/>
          <a:ln/>
        </p:spPr>
        <p:txBody>
          <a:bodyPr wrap="square" lIns="0" tIns="0" rIns="0" bIns="0" rtlCol="0" anchor="ctr"/>
          <a:lstStyle/>
          <a:p>
            <a:pPr algn="r" indent="0" marL="0">
              <a:buNone/>
            </a:pPr>
            <a:r>
              <a:rPr lang="en-US" sz="950" dirty="0">
                <a:solidFill>
                  <a:srgbClr val="94A3B8"/>
                </a:solidFill>
                <a:latin typeface="Calibri" pitchFamily="34" charset="0"/>
                <a:ea typeface="Calibri" pitchFamily="34" charset="-122"/>
                <a:cs typeface="Calibri" pitchFamily="34" charset="-120"/>
              </a:rPr>
              <a:t>MongoDB persistence · every decision auditable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03 · TECHNOLOGY</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Production-grade stack, fully containerised</a:t>
            </a:r>
            <a:endParaRPr lang="en-US" sz="2800" dirty="0"/>
          </a:p>
        </p:txBody>
      </p:sp>
      <p:sp>
        <p:nvSpPr>
          <p:cNvPr id="4" name="Shape 2"/>
          <p:cNvSpPr/>
          <p:nvPr/>
        </p:nvSpPr>
        <p:spPr>
          <a:xfrm>
            <a:off x="502920" y="1371600"/>
            <a:ext cx="1947672" cy="1463040"/>
          </a:xfrm>
          <a:prstGeom prst="roundRect">
            <a:avLst>
              <a:gd name="adj" fmla="val 4375"/>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1161288" y="1554480"/>
            <a:ext cx="566928" cy="566928"/>
          </a:xfrm>
          <a:prstGeom prst="roundRect">
            <a:avLst>
              <a:gd name="adj" fmla="val 14516"/>
            </a:avLst>
          </a:prstGeom>
          <a:solidFill>
            <a:srgbClr val="0B0F17"/>
          </a:solidFill>
          <a:ln/>
        </p:spPr>
      </p:sp>
      <p:pic>
        <p:nvPicPr>
          <p:cNvPr id="6" name="Image 0" descr="preencoded.png">    </p:cNvPr>
          <p:cNvPicPr>
            <a:picLocks noChangeAspect="1"/>
          </p:cNvPicPr>
          <p:nvPr/>
        </p:nvPicPr>
        <p:blipFill>
          <a:blip r:embed="rId1"/>
          <a:stretch>
            <a:fillRect/>
          </a:stretch>
        </p:blipFill>
        <p:spPr>
          <a:xfrm>
            <a:off x="1308689" y="1701881"/>
            <a:ext cx="272125" cy="272125"/>
          </a:xfrm>
          <a:prstGeom prst="rect">
            <a:avLst/>
          </a:prstGeom>
        </p:spPr>
      </p:pic>
      <p:sp>
        <p:nvSpPr>
          <p:cNvPr id="7" name="Text 4"/>
          <p:cNvSpPr/>
          <p:nvPr/>
        </p:nvSpPr>
        <p:spPr>
          <a:xfrm>
            <a:off x="576072" y="2194560"/>
            <a:ext cx="1801368" cy="256032"/>
          </a:xfrm>
          <a:prstGeom prst="rect">
            <a:avLst/>
          </a:prstGeom>
          <a:noFill/>
          <a:ln/>
        </p:spPr>
        <p:txBody>
          <a:bodyPr wrap="square" lIns="0" tIns="0" rIns="0" bIns="0" rtlCol="0" anchor="ctr"/>
          <a:lstStyle/>
          <a:p>
            <a:pPr algn="ctr" indent="0" marL="0">
              <a:buNone/>
            </a:pPr>
            <a:r>
              <a:rPr lang="en-US" sz="1300" b="1" dirty="0">
                <a:solidFill>
                  <a:srgbClr val="E8EDF7"/>
                </a:solidFill>
                <a:latin typeface="Calibri" pitchFamily="34" charset="0"/>
                <a:ea typeface="Calibri" pitchFamily="34" charset="-122"/>
                <a:cs typeface="Calibri" pitchFamily="34" charset="-120"/>
              </a:rPr>
              <a:t>FastAPI</a:t>
            </a:r>
            <a:endParaRPr lang="en-US" sz="1300" dirty="0"/>
          </a:p>
        </p:txBody>
      </p:sp>
      <p:sp>
        <p:nvSpPr>
          <p:cNvPr id="8" name="Text 5"/>
          <p:cNvSpPr/>
          <p:nvPr/>
        </p:nvSpPr>
        <p:spPr>
          <a:xfrm>
            <a:off x="630936" y="2432304"/>
            <a:ext cx="1691640" cy="38404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Async Python 3.12 API — 12 REST endpoints</a:t>
            </a:r>
            <a:endParaRPr lang="en-US" sz="900" dirty="0"/>
          </a:p>
        </p:txBody>
      </p:sp>
      <p:sp>
        <p:nvSpPr>
          <p:cNvPr id="9" name="Shape 6"/>
          <p:cNvSpPr/>
          <p:nvPr/>
        </p:nvSpPr>
        <p:spPr>
          <a:xfrm>
            <a:off x="2633472" y="1371600"/>
            <a:ext cx="1947672" cy="1463040"/>
          </a:xfrm>
          <a:prstGeom prst="roundRect">
            <a:avLst>
              <a:gd name="adj" fmla="val 4375"/>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0" name="Shape 7"/>
          <p:cNvSpPr/>
          <p:nvPr/>
        </p:nvSpPr>
        <p:spPr>
          <a:xfrm>
            <a:off x="3291840" y="1554480"/>
            <a:ext cx="566928" cy="566928"/>
          </a:xfrm>
          <a:prstGeom prst="roundRect">
            <a:avLst>
              <a:gd name="adj" fmla="val 14516"/>
            </a:avLst>
          </a:prstGeom>
          <a:solidFill>
            <a:srgbClr val="0B0F17"/>
          </a:solidFill>
          <a:ln/>
        </p:spPr>
      </p:sp>
      <p:pic>
        <p:nvPicPr>
          <p:cNvPr id="11" name="Image 1" descr="preencoded.png">    </p:cNvPr>
          <p:cNvPicPr>
            <a:picLocks noChangeAspect="1"/>
          </p:cNvPicPr>
          <p:nvPr/>
        </p:nvPicPr>
        <p:blipFill>
          <a:blip r:embed="rId2"/>
          <a:stretch>
            <a:fillRect/>
          </a:stretch>
        </p:blipFill>
        <p:spPr>
          <a:xfrm>
            <a:off x="3439241" y="1701881"/>
            <a:ext cx="272125" cy="272125"/>
          </a:xfrm>
          <a:prstGeom prst="rect">
            <a:avLst/>
          </a:prstGeom>
        </p:spPr>
      </p:pic>
      <p:sp>
        <p:nvSpPr>
          <p:cNvPr id="12" name="Text 8"/>
          <p:cNvSpPr/>
          <p:nvPr/>
        </p:nvSpPr>
        <p:spPr>
          <a:xfrm>
            <a:off x="2706624" y="2194560"/>
            <a:ext cx="1801368" cy="256032"/>
          </a:xfrm>
          <a:prstGeom prst="rect">
            <a:avLst/>
          </a:prstGeom>
          <a:noFill/>
          <a:ln/>
        </p:spPr>
        <p:txBody>
          <a:bodyPr wrap="square" lIns="0" tIns="0" rIns="0" bIns="0" rtlCol="0" anchor="ctr"/>
          <a:lstStyle/>
          <a:p>
            <a:pPr algn="ctr" indent="0" marL="0">
              <a:buNone/>
            </a:pPr>
            <a:r>
              <a:rPr lang="en-US" sz="1300" b="1" dirty="0">
                <a:solidFill>
                  <a:srgbClr val="E8EDF7"/>
                </a:solidFill>
                <a:latin typeface="Calibri" pitchFamily="34" charset="0"/>
                <a:ea typeface="Calibri" pitchFamily="34" charset="-122"/>
                <a:cs typeface="Calibri" pitchFamily="34" charset="-120"/>
              </a:rPr>
              <a:t>MongoDB 7</a:t>
            </a:r>
            <a:endParaRPr lang="en-US" sz="1300" dirty="0"/>
          </a:p>
        </p:txBody>
      </p:sp>
      <p:sp>
        <p:nvSpPr>
          <p:cNvPr id="13" name="Text 9"/>
          <p:cNvSpPr/>
          <p:nvPr/>
        </p:nvSpPr>
        <p:spPr>
          <a:xfrm>
            <a:off x="2761488" y="2432304"/>
            <a:ext cx="1691640" cy="38404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Transactions &amp; accounts · Beanie ODM</a:t>
            </a:r>
            <a:endParaRPr lang="en-US" sz="900" dirty="0"/>
          </a:p>
        </p:txBody>
      </p:sp>
      <p:sp>
        <p:nvSpPr>
          <p:cNvPr id="14" name="Shape 10"/>
          <p:cNvSpPr/>
          <p:nvPr/>
        </p:nvSpPr>
        <p:spPr>
          <a:xfrm>
            <a:off x="4764024" y="1371600"/>
            <a:ext cx="1947672" cy="1463040"/>
          </a:xfrm>
          <a:prstGeom prst="roundRect">
            <a:avLst>
              <a:gd name="adj" fmla="val 4375"/>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5" name="Shape 11"/>
          <p:cNvSpPr/>
          <p:nvPr/>
        </p:nvSpPr>
        <p:spPr>
          <a:xfrm>
            <a:off x="5422392" y="1554480"/>
            <a:ext cx="566928" cy="566928"/>
          </a:xfrm>
          <a:prstGeom prst="roundRect">
            <a:avLst>
              <a:gd name="adj" fmla="val 14516"/>
            </a:avLst>
          </a:prstGeom>
          <a:solidFill>
            <a:srgbClr val="0B0F17"/>
          </a:solidFill>
          <a:ln/>
        </p:spPr>
      </p:sp>
      <p:pic>
        <p:nvPicPr>
          <p:cNvPr id="16" name="Image 2" descr="preencoded.png">    </p:cNvPr>
          <p:cNvPicPr>
            <a:picLocks noChangeAspect="1"/>
          </p:cNvPicPr>
          <p:nvPr/>
        </p:nvPicPr>
        <p:blipFill>
          <a:blip r:embed="rId3"/>
          <a:stretch>
            <a:fillRect/>
          </a:stretch>
        </p:blipFill>
        <p:spPr>
          <a:xfrm>
            <a:off x="5569793" y="1701881"/>
            <a:ext cx="272125" cy="272125"/>
          </a:xfrm>
          <a:prstGeom prst="rect">
            <a:avLst/>
          </a:prstGeom>
        </p:spPr>
      </p:pic>
      <p:sp>
        <p:nvSpPr>
          <p:cNvPr id="17" name="Text 12"/>
          <p:cNvSpPr/>
          <p:nvPr/>
        </p:nvSpPr>
        <p:spPr>
          <a:xfrm>
            <a:off x="4837176" y="2194560"/>
            <a:ext cx="1801368" cy="256032"/>
          </a:xfrm>
          <a:prstGeom prst="rect">
            <a:avLst/>
          </a:prstGeom>
          <a:noFill/>
          <a:ln/>
        </p:spPr>
        <p:txBody>
          <a:bodyPr wrap="square" lIns="0" tIns="0" rIns="0" bIns="0" rtlCol="0" anchor="ctr"/>
          <a:lstStyle/>
          <a:p>
            <a:pPr algn="ctr" indent="0" marL="0">
              <a:buNone/>
            </a:pPr>
            <a:r>
              <a:rPr lang="en-US" sz="1300" b="1" dirty="0">
                <a:solidFill>
                  <a:srgbClr val="E8EDF7"/>
                </a:solidFill>
                <a:latin typeface="Calibri" pitchFamily="34" charset="0"/>
                <a:ea typeface="Calibri" pitchFamily="34" charset="-122"/>
                <a:cs typeface="Calibri" pitchFamily="34" charset="-120"/>
              </a:rPr>
              <a:t>Neo4j 5</a:t>
            </a:r>
            <a:endParaRPr lang="en-US" sz="1300" dirty="0"/>
          </a:p>
        </p:txBody>
      </p:sp>
      <p:sp>
        <p:nvSpPr>
          <p:cNvPr id="18" name="Text 13"/>
          <p:cNvSpPr/>
          <p:nvPr/>
        </p:nvSpPr>
        <p:spPr>
          <a:xfrm>
            <a:off x="4892040" y="2432304"/>
            <a:ext cx="1691640" cy="38404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Fraud-ring graph · Cypher pattern queries</a:t>
            </a:r>
            <a:endParaRPr lang="en-US" sz="900" dirty="0"/>
          </a:p>
        </p:txBody>
      </p:sp>
      <p:sp>
        <p:nvSpPr>
          <p:cNvPr id="19" name="Shape 14"/>
          <p:cNvSpPr/>
          <p:nvPr/>
        </p:nvSpPr>
        <p:spPr>
          <a:xfrm>
            <a:off x="6894576" y="1371600"/>
            <a:ext cx="1947672" cy="1463040"/>
          </a:xfrm>
          <a:prstGeom prst="roundRect">
            <a:avLst>
              <a:gd name="adj" fmla="val 4375"/>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20" name="Shape 15"/>
          <p:cNvSpPr/>
          <p:nvPr/>
        </p:nvSpPr>
        <p:spPr>
          <a:xfrm>
            <a:off x="7552944" y="1554480"/>
            <a:ext cx="566928" cy="566928"/>
          </a:xfrm>
          <a:prstGeom prst="roundRect">
            <a:avLst>
              <a:gd name="adj" fmla="val 14516"/>
            </a:avLst>
          </a:prstGeom>
          <a:solidFill>
            <a:srgbClr val="0B0F17"/>
          </a:solidFill>
          <a:ln/>
        </p:spPr>
      </p:sp>
      <p:pic>
        <p:nvPicPr>
          <p:cNvPr id="21" name="Image 3" descr="preencoded.png">    </p:cNvPr>
          <p:cNvPicPr>
            <a:picLocks noChangeAspect="1"/>
          </p:cNvPicPr>
          <p:nvPr/>
        </p:nvPicPr>
        <p:blipFill>
          <a:blip r:embed="rId4"/>
          <a:stretch>
            <a:fillRect/>
          </a:stretch>
        </p:blipFill>
        <p:spPr>
          <a:xfrm>
            <a:off x="7700345" y="1701881"/>
            <a:ext cx="272125" cy="272125"/>
          </a:xfrm>
          <a:prstGeom prst="rect">
            <a:avLst/>
          </a:prstGeom>
        </p:spPr>
      </p:pic>
      <p:sp>
        <p:nvSpPr>
          <p:cNvPr id="22" name="Text 16"/>
          <p:cNvSpPr/>
          <p:nvPr/>
        </p:nvSpPr>
        <p:spPr>
          <a:xfrm>
            <a:off x="6967728" y="2194560"/>
            <a:ext cx="1801368" cy="256032"/>
          </a:xfrm>
          <a:prstGeom prst="rect">
            <a:avLst/>
          </a:prstGeom>
          <a:noFill/>
          <a:ln/>
        </p:spPr>
        <p:txBody>
          <a:bodyPr wrap="square" lIns="0" tIns="0" rIns="0" bIns="0" rtlCol="0" anchor="ctr"/>
          <a:lstStyle/>
          <a:p>
            <a:pPr algn="ctr" indent="0" marL="0">
              <a:buNone/>
            </a:pPr>
            <a:r>
              <a:rPr lang="en-US" sz="1300" b="1" dirty="0">
                <a:solidFill>
                  <a:srgbClr val="E8EDF7"/>
                </a:solidFill>
                <a:latin typeface="Calibri" pitchFamily="34" charset="0"/>
                <a:ea typeface="Calibri" pitchFamily="34" charset="-122"/>
                <a:cs typeface="Calibri" pitchFamily="34" charset="-120"/>
              </a:rPr>
              <a:t>Redis 7</a:t>
            </a:r>
            <a:endParaRPr lang="en-US" sz="1300" dirty="0"/>
          </a:p>
        </p:txBody>
      </p:sp>
      <p:sp>
        <p:nvSpPr>
          <p:cNvPr id="23" name="Text 17"/>
          <p:cNvSpPr/>
          <p:nvPr/>
        </p:nvSpPr>
        <p:spPr>
          <a:xfrm>
            <a:off x="7022592" y="2432304"/>
            <a:ext cx="1691640" cy="38404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Profile cache · sorted-set velocity windows</a:t>
            </a:r>
            <a:endParaRPr lang="en-US" sz="900" dirty="0"/>
          </a:p>
        </p:txBody>
      </p:sp>
      <p:sp>
        <p:nvSpPr>
          <p:cNvPr id="24" name="Shape 18"/>
          <p:cNvSpPr/>
          <p:nvPr/>
        </p:nvSpPr>
        <p:spPr>
          <a:xfrm>
            <a:off x="502920" y="3063240"/>
            <a:ext cx="1947672" cy="1463040"/>
          </a:xfrm>
          <a:prstGeom prst="roundRect">
            <a:avLst>
              <a:gd name="adj" fmla="val 4375"/>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25" name="Shape 19"/>
          <p:cNvSpPr/>
          <p:nvPr/>
        </p:nvSpPr>
        <p:spPr>
          <a:xfrm>
            <a:off x="1161288" y="3246120"/>
            <a:ext cx="566928" cy="566928"/>
          </a:xfrm>
          <a:prstGeom prst="roundRect">
            <a:avLst>
              <a:gd name="adj" fmla="val 14516"/>
            </a:avLst>
          </a:prstGeom>
          <a:solidFill>
            <a:srgbClr val="0B0F17"/>
          </a:solidFill>
          <a:ln/>
        </p:spPr>
      </p:sp>
      <p:pic>
        <p:nvPicPr>
          <p:cNvPr id="26" name="Image 4" descr="preencoded.png">    </p:cNvPr>
          <p:cNvPicPr>
            <a:picLocks noChangeAspect="1"/>
          </p:cNvPicPr>
          <p:nvPr/>
        </p:nvPicPr>
        <p:blipFill>
          <a:blip r:embed="rId5"/>
          <a:stretch>
            <a:fillRect/>
          </a:stretch>
        </p:blipFill>
        <p:spPr>
          <a:xfrm>
            <a:off x="1308689" y="3393521"/>
            <a:ext cx="272125" cy="272125"/>
          </a:xfrm>
          <a:prstGeom prst="rect">
            <a:avLst/>
          </a:prstGeom>
        </p:spPr>
      </p:pic>
      <p:sp>
        <p:nvSpPr>
          <p:cNvPr id="27" name="Text 20"/>
          <p:cNvSpPr/>
          <p:nvPr/>
        </p:nvSpPr>
        <p:spPr>
          <a:xfrm>
            <a:off x="576072" y="3886200"/>
            <a:ext cx="1801368" cy="256032"/>
          </a:xfrm>
          <a:prstGeom prst="rect">
            <a:avLst/>
          </a:prstGeom>
          <a:noFill/>
          <a:ln/>
        </p:spPr>
        <p:txBody>
          <a:bodyPr wrap="square" lIns="0" tIns="0" rIns="0" bIns="0" rtlCol="0" anchor="ctr"/>
          <a:lstStyle/>
          <a:p>
            <a:pPr algn="ctr" indent="0" marL="0">
              <a:buNone/>
            </a:pPr>
            <a:r>
              <a:rPr lang="en-US" sz="1300" b="1" dirty="0">
                <a:solidFill>
                  <a:srgbClr val="E8EDF7"/>
                </a:solidFill>
                <a:latin typeface="Calibri" pitchFamily="34" charset="0"/>
                <a:ea typeface="Calibri" pitchFamily="34" charset="-122"/>
                <a:cs typeface="Calibri" pitchFamily="34" charset="-120"/>
              </a:rPr>
              <a:t>LangChain</a:t>
            </a:r>
            <a:endParaRPr lang="en-US" sz="1300" dirty="0"/>
          </a:p>
        </p:txBody>
      </p:sp>
      <p:sp>
        <p:nvSpPr>
          <p:cNvPr id="28" name="Text 21"/>
          <p:cNvSpPr/>
          <p:nvPr/>
        </p:nvSpPr>
        <p:spPr>
          <a:xfrm>
            <a:off x="630936" y="4123944"/>
            <a:ext cx="1691640" cy="38404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RAG pipeline · OpenAI with Ollama fallback</a:t>
            </a:r>
            <a:endParaRPr lang="en-US" sz="900" dirty="0"/>
          </a:p>
        </p:txBody>
      </p:sp>
      <p:sp>
        <p:nvSpPr>
          <p:cNvPr id="29" name="Shape 22"/>
          <p:cNvSpPr/>
          <p:nvPr/>
        </p:nvSpPr>
        <p:spPr>
          <a:xfrm>
            <a:off x="2633472" y="3063240"/>
            <a:ext cx="1947672" cy="1463040"/>
          </a:xfrm>
          <a:prstGeom prst="roundRect">
            <a:avLst>
              <a:gd name="adj" fmla="val 4375"/>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30" name="Shape 23"/>
          <p:cNvSpPr/>
          <p:nvPr/>
        </p:nvSpPr>
        <p:spPr>
          <a:xfrm>
            <a:off x="3291840" y="3246120"/>
            <a:ext cx="566928" cy="566928"/>
          </a:xfrm>
          <a:prstGeom prst="roundRect">
            <a:avLst>
              <a:gd name="adj" fmla="val 14516"/>
            </a:avLst>
          </a:prstGeom>
          <a:solidFill>
            <a:srgbClr val="0B0F17"/>
          </a:solidFill>
          <a:ln/>
        </p:spPr>
      </p:sp>
      <p:pic>
        <p:nvPicPr>
          <p:cNvPr id="31" name="Image 5" descr="preencoded.png">    </p:cNvPr>
          <p:cNvPicPr>
            <a:picLocks noChangeAspect="1"/>
          </p:cNvPicPr>
          <p:nvPr/>
        </p:nvPicPr>
        <p:blipFill>
          <a:blip r:embed="rId6"/>
          <a:stretch>
            <a:fillRect/>
          </a:stretch>
        </p:blipFill>
        <p:spPr>
          <a:xfrm>
            <a:off x="3439241" y="3393521"/>
            <a:ext cx="272125" cy="272125"/>
          </a:xfrm>
          <a:prstGeom prst="rect">
            <a:avLst/>
          </a:prstGeom>
        </p:spPr>
      </p:pic>
      <p:sp>
        <p:nvSpPr>
          <p:cNvPr id="32" name="Text 24"/>
          <p:cNvSpPr/>
          <p:nvPr/>
        </p:nvSpPr>
        <p:spPr>
          <a:xfrm>
            <a:off x="2706624" y="3886200"/>
            <a:ext cx="1801368" cy="256032"/>
          </a:xfrm>
          <a:prstGeom prst="rect">
            <a:avLst/>
          </a:prstGeom>
          <a:noFill/>
          <a:ln/>
        </p:spPr>
        <p:txBody>
          <a:bodyPr wrap="square" lIns="0" tIns="0" rIns="0" bIns="0" rtlCol="0" anchor="ctr"/>
          <a:lstStyle/>
          <a:p>
            <a:pPr algn="ctr" indent="0" marL="0">
              <a:buNone/>
            </a:pPr>
            <a:r>
              <a:rPr lang="en-US" sz="1300" b="1" dirty="0">
                <a:solidFill>
                  <a:srgbClr val="E8EDF7"/>
                </a:solidFill>
                <a:latin typeface="Calibri" pitchFamily="34" charset="0"/>
                <a:ea typeface="Calibri" pitchFamily="34" charset="-122"/>
                <a:cs typeface="Calibri" pitchFamily="34" charset="-120"/>
              </a:rPr>
              <a:t>ChromaDB</a:t>
            </a:r>
            <a:endParaRPr lang="en-US" sz="1300" dirty="0"/>
          </a:p>
        </p:txBody>
      </p:sp>
      <p:sp>
        <p:nvSpPr>
          <p:cNvPr id="33" name="Text 25"/>
          <p:cNvSpPr/>
          <p:nvPr/>
        </p:nvSpPr>
        <p:spPr>
          <a:xfrm>
            <a:off x="2761488" y="4123944"/>
            <a:ext cx="1691640" cy="38404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Vector store · 58 fraud-pattern documents</a:t>
            </a:r>
            <a:endParaRPr lang="en-US" sz="900" dirty="0"/>
          </a:p>
        </p:txBody>
      </p:sp>
      <p:sp>
        <p:nvSpPr>
          <p:cNvPr id="34" name="Shape 26"/>
          <p:cNvSpPr/>
          <p:nvPr/>
        </p:nvSpPr>
        <p:spPr>
          <a:xfrm>
            <a:off x="4764024" y="3063240"/>
            <a:ext cx="1947672" cy="1463040"/>
          </a:xfrm>
          <a:prstGeom prst="roundRect">
            <a:avLst>
              <a:gd name="adj" fmla="val 4375"/>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35" name="Shape 27"/>
          <p:cNvSpPr/>
          <p:nvPr/>
        </p:nvSpPr>
        <p:spPr>
          <a:xfrm>
            <a:off x="5422392" y="3246120"/>
            <a:ext cx="566928" cy="566928"/>
          </a:xfrm>
          <a:prstGeom prst="roundRect">
            <a:avLst>
              <a:gd name="adj" fmla="val 14516"/>
            </a:avLst>
          </a:prstGeom>
          <a:solidFill>
            <a:srgbClr val="0B0F17"/>
          </a:solidFill>
          <a:ln/>
        </p:spPr>
      </p:sp>
      <p:pic>
        <p:nvPicPr>
          <p:cNvPr id="36" name="Image 6" descr="preencoded.png">    </p:cNvPr>
          <p:cNvPicPr>
            <a:picLocks noChangeAspect="1"/>
          </p:cNvPicPr>
          <p:nvPr/>
        </p:nvPicPr>
        <p:blipFill>
          <a:blip r:embed="rId7"/>
          <a:stretch>
            <a:fillRect/>
          </a:stretch>
        </p:blipFill>
        <p:spPr>
          <a:xfrm>
            <a:off x="5569793" y="3393521"/>
            <a:ext cx="272125" cy="272125"/>
          </a:xfrm>
          <a:prstGeom prst="rect">
            <a:avLst/>
          </a:prstGeom>
        </p:spPr>
      </p:pic>
      <p:sp>
        <p:nvSpPr>
          <p:cNvPr id="37" name="Text 28"/>
          <p:cNvSpPr/>
          <p:nvPr/>
        </p:nvSpPr>
        <p:spPr>
          <a:xfrm>
            <a:off x="4837176" y="3886200"/>
            <a:ext cx="1801368" cy="256032"/>
          </a:xfrm>
          <a:prstGeom prst="rect">
            <a:avLst/>
          </a:prstGeom>
          <a:noFill/>
          <a:ln/>
        </p:spPr>
        <p:txBody>
          <a:bodyPr wrap="square" lIns="0" tIns="0" rIns="0" bIns="0" rtlCol="0" anchor="ctr"/>
          <a:lstStyle/>
          <a:p>
            <a:pPr algn="ctr" indent="0" marL="0">
              <a:buNone/>
            </a:pPr>
            <a:r>
              <a:rPr lang="en-US" sz="1300" b="1" dirty="0">
                <a:solidFill>
                  <a:srgbClr val="E8EDF7"/>
                </a:solidFill>
                <a:latin typeface="Calibri" pitchFamily="34" charset="0"/>
                <a:ea typeface="Calibri" pitchFamily="34" charset="-122"/>
                <a:cs typeface="Calibri" pitchFamily="34" charset="-120"/>
              </a:rPr>
              <a:t>React + Vite</a:t>
            </a:r>
            <a:endParaRPr lang="en-US" sz="1300" dirty="0"/>
          </a:p>
        </p:txBody>
      </p:sp>
      <p:sp>
        <p:nvSpPr>
          <p:cNvPr id="38" name="Text 29"/>
          <p:cNvSpPr/>
          <p:nvPr/>
        </p:nvSpPr>
        <p:spPr>
          <a:xfrm>
            <a:off x="4892040" y="4123944"/>
            <a:ext cx="1691640" cy="38404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Live ops dashboard with Recharts</a:t>
            </a:r>
            <a:endParaRPr lang="en-US" sz="900" dirty="0"/>
          </a:p>
        </p:txBody>
      </p:sp>
      <p:sp>
        <p:nvSpPr>
          <p:cNvPr id="39" name="Shape 30"/>
          <p:cNvSpPr/>
          <p:nvPr/>
        </p:nvSpPr>
        <p:spPr>
          <a:xfrm>
            <a:off x="6894576" y="3063240"/>
            <a:ext cx="1947672" cy="1463040"/>
          </a:xfrm>
          <a:prstGeom prst="roundRect">
            <a:avLst>
              <a:gd name="adj" fmla="val 4375"/>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40" name="Shape 31"/>
          <p:cNvSpPr/>
          <p:nvPr/>
        </p:nvSpPr>
        <p:spPr>
          <a:xfrm>
            <a:off x="7552944" y="3246120"/>
            <a:ext cx="566928" cy="566928"/>
          </a:xfrm>
          <a:prstGeom prst="roundRect">
            <a:avLst>
              <a:gd name="adj" fmla="val 14516"/>
            </a:avLst>
          </a:prstGeom>
          <a:solidFill>
            <a:srgbClr val="0B0F17"/>
          </a:solidFill>
          <a:ln/>
        </p:spPr>
      </p:sp>
      <p:pic>
        <p:nvPicPr>
          <p:cNvPr id="41" name="Image 7" descr="preencoded.png">    </p:cNvPr>
          <p:cNvPicPr>
            <a:picLocks noChangeAspect="1"/>
          </p:cNvPicPr>
          <p:nvPr/>
        </p:nvPicPr>
        <p:blipFill>
          <a:blip r:embed="rId8"/>
          <a:stretch>
            <a:fillRect/>
          </a:stretch>
        </p:blipFill>
        <p:spPr>
          <a:xfrm>
            <a:off x="7700345" y="3393521"/>
            <a:ext cx="272125" cy="272125"/>
          </a:xfrm>
          <a:prstGeom prst="rect">
            <a:avLst/>
          </a:prstGeom>
        </p:spPr>
      </p:pic>
      <p:sp>
        <p:nvSpPr>
          <p:cNvPr id="42" name="Text 32"/>
          <p:cNvSpPr/>
          <p:nvPr/>
        </p:nvSpPr>
        <p:spPr>
          <a:xfrm>
            <a:off x="6967728" y="3886200"/>
            <a:ext cx="1801368" cy="256032"/>
          </a:xfrm>
          <a:prstGeom prst="rect">
            <a:avLst/>
          </a:prstGeom>
          <a:noFill/>
          <a:ln/>
        </p:spPr>
        <p:txBody>
          <a:bodyPr wrap="square" lIns="0" tIns="0" rIns="0" bIns="0" rtlCol="0" anchor="ctr"/>
          <a:lstStyle/>
          <a:p>
            <a:pPr algn="ctr" indent="0" marL="0">
              <a:buNone/>
            </a:pPr>
            <a:r>
              <a:rPr lang="en-US" sz="1300" b="1" dirty="0">
                <a:solidFill>
                  <a:srgbClr val="E8EDF7"/>
                </a:solidFill>
                <a:latin typeface="Calibri" pitchFamily="34" charset="0"/>
                <a:ea typeface="Calibri" pitchFamily="34" charset="-122"/>
                <a:cs typeface="Calibri" pitchFamily="34" charset="-120"/>
              </a:rPr>
              <a:t>Docker Compose</a:t>
            </a:r>
            <a:endParaRPr lang="en-US" sz="1300" dirty="0"/>
          </a:p>
        </p:txBody>
      </p:sp>
      <p:sp>
        <p:nvSpPr>
          <p:cNvPr id="43" name="Text 33"/>
          <p:cNvSpPr/>
          <p:nvPr/>
        </p:nvSpPr>
        <p:spPr>
          <a:xfrm>
            <a:off x="7022592" y="4123944"/>
            <a:ext cx="1691640" cy="384048"/>
          </a:xfrm>
          <a:prstGeom prst="rect">
            <a:avLst/>
          </a:prstGeom>
          <a:noFill/>
          <a:ln/>
        </p:spPr>
        <p:txBody>
          <a:bodyPr wrap="square" lIns="0" tIns="0" rIns="0" bIns="0" rtlCol="0" anchor="ctr"/>
          <a:lstStyle/>
          <a:p>
            <a:pPr algn="ctr" indent="0" marL="0">
              <a:buNone/>
            </a:pPr>
            <a:r>
              <a:rPr lang="en-US" sz="900" dirty="0">
                <a:solidFill>
                  <a:srgbClr val="94A3B8"/>
                </a:solidFill>
                <a:latin typeface="Calibri" pitchFamily="34" charset="0"/>
                <a:ea typeface="Calibri" pitchFamily="34" charset="-122"/>
                <a:cs typeface="Calibri" pitchFamily="34" charset="-120"/>
              </a:rPr>
              <a:t>One-command spin-up of all services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04 · TOOLS &amp; TECHNOLOGIES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Technologies evaluated — and what we chose</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8531352" cy="914400"/>
        </p:xfrm>
        <a:graphic>
          <a:graphicData uri="http://schemas.openxmlformats.org/drawingml/2006/table">
            <a:tbl>
              <a:tblPr/>
              <a:tblGrid>
                <a:gridCol w="1783080"/>
                <a:gridCol w="2880360"/>
                <a:gridCol w="3867912"/>
              </a:tblGrid>
              <a:tr h="347472">
                <a:tc>
                  <a:txBody>
                    <a:bodyPr/>
                    <a:lstStyle/>
                    <a:p>
                      <a:pPr indent="0" marL="0">
                        <a:buNone/>
                      </a:pPr>
                      <a:r>
                        <a:rPr lang="en-US" sz="1100" b="1" dirty="0">
                          <a:solidFill>
                            <a:srgbClr val="60A5FA"/>
                          </a:solidFill>
                          <a:latin typeface="Calibri" pitchFamily="34" charset="0"/>
                          <a:ea typeface="Calibri" pitchFamily="34" charset="-122"/>
                          <a:cs typeface="Calibri" pitchFamily="34" charset="-120"/>
                        </a:rPr>
                        <a:t>Category</a:t>
                      </a:r>
                      <a:endParaRPr lang="en-US" sz="11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C2539"/>
                    </a:solidFill>
                  </a:tcPr>
                </a:tc>
                <a:tc>
                  <a:txBody>
                    <a:bodyPr/>
                    <a:lstStyle/>
                    <a:p>
                      <a:pPr indent="0" marL="0">
                        <a:buNone/>
                      </a:pPr>
                      <a:r>
                        <a:rPr lang="en-US" sz="1100" b="1" dirty="0">
                          <a:solidFill>
                            <a:srgbClr val="60A5FA"/>
                          </a:solidFill>
                          <a:latin typeface="Calibri" pitchFamily="34" charset="0"/>
                          <a:ea typeface="Calibri" pitchFamily="34" charset="-122"/>
                          <a:cs typeface="Calibri" pitchFamily="34" charset="-120"/>
                        </a:rPr>
                        <a:t>Our choice</a:t>
                      </a:r>
                      <a:endParaRPr lang="en-US" sz="11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C2539"/>
                    </a:solidFill>
                  </a:tcPr>
                </a:tc>
                <a:tc>
                  <a:txBody>
                    <a:bodyPr/>
                    <a:lstStyle/>
                    <a:p>
                      <a:pPr indent="0" marL="0">
                        <a:buNone/>
                      </a:pPr>
                      <a:r>
                        <a:rPr lang="en-US" sz="1100" b="1" dirty="0">
                          <a:solidFill>
                            <a:srgbClr val="60A5FA"/>
                          </a:solidFill>
                          <a:latin typeface="Calibri" pitchFamily="34" charset="0"/>
                          <a:ea typeface="Calibri" pitchFamily="34" charset="-122"/>
                          <a:cs typeface="Calibri" pitchFamily="34" charset="-120"/>
                        </a:rPr>
                        <a:t>Alternatives evaluated</a:t>
                      </a:r>
                      <a:endParaRPr lang="en-US" sz="11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C2539"/>
                    </a:solidFill>
                  </a:tcPr>
                </a:tc>
              </a:tr>
              <a:tr h="347472">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API framework</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b="1" dirty="0">
                          <a:solidFill>
                            <a:srgbClr val="E8EDF7"/>
                          </a:solidFill>
                          <a:latin typeface="Calibri" pitchFamily="34" charset="0"/>
                          <a:ea typeface="Calibri" pitchFamily="34" charset="-122"/>
                          <a:cs typeface="Calibri" pitchFamily="34" charset="-120"/>
                        </a:rPr>
                        <a:t>FastAPI</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00" dirty="0">
                          <a:solidFill>
                            <a:srgbClr val="94A3B8"/>
                          </a:solidFill>
                          <a:latin typeface="Calibri" pitchFamily="34" charset="0"/>
                          <a:ea typeface="Calibri" pitchFamily="34" charset="-122"/>
                          <a:cs typeface="Calibri" pitchFamily="34" charset="-120"/>
                        </a:rPr>
                        <a:t>Flask · Django REST · Node/Express</a:t>
                      </a:r>
                      <a:endParaRPr lang="en-US" sz="10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347472">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Document DB</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b="1" dirty="0">
                          <a:solidFill>
                            <a:srgbClr val="E8EDF7"/>
                          </a:solidFill>
                          <a:latin typeface="Calibri" pitchFamily="34" charset="0"/>
                          <a:ea typeface="Calibri" pitchFamily="34" charset="-122"/>
                          <a:cs typeface="Calibri" pitchFamily="34" charset="-120"/>
                        </a:rPr>
                        <a:t>MongoDB + Beanie</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00" dirty="0">
                          <a:solidFill>
                            <a:srgbClr val="94A3B8"/>
                          </a:solidFill>
                          <a:latin typeface="Calibri" pitchFamily="34" charset="0"/>
                          <a:ea typeface="Calibri" pitchFamily="34" charset="-122"/>
                          <a:cs typeface="Calibri" pitchFamily="34" charset="-120"/>
                        </a:rPr>
                        <a:t>PostgreSQL · DynamoDB · CouchDB</a:t>
                      </a:r>
                      <a:endParaRPr lang="en-US" sz="10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347472">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Graph DB</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b="1" dirty="0">
                          <a:solidFill>
                            <a:srgbClr val="E8EDF7"/>
                          </a:solidFill>
                          <a:latin typeface="Calibri" pitchFamily="34" charset="0"/>
                          <a:ea typeface="Calibri" pitchFamily="34" charset="-122"/>
                          <a:cs typeface="Calibri" pitchFamily="34" charset="-120"/>
                        </a:rPr>
                        <a:t>Neo4j</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00" dirty="0">
                          <a:solidFill>
                            <a:srgbClr val="94A3B8"/>
                          </a:solidFill>
                          <a:latin typeface="Calibri" pitchFamily="34" charset="0"/>
                          <a:ea typeface="Calibri" pitchFamily="34" charset="-122"/>
                          <a:cs typeface="Calibri" pitchFamily="34" charset="-120"/>
                        </a:rPr>
                        <a:t>Amazon Neptune · ArangoDB · TigerGraph</a:t>
                      </a:r>
                      <a:endParaRPr lang="en-US" sz="10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347472">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Cache</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b="1" dirty="0">
                          <a:solidFill>
                            <a:srgbClr val="E8EDF7"/>
                          </a:solidFill>
                          <a:latin typeface="Calibri" pitchFamily="34" charset="0"/>
                          <a:ea typeface="Calibri" pitchFamily="34" charset="-122"/>
                          <a:cs typeface="Calibri" pitchFamily="34" charset="-120"/>
                        </a:rPr>
                        <a:t>Redis</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00" dirty="0">
                          <a:solidFill>
                            <a:srgbClr val="94A3B8"/>
                          </a:solidFill>
                          <a:latin typeface="Calibri" pitchFamily="34" charset="0"/>
                          <a:ea typeface="Calibri" pitchFamily="34" charset="-122"/>
                          <a:cs typeface="Calibri" pitchFamily="34" charset="-120"/>
                        </a:rPr>
                        <a:t>Memcached · in-process LRU</a:t>
                      </a:r>
                      <a:endParaRPr lang="en-US" sz="10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347472">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Vector store</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b="1" dirty="0">
                          <a:solidFill>
                            <a:srgbClr val="E8EDF7"/>
                          </a:solidFill>
                          <a:latin typeface="Calibri" pitchFamily="34" charset="0"/>
                          <a:ea typeface="Calibri" pitchFamily="34" charset="-122"/>
                          <a:cs typeface="Calibri" pitchFamily="34" charset="-120"/>
                        </a:rPr>
                        <a:t>ChromaDB</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00" dirty="0">
                          <a:solidFill>
                            <a:srgbClr val="94A3B8"/>
                          </a:solidFill>
                          <a:latin typeface="Calibri" pitchFamily="34" charset="0"/>
                          <a:ea typeface="Calibri" pitchFamily="34" charset="-122"/>
                          <a:cs typeface="Calibri" pitchFamily="34" charset="-120"/>
                        </a:rPr>
                        <a:t>FAISS · Pinecone · Qdrant · pgvector</a:t>
                      </a:r>
                      <a:endParaRPr lang="en-US" sz="10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347472">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LLM / RAG</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b="1" dirty="0">
                          <a:solidFill>
                            <a:srgbClr val="E8EDF7"/>
                          </a:solidFill>
                          <a:latin typeface="Calibri" pitchFamily="34" charset="0"/>
                          <a:ea typeface="Calibri" pitchFamily="34" charset="-122"/>
                          <a:cs typeface="Calibri" pitchFamily="34" charset="-120"/>
                        </a:rPr>
                        <a:t>LangChain + OpenAI / Ollama</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00" dirty="0">
                          <a:solidFill>
                            <a:srgbClr val="94A3B8"/>
                          </a:solidFill>
                          <a:latin typeface="Calibri" pitchFamily="34" charset="0"/>
                          <a:ea typeface="Calibri" pitchFamily="34" charset="-122"/>
                          <a:cs typeface="Calibri" pitchFamily="34" charset="-120"/>
                        </a:rPr>
                        <a:t>Anthropic Claude · Gemini · Mistral</a:t>
                      </a:r>
                      <a:endParaRPr lang="en-US" sz="10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347472">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Frontend</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b="1" dirty="0">
                          <a:solidFill>
                            <a:srgbClr val="E8EDF7"/>
                          </a:solidFill>
                          <a:latin typeface="Calibri" pitchFamily="34" charset="0"/>
                          <a:ea typeface="Calibri" pitchFamily="34" charset="-122"/>
                          <a:cs typeface="Calibri" pitchFamily="34" charset="-120"/>
                        </a:rPr>
                        <a:t>React + Vite + Recharts</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00" dirty="0">
                          <a:solidFill>
                            <a:srgbClr val="94A3B8"/>
                          </a:solidFill>
                          <a:latin typeface="Calibri" pitchFamily="34" charset="0"/>
                          <a:ea typeface="Calibri" pitchFamily="34" charset="-122"/>
                          <a:cs typeface="Calibri" pitchFamily="34" charset="-120"/>
                        </a:rPr>
                        <a:t>Vue · Svelte · Chart.js</a:t>
                      </a:r>
                      <a:endParaRPr lang="en-US" sz="10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347472">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Containers / infra</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b="1" dirty="0">
                          <a:solidFill>
                            <a:srgbClr val="E8EDF7"/>
                          </a:solidFill>
                          <a:latin typeface="Calibri" pitchFamily="34" charset="0"/>
                          <a:ea typeface="Calibri" pitchFamily="34" charset="-122"/>
                          <a:cs typeface="Calibri" pitchFamily="34" charset="-120"/>
                        </a:rPr>
                        <a:t>Docker Compose</a:t>
                      </a:r>
                      <a:endParaRPr lang="en-US" sz="105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00" dirty="0">
                          <a:solidFill>
                            <a:srgbClr val="94A3B8"/>
                          </a:solidFill>
                          <a:latin typeface="Calibri" pitchFamily="34" charset="0"/>
                          <a:ea typeface="Calibri" pitchFamily="34" charset="-122"/>
                          <a:cs typeface="Calibri" pitchFamily="34" charset="-120"/>
                        </a:rPr>
                        <a:t>Kubernetes · Railway · Render</a:t>
                      </a:r>
                      <a:endParaRPr lang="en-US" sz="1000" dirty="0">
                        <a:latin typeface="Calibri" charset="0"/>
                        <a:ea typeface="Calibri" charset="0"/>
                        <a:cs typeface="Calibri" charset="0"/>
                      </a:endParaRPr>
                    </a:p>
                  </a:txBody>
                  <a:tcPr marL="64008" marR="64008" marT="64008" marB="64008"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bl>
          </a:graphicData>
        </a:graphic>
      </p:graphicFrame>
      <p:sp>
        <p:nvSpPr>
          <p:cNvPr id="5" name="Text 2"/>
          <p:cNvSpPr/>
          <p:nvPr/>
        </p:nvSpPr>
        <p:spPr>
          <a:xfrm>
            <a:off x="502920" y="4617720"/>
            <a:ext cx="8531352" cy="292608"/>
          </a:xfrm>
          <a:prstGeom prst="rect">
            <a:avLst/>
          </a:prstGeom>
          <a:noFill/>
          <a:ln/>
        </p:spPr>
        <p:txBody>
          <a:bodyPr wrap="square" lIns="0" tIns="0" rIns="0" bIns="0" rtlCol="0" anchor="ctr"/>
          <a:lstStyle/>
          <a:p>
            <a:pPr indent="0" marL="0">
              <a:buNone/>
            </a:pPr>
            <a:r>
              <a:rPr lang="en-US" sz="1050" i="1" dirty="0">
                <a:solidFill>
                  <a:srgbClr val="94A3B8"/>
                </a:solidFill>
                <a:latin typeface="Calibri" pitchFamily="34" charset="0"/>
                <a:ea typeface="Calibri" pitchFamily="34" charset="-122"/>
                <a:cs typeface="Calibri" pitchFamily="34" charset="-120"/>
              </a:rPr>
              <a:t>Choices favour open-source, containerised, and locally-runnable tools — so the whole stack spins up on one laptop with no paid services.</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05 · TEAM</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Task distribution — clear ownership per layer</a:t>
            </a:r>
            <a:endParaRPr lang="en-US" sz="2800" dirty="0"/>
          </a:p>
        </p:txBody>
      </p:sp>
      <p:sp>
        <p:nvSpPr>
          <p:cNvPr id="4" name="Shape 2"/>
          <p:cNvSpPr/>
          <p:nvPr/>
        </p:nvSpPr>
        <p:spPr>
          <a:xfrm>
            <a:off x="502920" y="1280160"/>
            <a:ext cx="2633472" cy="3474720"/>
          </a:xfrm>
          <a:prstGeom prst="roundRect">
            <a:avLst>
              <a:gd name="adj" fmla="val 2431"/>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704088" y="1463040"/>
            <a:ext cx="548640" cy="548640"/>
          </a:xfrm>
          <a:prstGeom prst="roundRect">
            <a:avLst>
              <a:gd name="adj" fmla="val 15000"/>
            </a:avLst>
          </a:prstGeom>
          <a:solidFill>
            <a:srgbClr val="0B0F17"/>
          </a:solidFill>
          <a:ln/>
        </p:spPr>
      </p:sp>
      <p:pic>
        <p:nvPicPr>
          <p:cNvPr id="6" name="Image 0" descr="preencoded.png">    </p:cNvPr>
          <p:cNvPicPr>
            <a:picLocks noChangeAspect="1"/>
          </p:cNvPicPr>
          <p:nvPr/>
        </p:nvPicPr>
        <p:blipFill>
          <a:blip r:embed="rId1"/>
          <a:stretch>
            <a:fillRect/>
          </a:stretch>
        </p:blipFill>
        <p:spPr>
          <a:xfrm>
            <a:off x="846734" y="1605686"/>
            <a:ext cx="263347" cy="263347"/>
          </a:xfrm>
          <a:prstGeom prst="rect">
            <a:avLst/>
          </a:prstGeom>
        </p:spPr>
      </p:pic>
      <p:sp>
        <p:nvSpPr>
          <p:cNvPr id="7" name="Text 4"/>
          <p:cNvSpPr/>
          <p:nvPr/>
        </p:nvSpPr>
        <p:spPr>
          <a:xfrm>
            <a:off x="1399032" y="1444752"/>
            <a:ext cx="1645920" cy="566928"/>
          </a:xfrm>
          <a:prstGeom prst="rect">
            <a:avLst/>
          </a:prstGeom>
          <a:noFill/>
          <a:ln/>
        </p:spPr>
        <p:txBody>
          <a:bodyPr wrap="square" lIns="0" tIns="0" rIns="0" bIns="0" rtlCol="0" anchor="ctr"/>
          <a:lstStyle/>
          <a:p>
            <a:pPr indent="0" marL="0">
              <a:buNone/>
            </a:pPr>
            <a:r>
              <a:rPr lang="en-US" sz="1350" b="1" dirty="0">
                <a:solidFill>
                  <a:srgbClr val="E8EDF7"/>
                </a:solidFill>
                <a:latin typeface="Calibri" pitchFamily="34" charset="0"/>
                <a:ea typeface="Calibri" pitchFamily="34" charset="-122"/>
                <a:cs typeface="Calibri" pitchFamily="34" charset="-120"/>
              </a:rPr>
              <a:t>Joshi Om</a:t>
            </a:r>
            <a:endParaRPr lang="en-US" sz="1350" dirty="0"/>
          </a:p>
          <a:p>
            <a:pPr indent="0" marL="0">
              <a:buNone/>
            </a:pPr>
            <a:r>
              <a:rPr lang="en-US" sz="1000" dirty="0">
                <a:solidFill>
                  <a:srgbClr val="94A3B8"/>
                </a:solidFill>
                <a:latin typeface="Calibri" pitchFamily="34" charset="0"/>
                <a:ea typeface="Calibri" pitchFamily="34" charset="-122"/>
                <a:cs typeface="Calibri" pitchFamily="34" charset="-120"/>
              </a:rPr>
              <a:t>Member A</a:t>
            </a:r>
            <a:endParaRPr lang="en-US" sz="1350" dirty="0"/>
          </a:p>
        </p:txBody>
      </p:sp>
      <p:sp>
        <p:nvSpPr>
          <p:cNvPr id="8" name="Text 5"/>
          <p:cNvSpPr/>
          <p:nvPr/>
        </p:nvSpPr>
        <p:spPr>
          <a:xfrm>
            <a:off x="722376" y="2157984"/>
            <a:ext cx="2286000" cy="237744"/>
          </a:xfrm>
          <a:prstGeom prst="rect">
            <a:avLst/>
          </a:prstGeom>
          <a:noFill/>
          <a:ln/>
        </p:spPr>
        <p:txBody>
          <a:bodyPr wrap="square" lIns="0" tIns="0" rIns="0" bIns="0" rtlCol="0" anchor="ctr"/>
          <a:lstStyle/>
          <a:p>
            <a:pPr indent="0" marL="0">
              <a:buNone/>
            </a:pPr>
            <a:r>
              <a:rPr lang="en-US" sz="1100" b="1" dirty="0">
                <a:solidFill>
                  <a:srgbClr val="60A5FA"/>
                </a:solidFill>
                <a:latin typeface="Calibri" pitchFamily="34" charset="0"/>
                <a:ea typeface="Calibri" pitchFamily="34" charset="-122"/>
                <a:cs typeface="Calibri" pitchFamily="34" charset="-120"/>
              </a:rPr>
              <a:t>Platform &amp; Rules</a:t>
            </a:r>
            <a:endParaRPr lang="en-US" sz="1100" dirty="0"/>
          </a:p>
        </p:txBody>
      </p:sp>
      <p:sp>
        <p:nvSpPr>
          <p:cNvPr id="9" name="Text 6"/>
          <p:cNvSpPr/>
          <p:nvPr/>
        </p:nvSpPr>
        <p:spPr>
          <a:xfrm>
            <a:off x="722376" y="2523744"/>
            <a:ext cx="2240280" cy="2084832"/>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FastAPI server &amp; REST API design</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MongoDB schema · Beanie ODM</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Redis caching &amp; velocity windows</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Rule Engine (Layer 2)</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Rate limiting · Docker Compose</a:t>
            </a:r>
            <a:endParaRPr lang="en-US" sz="1050" dirty="0"/>
          </a:p>
        </p:txBody>
      </p:sp>
      <p:sp>
        <p:nvSpPr>
          <p:cNvPr id="10" name="Shape 7"/>
          <p:cNvSpPr/>
          <p:nvPr/>
        </p:nvSpPr>
        <p:spPr>
          <a:xfrm>
            <a:off x="3319272" y="1280160"/>
            <a:ext cx="2633472" cy="3474720"/>
          </a:xfrm>
          <a:prstGeom prst="roundRect">
            <a:avLst>
              <a:gd name="adj" fmla="val 2431"/>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1" name="Shape 8"/>
          <p:cNvSpPr/>
          <p:nvPr/>
        </p:nvSpPr>
        <p:spPr>
          <a:xfrm>
            <a:off x="3520440" y="1463040"/>
            <a:ext cx="548640" cy="548640"/>
          </a:xfrm>
          <a:prstGeom prst="roundRect">
            <a:avLst>
              <a:gd name="adj" fmla="val 15000"/>
            </a:avLst>
          </a:prstGeom>
          <a:solidFill>
            <a:srgbClr val="0B0F17"/>
          </a:solidFill>
          <a:ln/>
        </p:spPr>
      </p:sp>
      <p:pic>
        <p:nvPicPr>
          <p:cNvPr id="12" name="Image 1" descr="preencoded.png">    </p:cNvPr>
          <p:cNvPicPr>
            <a:picLocks noChangeAspect="1"/>
          </p:cNvPicPr>
          <p:nvPr/>
        </p:nvPicPr>
        <p:blipFill>
          <a:blip r:embed="rId2"/>
          <a:stretch>
            <a:fillRect/>
          </a:stretch>
        </p:blipFill>
        <p:spPr>
          <a:xfrm>
            <a:off x="3663086" y="1605686"/>
            <a:ext cx="263347" cy="263347"/>
          </a:xfrm>
          <a:prstGeom prst="rect">
            <a:avLst/>
          </a:prstGeom>
        </p:spPr>
      </p:pic>
      <p:sp>
        <p:nvSpPr>
          <p:cNvPr id="13" name="Text 9"/>
          <p:cNvSpPr/>
          <p:nvPr/>
        </p:nvSpPr>
        <p:spPr>
          <a:xfrm>
            <a:off x="4215384" y="1444752"/>
            <a:ext cx="1645920" cy="566928"/>
          </a:xfrm>
          <a:prstGeom prst="rect">
            <a:avLst/>
          </a:prstGeom>
          <a:noFill/>
          <a:ln/>
        </p:spPr>
        <p:txBody>
          <a:bodyPr wrap="square" lIns="0" tIns="0" rIns="0" bIns="0" rtlCol="0" anchor="ctr"/>
          <a:lstStyle/>
          <a:p>
            <a:pPr indent="0" marL="0">
              <a:buNone/>
            </a:pPr>
            <a:r>
              <a:rPr lang="en-US" sz="1350" b="1" dirty="0">
                <a:solidFill>
                  <a:srgbClr val="E8EDF7"/>
                </a:solidFill>
                <a:latin typeface="Calibri" pitchFamily="34" charset="0"/>
                <a:ea typeface="Calibri" pitchFamily="34" charset="-122"/>
                <a:cs typeface="Calibri" pitchFamily="34" charset="-120"/>
              </a:rPr>
              <a:t>Krish Gajera</a:t>
            </a:r>
            <a:endParaRPr lang="en-US" sz="1350" dirty="0"/>
          </a:p>
          <a:p>
            <a:pPr indent="0" marL="0">
              <a:buNone/>
            </a:pPr>
            <a:r>
              <a:rPr lang="en-US" sz="1000" dirty="0">
                <a:solidFill>
                  <a:srgbClr val="94A3B8"/>
                </a:solidFill>
                <a:latin typeface="Calibri" pitchFamily="34" charset="0"/>
                <a:ea typeface="Calibri" pitchFamily="34" charset="-122"/>
                <a:cs typeface="Calibri" pitchFamily="34" charset="-120"/>
              </a:rPr>
              <a:t>Member B</a:t>
            </a:r>
            <a:endParaRPr lang="en-US" sz="1350" dirty="0"/>
          </a:p>
        </p:txBody>
      </p:sp>
      <p:sp>
        <p:nvSpPr>
          <p:cNvPr id="14" name="Text 10"/>
          <p:cNvSpPr/>
          <p:nvPr/>
        </p:nvSpPr>
        <p:spPr>
          <a:xfrm>
            <a:off x="3538728" y="2157984"/>
            <a:ext cx="2286000" cy="237744"/>
          </a:xfrm>
          <a:prstGeom prst="rect">
            <a:avLst/>
          </a:prstGeom>
          <a:noFill/>
          <a:ln/>
        </p:spPr>
        <p:txBody>
          <a:bodyPr wrap="square" lIns="0" tIns="0" rIns="0" bIns="0" rtlCol="0" anchor="ctr"/>
          <a:lstStyle/>
          <a:p>
            <a:pPr indent="0" marL="0">
              <a:buNone/>
            </a:pPr>
            <a:r>
              <a:rPr lang="en-US" sz="1100" b="1" dirty="0">
                <a:solidFill>
                  <a:srgbClr val="34D399"/>
                </a:solidFill>
                <a:latin typeface="Calibri" pitchFamily="34" charset="0"/>
                <a:ea typeface="Calibri" pitchFamily="34" charset="-122"/>
                <a:cs typeface="Calibri" pitchFamily="34" charset="-120"/>
              </a:rPr>
              <a:t>Graph Intelligence</a:t>
            </a:r>
            <a:endParaRPr lang="en-US" sz="1100" dirty="0"/>
          </a:p>
        </p:txBody>
      </p:sp>
      <p:sp>
        <p:nvSpPr>
          <p:cNvPr id="15" name="Text 11"/>
          <p:cNvSpPr/>
          <p:nvPr/>
        </p:nvSpPr>
        <p:spPr>
          <a:xfrm>
            <a:off x="3538728" y="2523744"/>
            <a:ext cx="2240280" cy="2084832"/>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Neo4j schema &amp; Cypher fraud queries</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Graph Analyzer (Layer 3)</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Synthetic fraud dataset — 500 accounts</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Fraud-ring label propagation</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Graph exploration API</a:t>
            </a:r>
            <a:endParaRPr lang="en-US" sz="1050" dirty="0"/>
          </a:p>
        </p:txBody>
      </p:sp>
      <p:sp>
        <p:nvSpPr>
          <p:cNvPr id="16" name="Shape 12"/>
          <p:cNvSpPr/>
          <p:nvPr/>
        </p:nvSpPr>
        <p:spPr>
          <a:xfrm>
            <a:off x="6135624" y="1280160"/>
            <a:ext cx="2633472" cy="3474720"/>
          </a:xfrm>
          <a:prstGeom prst="roundRect">
            <a:avLst>
              <a:gd name="adj" fmla="val 2431"/>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7" name="Shape 13"/>
          <p:cNvSpPr/>
          <p:nvPr/>
        </p:nvSpPr>
        <p:spPr>
          <a:xfrm>
            <a:off x="6336792" y="1463040"/>
            <a:ext cx="548640" cy="548640"/>
          </a:xfrm>
          <a:prstGeom prst="roundRect">
            <a:avLst>
              <a:gd name="adj" fmla="val 15000"/>
            </a:avLst>
          </a:prstGeom>
          <a:solidFill>
            <a:srgbClr val="0B0F17"/>
          </a:solidFill>
          <a:ln/>
        </p:spPr>
      </p:sp>
      <p:pic>
        <p:nvPicPr>
          <p:cNvPr id="18" name="Image 2" descr="preencoded.png">    </p:cNvPr>
          <p:cNvPicPr>
            <a:picLocks noChangeAspect="1"/>
          </p:cNvPicPr>
          <p:nvPr/>
        </p:nvPicPr>
        <p:blipFill>
          <a:blip r:embed="rId3"/>
          <a:stretch>
            <a:fillRect/>
          </a:stretch>
        </p:blipFill>
        <p:spPr>
          <a:xfrm>
            <a:off x="6479438" y="1605686"/>
            <a:ext cx="263347" cy="263347"/>
          </a:xfrm>
          <a:prstGeom prst="rect">
            <a:avLst/>
          </a:prstGeom>
        </p:spPr>
      </p:pic>
      <p:sp>
        <p:nvSpPr>
          <p:cNvPr id="19" name="Text 14"/>
          <p:cNvSpPr/>
          <p:nvPr/>
        </p:nvSpPr>
        <p:spPr>
          <a:xfrm>
            <a:off x="7031736" y="1444752"/>
            <a:ext cx="1645920" cy="566928"/>
          </a:xfrm>
          <a:prstGeom prst="rect">
            <a:avLst/>
          </a:prstGeom>
          <a:noFill/>
          <a:ln/>
        </p:spPr>
        <p:txBody>
          <a:bodyPr wrap="square" lIns="0" tIns="0" rIns="0" bIns="0" rtlCol="0" anchor="ctr"/>
          <a:lstStyle/>
          <a:p>
            <a:pPr indent="0" marL="0">
              <a:buNone/>
            </a:pPr>
            <a:r>
              <a:rPr lang="en-US" sz="1350" b="1" dirty="0">
                <a:solidFill>
                  <a:srgbClr val="E8EDF7"/>
                </a:solidFill>
                <a:latin typeface="Calibri" pitchFamily="34" charset="0"/>
                <a:ea typeface="Calibri" pitchFamily="34" charset="-122"/>
                <a:cs typeface="Calibri" pitchFamily="34" charset="-120"/>
              </a:rPr>
              <a:t>Drashti Dedaniya</a:t>
            </a:r>
            <a:endParaRPr lang="en-US" sz="1350" dirty="0"/>
          </a:p>
          <a:p>
            <a:pPr indent="0" marL="0">
              <a:buNone/>
            </a:pPr>
            <a:r>
              <a:rPr lang="en-US" sz="1000" dirty="0">
                <a:solidFill>
                  <a:srgbClr val="94A3B8"/>
                </a:solidFill>
                <a:latin typeface="Calibri" pitchFamily="34" charset="0"/>
                <a:ea typeface="Calibri" pitchFamily="34" charset="-122"/>
                <a:cs typeface="Calibri" pitchFamily="34" charset="-120"/>
              </a:rPr>
              <a:t>Member C</a:t>
            </a:r>
            <a:endParaRPr lang="en-US" sz="1350" dirty="0"/>
          </a:p>
        </p:txBody>
      </p:sp>
      <p:sp>
        <p:nvSpPr>
          <p:cNvPr id="20" name="Text 15"/>
          <p:cNvSpPr/>
          <p:nvPr/>
        </p:nvSpPr>
        <p:spPr>
          <a:xfrm>
            <a:off x="6355080" y="2157984"/>
            <a:ext cx="2286000" cy="237744"/>
          </a:xfrm>
          <a:prstGeom prst="rect">
            <a:avLst/>
          </a:prstGeom>
          <a:noFill/>
          <a:ln/>
        </p:spPr>
        <p:txBody>
          <a:bodyPr wrap="square" lIns="0" tIns="0" rIns="0" bIns="0" rtlCol="0" anchor="ctr"/>
          <a:lstStyle/>
          <a:p>
            <a:pPr indent="0" marL="0">
              <a:buNone/>
            </a:pPr>
            <a:r>
              <a:rPr lang="en-US" sz="1100" b="1" dirty="0">
                <a:solidFill>
                  <a:srgbClr val="FBBF24"/>
                </a:solidFill>
                <a:latin typeface="Calibri" pitchFamily="34" charset="0"/>
                <a:ea typeface="Calibri" pitchFamily="34" charset="-122"/>
                <a:cs typeface="Calibri" pitchFamily="34" charset="-120"/>
              </a:rPr>
              <a:t>AI &amp; Experience</a:t>
            </a:r>
            <a:endParaRPr lang="en-US" sz="1100" dirty="0"/>
          </a:p>
        </p:txBody>
      </p:sp>
      <p:sp>
        <p:nvSpPr>
          <p:cNvPr id="21" name="Text 16"/>
          <p:cNvSpPr/>
          <p:nvPr/>
        </p:nvSpPr>
        <p:spPr>
          <a:xfrm>
            <a:off x="6355080" y="2523744"/>
            <a:ext cx="2240280" cy="2084832"/>
          </a:xfrm>
          <a:prstGeom prst="rect">
            <a:avLst/>
          </a:prstGeom>
          <a:noFill/>
          <a:ln/>
        </p:spPr>
        <p:txBody>
          <a:bodyPr wrap="square" lIns="0" tIns="0" rIns="0" bIns="0" rtlCol="0" anchor="t"/>
          <a:lstStyle/>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RAG pipeline — LangChain + ChromaDB</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Prompt engineering &amp; LLM fallback</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Decision Engine (Layer 5)</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React dashboard &amp; stats API</a:t>
            </a:r>
            <a:endParaRPr lang="en-US" sz="1050" dirty="0"/>
          </a:p>
          <a:p>
            <a:pPr marL="342900" indent="-342900">
              <a:spcAft>
                <a:spcPts val="700"/>
              </a:spcAft>
              <a:buSzPct val="100000"/>
              <a:buChar char="•"/>
            </a:pPr>
            <a:r>
              <a:rPr lang="en-US" sz="1050" dirty="0">
                <a:solidFill>
                  <a:srgbClr val="E8EDF7"/>
                </a:solidFill>
                <a:latin typeface="Calibri" pitchFamily="34" charset="0"/>
                <a:ea typeface="Calibri" pitchFamily="34" charset="-122"/>
                <a:cs typeface="Calibri" pitchFamily="34" charset="-120"/>
              </a:rPr>
              <a:t>Fraud-pattern knowledge base (58 docs)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06 · PROGRESS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Planning &amp; execution — four phases, three complete</a:t>
            </a:r>
            <a:endParaRPr lang="en-US" sz="2800" dirty="0"/>
          </a:p>
        </p:txBody>
      </p:sp>
      <p:sp>
        <p:nvSpPr>
          <p:cNvPr id="4" name="Shape 2"/>
          <p:cNvSpPr/>
          <p:nvPr/>
        </p:nvSpPr>
        <p:spPr>
          <a:xfrm>
            <a:off x="502920" y="1325880"/>
            <a:ext cx="1947672" cy="3063240"/>
          </a:xfrm>
          <a:prstGeom prst="roundRect">
            <a:avLst>
              <a:gd name="adj" fmla="val 3286"/>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67512" y="1490472"/>
            <a:ext cx="457200" cy="457200"/>
          </a:xfrm>
          <a:prstGeom prst="roundRect">
            <a:avLst>
              <a:gd name="adj" fmla="val 18000"/>
            </a:avLst>
          </a:prstGeom>
          <a:solidFill>
            <a:srgbClr val="0B0F17"/>
          </a:solidFill>
          <a:ln/>
        </p:spPr>
      </p:sp>
      <p:pic>
        <p:nvPicPr>
          <p:cNvPr id="6" name="Image 0" descr="preencoded.png">    </p:cNvPr>
          <p:cNvPicPr>
            <a:picLocks noChangeAspect="1"/>
          </p:cNvPicPr>
          <p:nvPr/>
        </p:nvPicPr>
        <p:blipFill>
          <a:blip r:embed="rId1"/>
          <a:stretch>
            <a:fillRect/>
          </a:stretch>
        </p:blipFill>
        <p:spPr>
          <a:xfrm>
            <a:off x="786384" y="1609344"/>
            <a:ext cx="219456" cy="219456"/>
          </a:xfrm>
          <a:prstGeom prst="rect">
            <a:avLst/>
          </a:prstGeom>
        </p:spPr>
      </p:pic>
      <p:sp>
        <p:nvSpPr>
          <p:cNvPr id="7" name="Shape 4"/>
          <p:cNvSpPr/>
          <p:nvPr/>
        </p:nvSpPr>
        <p:spPr>
          <a:xfrm>
            <a:off x="1216152" y="1554480"/>
            <a:ext cx="1097280" cy="274320"/>
          </a:xfrm>
          <a:prstGeom prst="roundRect">
            <a:avLst>
              <a:gd name="adj" fmla="val 50000"/>
            </a:avLst>
          </a:prstGeom>
          <a:solidFill>
            <a:srgbClr val="0B0F17"/>
          </a:solidFill>
          <a:ln w="12700">
            <a:solidFill>
              <a:srgbClr val="34D399"/>
            </a:solidFill>
            <a:prstDash val="solid"/>
          </a:ln>
        </p:spPr>
      </p:sp>
      <p:sp>
        <p:nvSpPr>
          <p:cNvPr id="8" name="Text 5"/>
          <p:cNvSpPr/>
          <p:nvPr/>
        </p:nvSpPr>
        <p:spPr>
          <a:xfrm>
            <a:off x="1216152" y="1554480"/>
            <a:ext cx="1097280" cy="274320"/>
          </a:xfrm>
          <a:prstGeom prst="rect">
            <a:avLst/>
          </a:prstGeom>
          <a:noFill/>
          <a:ln/>
        </p:spPr>
        <p:txBody>
          <a:bodyPr wrap="square" lIns="0" tIns="0" rIns="0" bIns="0" rtlCol="0" anchor="ctr"/>
          <a:lstStyle/>
          <a:p>
            <a:pPr algn="ctr" indent="0" marL="0">
              <a:buNone/>
            </a:pPr>
            <a:r>
              <a:rPr lang="en-US" sz="850" b="1" dirty="0">
                <a:solidFill>
                  <a:srgbClr val="34D399"/>
                </a:solidFill>
                <a:latin typeface="Courier New" pitchFamily="34" charset="0"/>
                <a:ea typeface="Courier New" pitchFamily="34" charset="-122"/>
                <a:cs typeface="Courier New" pitchFamily="34" charset="-120"/>
              </a:rPr>
              <a:t>DONE</a:t>
            </a:r>
            <a:endParaRPr lang="en-US" sz="850" dirty="0"/>
          </a:p>
        </p:txBody>
      </p:sp>
      <p:sp>
        <p:nvSpPr>
          <p:cNvPr id="9" name="Text 6"/>
          <p:cNvSpPr/>
          <p:nvPr/>
        </p:nvSpPr>
        <p:spPr>
          <a:xfrm>
            <a:off x="667512" y="2066544"/>
            <a:ext cx="1691640" cy="274320"/>
          </a:xfrm>
          <a:prstGeom prst="rect">
            <a:avLst/>
          </a:prstGeom>
          <a:noFill/>
          <a:ln/>
        </p:spPr>
        <p:txBody>
          <a:bodyPr wrap="square" lIns="0" tIns="0" rIns="0" bIns="0" rtlCol="0" anchor="ctr"/>
          <a:lstStyle/>
          <a:p>
            <a:pPr indent="0" marL="0">
              <a:buNone/>
            </a:pPr>
            <a:r>
              <a:rPr lang="en-US" sz="1200" b="1" dirty="0">
                <a:solidFill>
                  <a:srgbClr val="E8EDF7"/>
                </a:solidFill>
                <a:latin typeface="Calibri" pitchFamily="34" charset="0"/>
                <a:ea typeface="Calibri" pitchFamily="34" charset="-122"/>
                <a:cs typeface="Calibri" pitchFamily="34" charset="-120"/>
              </a:rPr>
              <a:t>Phase 1 · Design</a:t>
            </a:r>
            <a:endParaRPr lang="en-US" sz="1200" dirty="0"/>
          </a:p>
        </p:txBody>
      </p:sp>
      <p:sp>
        <p:nvSpPr>
          <p:cNvPr id="10" name="Text 7"/>
          <p:cNvSpPr/>
          <p:nvPr/>
        </p:nvSpPr>
        <p:spPr>
          <a:xfrm>
            <a:off x="667512" y="2340864"/>
            <a:ext cx="1691640" cy="219456"/>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Jun 9 – Jun 20</a:t>
            </a:r>
            <a:endParaRPr lang="en-US" sz="900" dirty="0"/>
          </a:p>
        </p:txBody>
      </p:sp>
      <p:sp>
        <p:nvSpPr>
          <p:cNvPr id="11" name="Text 8"/>
          <p:cNvSpPr/>
          <p:nvPr/>
        </p:nvSpPr>
        <p:spPr>
          <a:xfrm>
            <a:off x="667512" y="2670048"/>
            <a:ext cx="1664208" cy="16002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Architecture &amp; 5-layer design</a:t>
            </a:r>
            <a:endParaRPr lang="en-US" sz="950" dirty="0"/>
          </a:p>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API contract (Pydantic schemas)</a:t>
            </a:r>
            <a:endParaRPr lang="en-US" sz="950" dirty="0"/>
          </a:p>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Repo scaffold · Docker Compose</a:t>
            </a:r>
            <a:endParaRPr lang="en-US" sz="950" dirty="0"/>
          </a:p>
        </p:txBody>
      </p:sp>
      <p:sp>
        <p:nvSpPr>
          <p:cNvPr id="12" name="Shape 9"/>
          <p:cNvSpPr/>
          <p:nvPr/>
        </p:nvSpPr>
        <p:spPr>
          <a:xfrm>
            <a:off x="2633472" y="1325880"/>
            <a:ext cx="1947672" cy="3063240"/>
          </a:xfrm>
          <a:prstGeom prst="roundRect">
            <a:avLst>
              <a:gd name="adj" fmla="val 3286"/>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3" name="Shape 10"/>
          <p:cNvSpPr/>
          <p:nvPr/>
        </p:nvSpPr>
        <p:spPr>
          <a:xfrm>
            <a:off x="2798064" y="1490472"/>
            <a:ext cx="457200" cy="457200"/>
          </a:xfrm>
          <a:prstGeom prst="roundRect">
            <a:avLst>
              <a:gd name="adj" fmla="val 18000"/>
            </a:avLst>
          </a:prstGeom>
          <a:solidFill>
            <a:srgbClr val="0B0F17"/>
          </a:solidFill>
          <a:ln/>
        </p:spPr>
      </p:sp>
      <p:pic>
        <p:nvPicPr>
          <p:cNvPr id="14" name="Image 1" descr="preencoded.png">    </p:cNvPr>
          <p:cNvPicPr>
            <a:picLocks noChangeAspect="1"/>
          </p:cNvPicPr>
          <p:nvPr/>
        </p:nvPicPr>
        <p:blipFill>
          <a:blip r:embed="rId2"/>
          <a:stretch>
            <a:fillRect/>
          </a:stretch>
        </p:blipFill>
        <p:spPr>
          <a:xfrm>
            <a:off x="2916936" y="1609344"/>
            <a:ext cx="219456" cy="219456"/>
          </a:xfrm>
          <a:prstGeom prst="rect">
            <a:avLst/>
          </a:prstGeom>
        </p:spPr>
      </p:pic>
      <p:sp>
        <p:nvSpPr>
          <p:cNvPr id="15" name="Shape 11"/>
          <p:cNvSpPr/>
          <p:nvPr/>
        </p:nvSpPr>
        <p:spPr>
          <a:xfrm>
            <a:off x="3346704" y="1554480"/>
            <a:ext cx="1097280" cy="274320"/>
          </a:xfrm>
          <a:prstGeom prst="roundRect">
            <a:avLst>
              <a:gd name="adj" fmla="val 50000"/>
            </a:avLst>
          </a:prstGeom>
          <a:solidFill>
            <a:srgbClr val="0B0F17"/>
          </a:solidFill>
          <a:ln w="12700">
            <a:solidFill>
              <a:srgbClr val="34D399"/>
            </a:solidFill>
            <a:prstDash val="solid"/>
          </a:ln>
        </p:spPr>
      </p:sp>
      <p:sp>
        <p:nvSpPr>
          <p:cNvPr id="16" name="Text 12"/>
          <p:cNvSpPr/>
          <p:nvPr/>
        </p:nvSpPr>
        <p:spPr>
          <a:xfrm>
            <a:off x="3346704" y="1554480"/>
            <a:ext cx="1097280" cy="274320"/>
          </a:xfrm>
          <a:prstGeom prst="rect">
            <a:avLst/>
          </a:prstGeom>
          <a:noFill/>
          <a:ln/>
        </p:spPr>
        <p:txBody>
          <a:bodyPr wrap="square" lIns="0" tIns="0" rIns="0" bIns="0" rtlCol="0" anchor="ctr"/>
          <a:lstStyle/>
          <a:p>
            <a:pPr algn="ctr" indent="0" marL="0">
              <a:buNone/>
            </a:pPr>
            <a:r>
              <a:rPr lang="en-US" sz="850" b="1" dirty="0">
                <a:solidFill>
                  <a:srgbClr val="34D399"/>
                </a:solidFill>
                <a:latin typeface="Courier New" pitchFamily="34" charset="0"/>
                <a:ea typeface="Courier New" pitchFamily="34" charset="-122"/>
                <a:cs typeface="Courier New" pitchFamily="34" charset="-120"/>
              </a:rPr>
              <a:t>DONE</a:t>
            </a:r>
            <a:endParaRPr lang="en-US" sz="850" dirty="0"/>
          </a:p>
        </p:txBody>
      </p:sp>
      <p:sp>
        <p:nvSpPr>
          <p:cNvPr id="17" name="Text 13"/>
          <p:cNvSpPr/>
          <p:nvPr/>
        </p:nvSpPr>
        <p:spPr>
          <a:xfrm>
            <a:off x="2798064" y="2066544"/>
            <a:ext cx="1691640" cy="274320"/>
          </a:xfrm>
          <a:prstGeom prst="rect">
            <a:avLst/>
          </a:prstGeom>
          <a:noFill/>
          <a:ln/>
        </p:spPr>
        <p:txBody>
          <a:bodyPr wrap="square" lIns="0" tIns="0" rIns="0" bIns="0" rtlCol="0" anchor="ctr"/>
          <a:lstStyle/>
          <a:p>
            <a:pPr indent="0" marL="0">
              <a:buNone/>
            </a:pPr>
            <a:r>
              <a:rPr lang="en-US" sz="1200" b="1" dirty="0">
                <a:solidFill>
                  <a:srgbClr val="E8EDF7"/>
                </a:solidFill>
                <a:latin typeface="Calibri" pitchFamily="34" charset="0"/>
                <a:ea typeface="Calibri" pitchFamily="34" charset="-122"/>
                <a:cs typeface="Calibri" pitchFamily="34" charset="-120"/>
              </a:rPr>
              <a:t>Phase 2 · Core build</a:t>
            </a:r>
            <a:endParaRPr lang="en-US" sz="1200" dirty="0"/>
          </a:p>
        </p:txBody>
      </p:sp>
      <p:sp>
        <p:nvSpPr>
          <p:cNvPr id="18" name="Text 14"/>
          <p:cNvSpPr/>
          <p:nvPr/>
        </p:nvSpPr>
        <p:spPr>
          <a:xfrm>
            <a:off x="2798064" y="2340864"/>
            <a:ext cx="1691640" cy="219456"/>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Jun 23 – Jul 1</a:t>
            </a:r>
            <a:endParaRPr lang="en-US" sz="900" dirty="0"/>
          </a:p>
        </p:txBody>
      </p:sp>
      <p:sp>
        <p:nvSpPr>
          <p:cNvPr id="19" name="Text 15"/>
          <p:cNvSpPr/>
          <p:nvPr/>
        </p:nvSpPr>
        <p:spPr>
          <a:xfrm>
            <a:off x="2798064" y="2670048"/>
            <a:ext cx="1664208" cy="16002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All 5 layers implemented</a:t>
            </a:r>
            <a:endParaRPr lang="en-US" sz="950" dirty="0"/>
          </a:p>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Rule, Graph, RAG, Decision engines</a:t>
            </a:r>
            <a:endParaRPr lang="en-US" sz="950" dirty="0"/>
          </a:p>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8 unit tests passing</a:t>
            </a:r>
            <a:endParaRPr lang="en-US" sz="950" dirty="0"/>
          </a:p>
        </p:txBody>
      </p:sp>
      <p:sp>
        <p:nvSpPr>
          <p:cNvPr id="20" name="Shape 16"/>
          <p:cNvSpPr/>
          <p:nvPr/>
        </p:nvSpPr>
        <p:spPr>
          <a:xfrm>
            <a:off x="4764024" y="1325880"/>
            <a:ext cx="1947672" cy="3063240"/>
          </a:xfrm>
          <a:prstGeom prst="roundRect">
            <a:avLst>
              <a:gd name="adj" fmla="val 3286"/>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21" name="Shape 17"/>
          <p:cNvSpPr/>
          <p:nvPr/>
        </p:nvSpPr>
        <p:spPr>
          <a:xfrm>
            <a:off x="4928616" y="1490472"/>
            <a:ext cx="457200" cy="457200"/>
          </a:xfrm>
          <a:prstGeom prst="roundRect">
            <a:avLst>
              <a:gd name="adj" fmla="val 18000"/>
            </a:avLst>
          </a:prstGeom>
          <a:solidFill>
            <a:srgbClr val="0B0F17"/>
          </a:solidFill>
          <a:ln/>
        </p:spPr>
      </p:sp>
      <p:pic>
        <p:nvPicPr>
          <p:cNvPr id="22" name="Image 2" descr="preencoded.png">    </p:cNvPr>
          <p:cNvPicPr>
            <a:picLocks noChangeAspect="1"/>
          </p:cNvPicPr>
          <p:nvPr/>
        </p:nvPicPr>
        <p:blipFill>
          <a:blip r:embed="rId3"/>
          <a:stretch>
            <a:fillRect/>
          </a:stretch>
        </p:blipFill>
        <p:spPr>
          <a:xfrm>
            <a:off x="5047488" y="1609344"/>
            <a:ext cx="219456" cy="219456"/>
          </a:xfrm>
          <a:prstGeom prst="rect">
            <a:avLst/>
          </a:prstGeom>
        </p:spPr>
      </p:pic>
      <p:sp>
        <p:nvSpPr>
          <p:cNvPr id="23" name="Shape 18"/>
          <p:cNvSpPr/>
          <p:nvPr/>
        </p:nvSpPr>
        <p:spPr>
          <a:xfrm>
            <a:off x="5477256" y="1554480"/>
            <a:ext cx="1097280" cy="274320"/>
          </a:xfrm>
          <a:prstGeom prst="roundRect">
            <a:avLst>
              <a:gd name="adj" fmla="val 50000"/>
            </a:avLst>
          </a:prstGeom>
          <a:solidFill>
            <a:srgbClr val="0B0F17"/>
          </a:solidFill>
          <a:ln w="12700">
            <a:solidFill>
              <a:srgbClr val="34D399"/>
            </a:solidFill>
            <a:prstDash val="solid"/>
          </a:ln>
        </p:spPr>
      </p:sp>
      <p:sp>
        <p:nvSpPr>
          <p:cNvPr id="24" name="Text 19"/>
          <p:cNvSpPr/>
          <p:nvPr/>
        </p:nvSpPr>
        <p:spPr>
          <a:xfrm>
            <a:off x="5477256" y="1554480"/>
            <a:ext cx="1097280" cy="274320"/>
          </a:xfrm>
          <a:prstGeom prst="rect">
            <a:avLst/>
          </a:prstGeom>
          <a:noFill/>
          <a:ln/>
        </p:spPr>
        <p:txBody>
          <a:bodyPr wrap="square" lIns="0" tIns="0" rIns="0" bIns="0" rtlCol="0" anchor="ctr"/>
          <a:lstStyle/>
          <a:p>
            <a:pPr algn="ctr" indent="0" marL="0">
              <a:buNone/>
            </a:pPr>
            <a:r>
              <a:rPr lang="en-US" sz="850" b="1" dirty="0">
                <a:solidFill>
                  <a:srgbClr val="34D399"/>
                </a:solidFill>
                <a:latin typeface="Courier New" pitchFamily="34" charset="0"/>
                <a:ea typeface="Courier New" pitchFamily="34" charset="-122"/>
                <a:cs typeface="Courier New" pitchFamily="34" charset="-120"/>
              </a:rPr>
              <a:t>DONE</a:t>
            </a:r>
            <a:endParaRPr lang="en-US" sz="850" dirty="0"/>
          </a:p>
        </p:txBody>
      </p:sp>
      <p:sp>
        <p:nvSpPr>
          <p:cNvPr id="25" name="Text 20"/>
          <p:cNvSpPr/>
          <p:nvPr/>
        </p:nvSpPr>
        <p:spPr>
          <a:xfrm>
            <a:off x="4928616" y="2066544"/>
            <a:ext cx="1691640" cy="274320"/>
          </a:xfrm>
          <a:prstGeom prst="rect">
            <a:avLst/>
          </a:prstGeom>
          <a:noFill/>
          <a:ln/>
        </p:spPr>
        <p:txBody>
          <a:bodyPr wrap="square" lIns="0" tIns="0" rIns="0" bIns="0" rtlCol="0" anchor="ctr"/>
          <a:lstStyle/>
          <a:p>
            <a:pPr indent="0" marL="0">
              <a:buNone/>
            </a:pPr>
            <a:r>
              <a:rPr lang="en-US" sz="1200" b="1" dirty="0">
                <a:solidFill>
                  <a:srgbClr val="E8EDF7"/>
                </a:solidFill>
                <a:latin typeface="Calibri" pitchFamily="34" charset="0"/>
                <a:ea typeface="Calibri" pitchFamily="34" charset="-122"/>
                <a:cs typeface="Calibri" pitchFamily="34" charset="-120"/>
              </a:rPr>
              <a:t>Phase 3 · Data + UX</a:t>
            </a:r>
            <a:endParaRPr lang="en-US" sz="1200" dirty="0"/>
          </a:p>
        </p:txBody>
      </p:sp>
      <p:sp>
        <p:nvSpPr>
          <p:cNvPr id="26" name="Text 21"/>
          <p:cNvSpPr/>
          <p:nvPr/>
        </p:nvSpPr>
        <p:spPr>
          <a:xfrm>
            <a:off x="4928616" y="2340864"/>
            <a:ext cx="1691640" cy="219456"/>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Jul 2 – Jul 4</a:t>
            </a:r>
            <a:endParaRPr lang="en-US" sz="900" dirty="0"/>
          </a:p>
        </p:txBody>
      </p:sp>
      <p:sp>
        <p:nvSpPr>
          <p:cNvPr id="27" name="Text 22"/>
          <p:cNvSpPr/>
          <p:nvPr/>
        </p:nvSpPr>
        <p:spPr>
          <a:xfrm>
            <a:off x="4928616" y="2670048"/>
            <a:ext cx="1664208" cy="16002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Seed scripts (MongoDB + Neo4j rings)</a:t>
            </a:r>
            <a:endParaRPr lang="en-US" sz="950" dirty="0"/>
          </a:p>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58-doc fraud knowledge base</a:t>
            </a:r>
            <a:endParaRPr lang="en-US" sz="950" dirty="0"/>
          </a:p>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React dashboard + stats API</a:t>
            </a:r>
            <a:endParaRPr lang="en-US" sz="950" dirty="0"/>
          </a:p>
        </p:txBody>
      </p:sp>
      <p:sp>
        <p:nvSpPr>
          <p:cNvPr id="28" name="Shape 23"/>
          <p:cNvSpPr/>
          <p:nvPr/>
        </p:nvSpPr>
        <p:spPr>
          <a:xfrm>
            <a:off x="6894576" y="1325880"/>
            <a:ext cx="1947672" cy="3063240"/>
          </a:xfrm>
          <a:prstGeom prst="roundRect">
            <a:avLst>
              <a:gd name="adj" fmla="val 3286"/>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29" name="Shape 24"/>
          <p:cNvSpPr/>
          <p:nvPr/>
        </p:nvSpPr>
        <p:spPr>
          <a:xfrm>
            <a:off x="7059168" y="1490472"/>
            <a:ext cx="457200" cy="457200"/>
          </a:xfrm>
          <a:prstGeom prst="roundRect">
            <a:avLst>
              <a:gd name="adj" fmla="val 18000"/>
            </a:avLst>
          </a:prstGeom>
          <a:solidFill>
            <a:srgbClr val="0B0F17"/>
          </a:solidFill>
          <a:ln/>
        </p:spPr>
      </p:sp>
      <p:pic>
        <p:nvPicPr>
          <p:cNvPr id="30" name="Image 3" descr="preencoded.png">    </p:cNvPr>
          <p:cNvPicPr>
            <a:picLocks noChangeAspect="1"/>
          </p:cNvPicPr>
          <p:nvPr/>
        </p:nvPicPr>
        <p:blipFill>
          <a:blip r:embed="rId4"/>
          <a:stretch>
            <a:fillRect/>
          </a:stretch>
        </p:blipFill>
        <p:spPr>
          <a:xfrm>
            <a:off x="7178040" y="1609344"/>
            <a:ext cx="219456" cy="219456"/>
          </a:xfrm>
          <a:prstGeom prst="rect">
            <a:avLst/>
          </a:prstGeom>
        </p:spPr>
      </p:pic>
      <p:sp>
        <p:nvSpPr>
          <p:cNvPr id="31" name="Shape 25"/>
          <p:cNvSpPr/>
          <p:nvPr/>
        </p:nvSpPr>
        <p:spPr>
          <a:xfrm>
            <a:off x="7607808" y="1554480"/>
            <a:ext cx="1097280" cy="274320"/>
          </a:xfrm>
          <a:prstGeom prst="roundRect">
            <a:avLst>
              <a:gd name="adj" fmla="val 50000"/>
            </a:avLst>
          </a:prstGeom>
          <a:solidFill>
            <a:srgbClr val="0B0F17"/>
          </a:solidFill>
          <a:ln w="12700">
            <a:solidFill>
              <a:srgbClr val="FBBF24"/>
            </a:solidFill>
            <a:prstDash val="solid"/>
          </a:ln>
        </p:spPr>
      </p:sp>
      <p:sp>
        <p:nvSpPr>
          <p:cNvPr id="32" name="Text 26"/>
          <p:cNvSpPr/>
          <p:nvPr/>
        </p:nvSpPr>
        <p:spPr>
          <a:xfrm>
            <a:off x="7607808" y="1554480"/>
            <a:ext cx="1097280" cy="274320"/>
          </a:xfrm>
          <a:prstGeom prst="rect">
            <a:avLst/>
          </a:prstGeom>
          <a:noFill/>
          <a:ln/>
        </p:spPr>
        <p:txBody>
          <a:bodyPr wrap="square" lIns="0" tIns="0" rIns="0" bIns="0" rtlCol="0" anchor="ctr"/>
          <a:lstStyle/>
          <a:p>
            <a:pPr algn="ctr" indent="0" marL="0">
              <a:buNone/>
            </a:pPr>
            <a:r>
              <a:rPr lang="en-US" sz="850" b="1" dirty="0">
                <a:solidFill>
                  <a:srgbClr val="FBBF24"/>
                </a:solidFill>
                <a:latin typeface="Courier New" pitchFamily="34" charset="0"/>
                <a:ea typeface="Courier New" pitchFamily="34" charset="-122"/>
                <a:cs typeface="Courier New" pitchFamily="34" charset="-120"/>
              </a:rPr>
              <a:t>IN PROGRESS</a:t>
            </a:r>
            <a:endParaRPr lang="en-US" sz="850" dirty="0"/>
          </a:p>
        </p:txBody>
      </p:sp>
      <p:sp>
        <p:nvSpPr>
          <p:cNvPr id="33" name="Text 27"/>
          <p:cNvSpPr/>
          <p:nvPr/>
        </p:nvSpPr>
        <p:spPr>
          <a:xfrm>
            <a:off x="7059168" y="2066544"/>
            <a:ext cx="1691640" cy="274320"/>
          </a:xfrm>
          <a:prstGeom prst="rect">
            <a:avLst/>
          </a:prstGeom>
          <a:noFill/>
          <a:ln/>
        </p:spPr>
        <p:txBody>
          <a:bodyPr wrap="square" lIns="0" tIns="0" rIns="0" bIns="0" rtlCol="0" anchor="ctr"/>
          <a:lstStyle/>
          <a:p>
            <a:pPr indent="0" marL="0">
              <a:buNone/>
            </a:pPr>
            <a:r>
              <a:rPr lang="en-US" sz="1200" b="1" dirty="0">
                <a:solidFill>
                  <a:srgbClr val="E8EDF7"/>
                </a:solidFill>
                <a:latin typeface="Calibri" pitchFamily="34" charset="0"/>
                <a:ea typeface="Calibri" pitchFamily="34" charset="-122"/>
                <a:cs typeface="Calibri" pitchFamily="34" charset="-120"/>
              </a:rPr>
              <a:t>Phase 4 · Integration</a:t>
            </a:r>
            <a:endParaRPr lang="en-US" sz="1200" dirty="0"/>
          </a:p>
        </p:txBody>
      </p:sp>
      <p:sp>
        <p:nvSpPr>
          <p:cNvPr id="34" name="Text 28"/>
          <p:cNvSpPr/>
          <p:nvPr/>
        </p:nvSpPr>
        <p:spPr>
          <a:xfrm>
            <a:off x="7059168" y="2340864"/>
            <a:ext cx="1691640" cy="219456"/>
          </a:xfrm>
          <a:prstGeom prst="rect">
            <a:avLst/>
          </a:prstGeom>
          <a:noFill/>
          <a:ln/>
        </p:spPr>
        <p:txBody>
          <a:bodyPr wrap="square" lIns="0" tIns="0" rIns="0" bIns="0" rtlCol="0" anchor="ctr"/>
          <a:lstStyle/>
          <a:p>
            <a:pPr indent="0" marL="0">
              <a:buNone/>
            </a:pPr>
            <a:r>
              <a:rPr lang="en-US" sz="900" dirty="0">
                <a:solidFill>
                  <a:srgbClr val="94A3B8"/>
                </a:solidFill>
                <a:latin typeface="Courier New" pitchFamily="34" charset="0"/>
                <a:ea typeface="Courier New" pitchFamily="34" charset="-122"/>
                <a:cs typeface="Courier New" pitchFamily="34" charset="-120"/>
              </a:rPr>
              <a:t>Jul 5 – Jul 10</a:t>
            </a:r>
            <a:endParaRPr lang="en-US" sz="900" dirty="0"/>
          </a:p>
        </p:txBody>
      </p:sp>
      <p:sp>
        <p:nvSpPr>
          <p:cNvPr id="35" name="Text 29"/>
          <p:cNvSpPr/>
          <p:nvPr/>
        </p:nvSpPr>
        <p:spPr>
          <a:xfrm>
            <a:off x="7059168" y="2670048"/>
            <a:ext cx="1664208" cy="1600200"/>
          </a:xfrm>
          <a:prstGeom prst="rect">
            <a:avLst/>
          </a:prstGeom>
          <a:noFill/>
          <a:ln/>
        </p:spPr>
        <p:txBody>
          <a:bodyPr wrap="square" lIns="0" tIns="0" rIns="0" bIns="0" rtlCol="0" anchor="t"/>
          <a:lstStyle/>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Full-stack run under Docker</a:t>
            </a:r>
            <a:endParaRPr lang="en-US" sz="950" dirty="0"/>
          </a:p>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End-to-end demo rehearsal</a:t>
            </a:r>
            <a:endParaRPr lang="en-US" sz="950" dirty="0"/>
          </a:p>
          <a:p>
            <a:pPr marL="342900" indent="-342900">
              <a:spcAft>
                <a:spcPts val="600"/>
              </a:spcAft>
              <a:buSzPct val="100000"/>
              <a:buChar char="•"/>
            </a:pPr>
            <a:r>
              <a:rPr lang="en-US" sz="950" dirty="0">
                <a:solidFill>
                  <a:srgbClr val="E8EDF7"/>
                </a:solidFill>
                <a:latin typeface="Calibri" pitchFamily="34" charset="0"/>
                <a:ea typeface="Calibri" pitchFamily="34" charset="-122"/>
                <a:cs typeface="Calibri" pitchFamily="34" charset="-120"/>
              </a:rPr>
              <a:t>Ollama offline path verified</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07 · STATUS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What is built and verified today</a:t>
            </a:r>
            <a:endParaRPr lang="en-US" sz="2800" dirty="0"/>
          </a:p>
        </p:txBody>
      </p:sp>
      <p:sp>
        <p:nvSpPr>
          <p:cNvPr id="4" name="Shape 2"/>
          <p:cNvSpPr/>
          <p:nvPr/>
        </p:nvSpPr>
        <p:spPr>
          <a:xfrm>
            <a:off x="502920" y="1325880"/>
            <a:ext cx="1947672" cy="1600200"/>
          </a:xfrm>
          <a:prstGeom prst="roundRect">
            <a:avLst>
              <a:gd name="adj" fmla="val 4000"/>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502920" y="1481328"/>
            <a:ext cx="1947672" cy="658368"/>
          </a:xfrm>
          <a:prstGeom prst="rect">
            <a:avLst/>
          </a:prstGeom>
          <a:noFill/>
          <a:ln/>
        </p:spPr>
        <p:txBody>
          <a:bodyPr wrap="square" lIns="0" tIns="0" rIns="0" bIns="0" rtlCol="0" anchor="ctr"/>
          <a:lstStyle/>
          <a:p>
            <a:pPr algn="ctr" indent="0" marL="0">
              <a:buNone/>
            </a:pPr>
            <a:r>
              <a:rPr lang="en-US" sz="4000" b="1" dirty="0">
                <a:solidFill>
                  <a:srgbClr val="60A5FA"/>
                </a:solidFill>
                <a:latin typeface="Courier New" pitchFamily="34" charset="0"/>
                <a:ea typeface="Courier New" pitchFamily="34" charset="-122"/>
                <a:cs typeface="Courier New" pitchFamily="34" charset="-120"/>
              </a:rPr>
              <a:t>12</a:t>
            </a:r>
            <a:endParaRPr lang="en-US" sz="4000" dirty="0"/>
          </a:p>
        </p:txBody>
      </p:sp>
      <p:sp>
        <p:nvSpPr>
          <p:cNvPr id="6" name="Text 4"/>
          <p:cNvSpPr/>
          <p:nvPr/>
        </p:nvSpPr>
        <p:spPr>
          <a:xfrm>
            <a:off x="594360" y="2176272"/>
            <a:ext cx="1764792" cy="237744"/>
          </a:xfrm>
          <a:prstGeom prst="rect">
            <a:avLst/>
          </a:prstGeom>
          <a:noFill/>
          <a:ln/>
        </p:spPr>
        <p:txBody>
          <a:bodyPr wrap="square" lIns="0" tIns="0" rIns="0" bIns="0" rtlCol="0" anchor="ctr"/>
          <a:lstStyle/>
          <a:p>
            <a:pPr algn="ctr" indent="0" marL="0">
              <a:buNone/>
            </a:pPr>
            <a:r>
              <a:rPr lang="en-US" sz="1100" b="1" dirty="0">
                <a:solidFill>
                  <a:srgbClr val="E8EDF7"/>
                </a:solidFill>
                <a:latin typeface="Calibri" pitchFamily="34" charset="0"/>
                <a:ea typeface="Calibri" pitchFamily="34" charset="-122"/>
                <a:cs typeface="Calibri" pitchFamily="34" charset="-120"/>
              </a:rPr>
              <a:t>REST endpoints</a:t>
            </a:r>
            <a:endParaRPr lang="en-US" sz="1100" dirty="0"/>
          </a:p>
        </p:txBody>
      </p:sp>
      <p:sp>
        <p:nvSpPr>
          <p:cNvPr id="7" name="Text 5"/>
          <p:cNvSpPr/>
          <p:nvPr/>
        </p:nvSpPr>
        <p:spPr>
          <a:xfrm>
            <a:off x="612648" y="2414016"/>
            <a:ext cx="1737360" cy="41148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transactions · accounts · graph · stats</a:t>
            </a:r>
            <a:endParaRPr lang="en-US" sz="850" dirty="0"/>
          </a:p>
        </p:txBody>
      </p:sp>
      <p:sp>
        <p:nvSpPr>
          <p:cNvPr id="8" name="Shape 6"/>
          <p:cNvSpPr/>
          <p:nvPr/>
        </p:nvSpPr>
        <p:spPr>
          <a:xfrm>
            <a:off x="2633472" y="1325880"/>
            <a:ext cx="1947672" cy="1600200"/>
          </a:xfrm>
          <a:prstGeom prst="roundRect">
            <a:avLst>
              <a:gd name="adj" fmla="val 4000"/>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9" name="Text 7"/>
          <p:cNvSpPr/>
          <p:nvPr/>
        </p:nvSpPr>
        <p:spPr>
          <a:xfrm>
            <a:off x="2633472" y="1481328"/>
            <a:ext cx="1947672" cy="658368"/>
          </a:xfrm>
          <a:prstGeom prst="rect">
            <a:avLst/>
          </a:prstGeom>
          <a:noFill/>
          <a:ln/>
        </p:spPr>
        <p:txBody>
          <a:bodyPr wrap="square" lIns="0" tIns="0" rIns="0" bIns="0" rtlCol="0" anchor="ctr"/>
          <a:lstStyle/>
          <a:p>
            <a:pPr algn="ctr" indent="0" marL="0">
              <a:buNone/>
            </a:pPr>
            <a:r>
              <a:rPr lang="en-US" sz="4000" b="1" dirty="0">
                <a:solidFill>
                  <a:srgbClr val="60A5FA"/>
                </a:solidFill>
                <a:latin typeface="Courier New" pitchFamily="34" charset="0"/>
                <a:ea typeface="Courier New" pitchFamily="34" charset="-122"/>
                <a:cs typeface="Courier New" pitchFamily="34" charset="-120"/>
              </a:rPr>
              <a:t>8/8</a:t>
            </a:r>
            <a:endParaRPr lang="en-US" sz="4000" dirty="0"/>
          </a:p>
        </p:txBody>
      </p:sp>
      <p:sp>
        <p:nvSpPr>
          <p:cNvPr id="10" name="Text 8"/>
          <p:cNvSpPr/>
          <p:nvPr/>
        </p:nvSpPr>
        <p:spPr>
          <a:xfrm>
            <a:off x="2724912" y="2176272"/>
            <a:ext cx="1764792" cy="237744"/>
          </a:xfrm>
          <a:prstGeom prst="rect">
            <a:avLst/>
          </a:prstGeom>
          <a:noFill/>
          <a:ln/>
        </p:spPr>
        <p:txBody>
          <a:bodyPr wrap="square" lIns="0" tIns="0" rIns="0" bIns="0" rtlCol="0" anchor="ctr"/>
          <a:lstStyle/>
          <a:p>
            <a:pPr algn="ctr" indent="0" marL="0">
              <a:buNone/>
            </a:pPr>
            <a:r>
              <a:rPr lang="en-US" sz="1100" b="1" dirty="0">
                <a:solidFill>
                  <a:srgbClr val="E8EDF7"/>
                </a:solidFill>
                <a:latin typeface="Calibri" pitchFamily="34" charset="0"/>
                <a:ea typeface="Calibri" pitchFamily="34" charset="-122"/>
                <a:cs typeface="Calibri" pitchFamily="34" charset="-120"/>
              </a:rPr>
              <a:t>unit tests passing</a:t>
            </a:r>
            <a:endParaRPr lang="en-US" sz="1100" dirty="0"/>
          </a:p>
        </p:txBody>
      </p:sp>
      <p:sp>
        <p:nvSpPr>
          <p:cNvPr id="11" name="Text 9"/>
          <p:cNvSpPr/>
          <p:nvPr/>
        </p:nvSpPr>
        <p:spPr>
          <a:xfrm>
            <a:off x="2743200" y="2414016"/>
            <a:ext cx="1737360" cy="41148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rule + decision engines, pytest</a:t>
            </a:r>
            <a:endParaRPr lang="en-US" sz="850" dirty="0"/>
          </a:p>
        </p:txBody>
      </p:sp>
      <p:sp>
        <p:nvSpPr>
          <p:cNvPr id="12" name="Shape 10"/>
          <p:cNvSpPr/>
          <p:nvPr/>
        </p:nvSpPr>
        <p:spPr>
          <a:xfrm>
            <a:off x="4764024" y="1325880"/>
            <a:ext cx="1947672" cy="1600200"/>
          </a:xfrm>
          <a:prstGeom prst="roundRect">
            <a:avLst>
              <a:gd name="adj" fmla="val 4000"/>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3" name="Text 11"/>
          <p:cNvSpPr/>
          <p:nvPr/>
        </p:nvSpPr>
        <p:spPr>
          <a:xfrm>
            <a:off x="4764024" y="1481328"/>
            <a:ext cx="1947672" cy="658368"/>
          </a:xfrm>
          <a:prstGeom prst="rect">
            <a:avLst/>
          </a:prstGeom>
          <a:noFill/>
          <a:ln/>
        </p:spPr>
        <p:txBody>
          <a:bodyPr wrap="square" lIns="0" tIns="0" rIns="0" bIns="0" rtlCol="0" anchor="ctr"/>
          <a:lstStyle/>
          <a:p>
            <a:pPr algn="ctr" indent="0" marL="0">
              <a:buNone/>
            </a:pPr>
            <a:r>
              <a:rPr lang="en-US" sz="4000" b="1" dirty="0">
                <a:solidFill>
                  <a:srgbClr val="60A5FA"/>
                </a:solidFill>
                <a:latin typeface="Courier New" pitchFamily="34" charset="0"/>
                <a:ea typeface="Courier New" pitchFamily="34" charset="-122"/>
                <a:cs typeface="Courier New" pitchFamily="34" charset="-120"/>
              </a:rPr>
              <a:t>58</a:t>
            </a:r>
            <a:endParaRPr lang="en-US" sz="4000" dirty="0"/>
          </a:p>
        </p:txBody>
      </p:sp>
      <p:sp>
        <p:nvSpPr>
          <p:cNvPr id="14" name="Text 12"/>
          <p:cNvSpPr/>
          <p:nvPr/>
        </p:nvSpPr>
        <p:spPr>
          <a:xfrm>
            <a:off x="4855464" y="2176272"/>
            <a:ext cx="1764792" cy="237744"/>
          </a:xfrm>
          <a:prstGeom prst="rect">
            <a:avLst/>
          </a:prstGeom>
          <a:noFill/>
          <a:ln/>
        </p:spPr>
        <p:txBody>
          <a:bodyPr wrap="square" lIns="0" tIns="0" rIns="0" bIns="0" rtlCol="0" anchor="ctr"/>
          <a:lstStyle/>
          <a:p>
            <a:pPr algn="ctr" indent="0" marL="0">
              <a:buNone/>
            </a:pPr>
            <a:r>
              <a:rPr lang="en-US" sz="1100" b="1" dirty="0">
                <a:solidFill>
                  <a:srgbClr val="E8EDF7"/>
                </a:solidFill>
                <a:latin typeface="Calibri" pitchFamily="34" charset="0"/>
                <a:ea typeface="Calibri" pitchFamily="34" charset="-122"/>
                <a:cs typeface="Calibri" pitchFamily="34" charset="-120"/>
              </a:rPr>
              <a:t>fraud patterns</a:t>
            </a:r>
            <a:endParaRPr lang="en-US" sz="1100" dirty="0"/>
          </a:p>
        </p:txBody>
      </p:sp>
      <p:sp>
        <p:nvSpPr>
          <p:cNvPr id="15" name="Text 13"/>
          <p:cNvSpPr/>
          <p:nvPr/>
        </p:nvSpPr>
        <p:spPr>
          <a:xfrm>
            <a:off x="4873752" y="2414016"/>
            <a:ext cx="1737360" cy="41148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RAG knowledge base in ChromaDB</a:t>
            </a:r>
            <a:endParaRPr lang="en-US" sz="850" dirty="0"/>
          </a:p>
        </p:txBody>
      </p:sp>
      <p:sp>
        <p:nvSpPr>
          <p:cNvPr id="16" name="Shape 14"/>
          <p:cNvSpPr/>
          <p:nvPr/>
        </p:nvSpPr>
        <p:spPr>
          <a:xfrm>
            <a:off x="6894576" y="1325880"/>
            <a:ext cx="1947672" cy="1600200"/>
          </a:xfrm>
          <a:prstGeom prst="roundRect">
            <a:avLst>
              <a:gd name="adj" fmla="val 4000"/>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7" name="Text 15"/>
          <p:cNvSpPr/>
          <p:nvPr/>
        </p:nvSpPr>
        <p:spPr>
          <a:xfrm>
            <a:off x="6894576" y="1481328"/>
            <a:ext cx="1947672" cy="658368"/>
          </a:xfrm>
          <a:prstGeom prst="rect">
            <a:avLst/>
          </a:prstGeom>
          <a:noFill/>
          <a:ln/>
        </p:spPr>
        <p:txBody>
          <a:bodyPr wrap="square" lIns="0" tIns="0" rIns="0" bIns="0" rtlCol="0" anchor="ctr"/>
          <a:lstStyle/>
          <a:p>
            <a:pPr algn="ctr" indent="0" marL="0">
              <a:buNone/>
            </a:pPr>
            <a:r>
              <a:rPr lang="en-US" sz="4000" b="1" dirty="0">
                <a:solidFill>
                  <a:srgbClr val="60A5FA"/>
                </a:solidFill>
                <a:latin typeface="Courier New" pitchFamily="34" charset="0"/>
                <a:ea typeface="Courier New" pitchFamily="34" charset="-122"/>
                <a:cs typeface="Courier New" pitchFamily="34" charset="-120"/>
              </a:rPr>
              <a:t>500</a:t>
            </a:r>
            <a:endParaRPr lang="en-US" sz="4000" dirty="0"/>
          </a:p>
        </p:txBody>
      </p:sp>
      <p:sp>
        <p:nvSpPr>
          <p:cNvPr id="18" name="Text 16"/>
          <p:cNvSpPr/>
          <p:nvPr/>
        </p:nvSpPr>
        <p:spPr>
          <a:xfrm>
            <a:off x="6986016" y="2176272"/>
            <a:ext cx="1764792" cy="237744"/>
          </a:xfrm>
          <a:prstGeom prst="rect">
            <a:avLst/>
          </a:prstGeom>
          <a:noFill/>
          <a:ln/>
        </p:spPr>
        <p:txBody>
          <a:bodyPr wrap="square" lIns="0" tIns="0" rIns="0" bIns="0" rtlCol="0" anchor="ctr"/>
          <a:lstStyle/>
          <a:p>
            <a:pPr algn="ctr" indent="0" marL="0">
              <a:buNone/>
            </a:pPr>
            <a:r>
              <a:rPr lang="en-US" sz="1100" b="1" dirty="0">
                <a:solidFill>
                  <a:srgbClr val="E8EDF7"/>
                </a:solidFill>
                <a:latin typeface="Calibri" pitchFamily="34" charset="0"/>
                <a:ea typeface="Calibri" pitchFamily="34" charset="-122"/>
                <a:cs typeface="Calibri" pitchFamily="34" charset="-120"/>
              </a:rPr>
              <a:t>synthetic accounts</a:t>
            </a:r>
            <a:endParaRPr lang="en-US" sz="1100" dirty="0"/>
          </a:p>
        </p:txBody>
      </p:sp>
      <p:sp>
        <p:nvSpPr>
          <p:cNvPr id="19" name="Text 17"/>
          <p:cNvSpPr/>
          <p:nvPr/>
        </p:nvSpPr>
        <p:spPr>
          <a:xfrm>
            <a:off x="7004304" y="2414016"/>
            <a:ext cx="1737360" cy="411480"/>
          </a:xfrm>
          <a:prstGeom prst="rect">
            <a:avLst/>
          </a:prstGeom>
          <a:noFill/>
          <a:ln/>
        </p:spPr>
        <p:txBody>
          <a:bodyPr wrap="square" lIns="0" tIns="0" rIns="0" bIns="0" rtlCol="0" anchor="ctr"/>
          <a:lstStyle/>
          <a:p>
            <a:pPr algn="ctr" indent="0" marL="0">
              <a:buNone/>
            </a:pPr>
            <a:r>
              <a:rPr lang="en-US" sz="850" dirty="0">
                <a:solidFill>
                  <a:srgbClr val="94A3B8"/>
                </a:solidFill>
                <a:latin typeface="Calibri" pitchFamily="34" charset="0"/>
                <a:ea typeface="Calibri" pitchFamily="34" charset="-122"/>
                <a:cs typeface="Calibri" pitchFamily="34" charset="-120"/>
              </a:rPr>
              <a:t>3 mule rings · ~1,000 transactions</a:t>
            </a:r>
            <a:endParaRPr lang="en-US" sz="850" dirty="0"/>
          </a:p>
        </p:txBody>
      </p:sp>
      <p:sp>
        <p:nvSpPr>
          <p:cNvPr id="20" name="Shape 18"/>
          <p:cNvSpPr/>
          <p:nvPr/>
        </p:nvSpPr>
        <p:spPr>
          <a:xfrm>
            <a:off x="502920" y="3154680"/>
            <a:ext cx="8531352" cy="1600200"/>
          </a:xfrm>
          <a:prstGeom prst="roundRect">
            <a:avLst>
              <a:gd name="adj" fmla="val 4000"/>
            </a:avLst>
          </a:prstGeom>
          <a:solidFill>
            <a:srgbClr val="1C2539"/>
          </a:solidFill>
          <a:ln w="12700">
            <a:solidFill>
              <a:srgbClr val="2A3450"/>
            </a:solidFill>
            <a:prstDash val="solid"/>
          </a:ln>
          <a:effectLst>
            <a:outerShdw sx="100000" sy="100000" kx="0" ky="0" algn="bl" rotWithShape="0" blurRad="101600" dist="38100" dir="5400000">
              <a:srgbClr val="000000">
                <a:alpha val="35000"/>
              </a:srgbClr>
            </a:outerShdw>
          </a:effectLst>
        </p:spPr>
      </p:sp>
      <p:pic>
        <p:nvPicPr>
          <p:cNvPr id="21" name="Image 0" descr="preencoded.png">    </p:cNvPr>
          <p:cNvPicPr>
            <a:picLocks noChangeAspect="1"/>
          </p:cNvPicPr>
          <p:nvPr/>
        </p:nvPicPr>
        <p:blipFill>
          <a:blip r:embed="rId1"/>
          <a:stretch>
            <a:fillRect/>
          </a:stretch>
        </p:blipFill>
        <p:spPr>
          <a:xfrm>
            <a:off x="777240" y="3383280"/>
            <a:ext cx="365760" cy="365760"/>
          </a:xfrm>
          <a:prstGeom prst="rect">
            <a:avLst/>
          </a:prstGeom>
        </p:spPr>
      </p:pic>
      <p:sp>
        <p:nvSpPr>
          <p:cNvPr id="22" name="Text 19"/>
          <p:cNvSpPr/>
          <p:nvPr/>
        </p:nvSpPr>
        <p:spPr>
          <a:xfrm>
            <a:off x="1280160" y="3401568"/>
            <a:ext cx="2743200" cy="292608"/>
          </a:xfrm>
          <a:prstGeom prst="rect">
            <a:avLst/>
          </a:prstGeom>
          <a:noFill/>
          <a:ln/>
        </p:spPr>
        <p:txBody>
          <a:bodyPr wrap="square" lIns="0" tIns="0" rIns="0" bIns="0" rtlCol="0" anchor="ctr"/>
          <a:lstStyle/>
          <a:p>
            <a:pPr indent="0" marL="0">
              <a:buNone/>
            </a:pPr>
            <a:r>
              <a:rPr lang="en-US" sz="1400" b="1" dirty="0">
                <a:solidFill>
                  <a:srgbClr val="34D399"/>
                </a:solidFill>
                <a:latin typeface="Calibri" pitchFamily="34" charset="0"/>
                <a:ea typeface="Calibri" pitchFamily="34" charset="-122"/>
                <a:cs typeface="Calibri" pitchFamily="34" charset="-120"/>
              </a:rPr>
              <a:t>Verified</a:t>
            </a:r>
            <a:endParaRPr lang="en-US" sz="1400" dirty="0"/>
          </a:p>
        </p:txBody>
      </p:sp>
      <p:sp>
        <p:nvSpPr>
          <p:cNvPr id="23" name="Text 20"/>
          <p:cNvSpPr/>
          <p:nvPr/>
        </p:nvSpPr>
        <p:spPr>
          <a:xfrm>
            <a:off x="1280160" y="3730752"/>
            <a:ext cx="7498080" cy="960120"/>
          </a:xfrm>
          <a:prstGeom prst="rect">
            <a:avLst/>
          </a:prstGeom>
          <a:noFill/>
          <a:ln/>
        </p:spPr>
        <p:txBody>
          <a:bodyPr wrap="square" lIns="0" tIns="0" rIns="0" bIns="0" rtlCol="0" anchor="ctr"/>
          <a:lstStyle/>
          <a:p>
            <a:pPr marL="342900" indent="-342900">
              <a:spcAft>
                <a:spcPts val="500"/>
              </a:spcAft>
              <a:buSzPct val="100000"/>
              <a:buChar char="•"/>
            </a:pPr>
            <a:r>
              <a:rPr lang="en-US" sz="1100" dirty="0">
                <a:solidFill>
                  <a:srgbClr val="E8EDF7"/>
                </a:solidFill>
                <a:latin typeface="Calibri" pitchFamily="34" charset="0"/>
                <a:ea typeface="Calibri" pitchFamily="34" charset="-122"/>
                <a:cs typeface="Calibri" pitchFamily="34" charset="-120"/>
              </a:rPr>
              <a:t>pytest suite green (8/8) — rule engine &amp; decision thresholds</a:t>
            </a:r>
            <a:endParaRPr lang="en-US" sz="1100" dirty="0"/>
          </a:p>
          <a:p>
            <a:pPr marL="342900" indent="-342900">
              <a:spcAft>
                <a:spcPts val="500"/>
              </a:spcAft>
              <a:buSzPct val="100000"/>
              <a:buChar char="•"/>
            </a:pPr>
            <a:r>
              <a:rPr lang="en-US" sz="1100" dirty="0">
                <a:solidFill>
                  <a:srgbClr val="E8EDF7"/>
                </a:solidFill>
                <a:latin typeface="Calibri" pitchFamily="34" charset="0"/>
                <a:ea typeface="Calibri" pitchFamily="34" charset="-122"/>
                <a:cs typeface="Calibri" pitchFamily="34" charset="-120"/>
              </a:rPr>
              <a:t>App boots with all routers registered; dashboard builds clean with zero console errors</a:t>
            </a:r>
            <a:endParaRPr lang="en-US" sz="1100" dirty="0"/>
          </a:p>
          <a:p>
            <a:pPr marL="342900" indent="-342900">
              <a:spcAft>
                <a:spcPts val="500"/>
              </a:spcAft>
              <a:buSzPct val="100000"/>
              <a:buChar char="•"/>
            </a:pPr>
            <a:r>
              <a:rPr lang="en-US" sz="1100" dirty="0">
                <a:solidFill>
                  <a:srgbClr val="E8EDF7"/>
                </a:solidFill>
                <a:latin typeface="Calibri" pitchFamily="34" charset="0"/>
                <a:ea typeface="Calibri" pitchFamily="34" charset="-122"/>
                <a:cs typeface="Calibri" pitchFamily="34" charset="-120"/>
              </a:rPr>
              <a:t>Deterministic seed datasets reproduce identical fraud graphs for every member</a:t>
            </a:r>
            <a:endParaRPr lang="en-US" sz="1100" dirty="0"/>
          </a:p>
          <a:p>
            <a:pPr marL="342900" indent="-342900">
              <a:spcAft>
                <a:spcPts val="500"/>
              </a:spcAft>
              <a:buSzPct val="100000"/>
              <a:buChar char="•"/>
            </a:pPr>
            <a:r>
              <a:rPr lang="en-US" sz="1100" dirty="0">
                <a:solidFill>
                  <a:srgbClr val="E8EDF7"/>
                </a:solidFill>
                <a:latin typeface="Calibri" pitchFamily="34" charset="0"/>
                <a:ea typeface="Calibri" pitchFamily="34" charset="-122"/>
                <a:cs typeface="Calibri" pitchFamily="34" charset="-120"/>
              </a:rPr>
              <a:t>Ollama fallback wired so the demo runs with no API keys and no internet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08 · DEMO</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Live dashboard — decisions as they happen</a:t>
            </a:r>
            <a:endParaRPr lang="en-US" sz="2800" dirty="0"/>
          </a:p>
        </p:txBody>
      </p:sp>
      <p:sp>
        <p:nvSpPr>
          <p:cNvPr id="4" name="Shape 2"/>
          <p:cNvSpPr/>
          <p:nvPr/>
        </p:nvSpPr>
        <p:spPr>
          <a:xfrm>
            <a:off x="502920" y="1280160"/>
            <a:ext cx="4206240" cy="3474720"/>
          </a:xfrm>
          <a:prstGeom prst="roundRect">
            <a:avLst>
              <a:gd name="adj" fmla="val 1842"/>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5" name="Text 3"/>
          <p:cNvSpPr/>
          <p:nvPr/>
        </p:nvSpPr>
        <p:spPr>
          <a:xfrm>
            <a:off x="777240" y="1481328"/>
            <a:ext cx="3657600" cy="274320"/>
          </a:xfrm>
          <a:prstGeom prst="rect">
            <a:avLst/>
          </a:prstGeom>
          <a:noFill/>
          <a:ln/>
        </p:spPr>
        <p:txBody>
          <a:bodyPr wrap="square" lIns="0" tIns="0" rIns="0" bIns="0" rtlCol="0" anchor="ctr"/>
          <a:lstStyle/>
          <a:p>
            <a:pPr indent="0" marL="0">
              <a:buNone/>
            </a:pPr>
            <a:r>
              <a:rPr lang="en-US" sz="1400" b="1" dirty="0">
                <a:solidFill>
                  <a:srgbClr val="60A5FA"/>
                </a:solidFill>
                <a:latin typeface="Calibri" pitchFamily="34" charset="0"/>
                <a:ea typeface="Calibri" pitchFamily="34" charset="-122"/>
                <a:cs typeface="Calibri" pitchFamily="34" charset="-120"/>
              </a:rPr>
              <a:t>Demo flow (3 minutes)</a:t>
            </a:r>
            <a:endParaRPr lang="en-US" sz="1400" dirty="0"/>
          </a:p>
        </p:txBody>
      </p:sp>
      <p:sp>
        <p:nvSpPr>
          <p:cNvPr id="6" name="Text 4"/>
          <p:cNvSpPr/>
          <p:nvPr/>
        </p:nvSpPr>
        <p:spPr>
          <a:xfrm>
            <a:off x="777240" y="1828800"/>
            <a:ext cx="3657600" cy="2743200"/>
          </a:xfrm>
          <a:prstGeom prst="rect">
            <a:avLst/>
          </a:prstGeom>
          <a:noFill/>
          <a:ln/>
        </p:spPr>
        <p:txBody>
          <a:bodyPr wrap="square" lIns="0" tIns="0" rIns="0" bIns="0" rtlCol="0" anchor="ctr"/>
          <a:lstStyle/>
          <a:p>
            <a:pPr marL="342900" indent="-342900">
              <a:spcAft>
                <a:spcPts val="800"/>
              </a:spcAft>
              <a:buSzPct val="100000"/>
              <a:buFont typeface="+mj-lt"/>
              <a:buAutoNum type="arabicPeriod" startAt="1"/>
            </a:pPr>
            <a:r>
              <a:rPr lang="en-US" sz="1150" dirty="0">
                <a:solidFill>
                  <a:srgbClr val="E8EDF7"/>
                </a:solidFill>
                <a:latin typeface="Calibri" pitchFamily="34" charset="0"/>
                <a:ea typeface="Calibri" pitchFamily="34" charset="-122"/>
                <a:cs typeface="Calibri" pitchFamily="34" charset="-120"/>
              </a:rPr>
              <a:t>Submit a normal $250 retail payment → APPROVE in &lt;200 ms</a:t>
            </a:r>
            <a:endParaRPr lang="en-US" sz="1150" dirty="0"/>
          </a:p>
          <a:p>
            <a:pPr marL="342900" indent="-342900">
              <a:spcAft>
                <a:spcPts val="800"/>
              </a:spcAft>
              <a:buSzPct val="100000"/>
              <a:buFont typeface="+mj-lt"/>
              <a:buAutoNum type="arabicPeriod" startAt="1"/>
            </a:pPr>
            <a:r>
              <a:rPr lang="en-US" sz="1150" dirty="0">
                <a:solidFill>
                  <a:srgbClr val="E8EDF7"/>
                </a:solidFill>
                <a:latin typeface="Calibri" pitchFamily="34" charset="0"/>
                <a:ea typeface="Calibri" pitchFamily="34" charset="-122"/>
                <a:cs typeface="Calibri" pitchFamily="34" charset="-120"/>
              </a:rPr>
              <a:t>Replay a $9,450 wire from a high-risk account → BLOCK with mule-ring evidence from Neo4j</a:t>
            </a:r>
            <a:endParaRPr lang="en-US" sz="1150" dirty="0"/>
          </a:p>
          <a:p>
            <a:pPr marL="342900" indent="-342900">
              <a:spcAft>
                <a:spcPts val="800"/>
              </a:spcAft>
              <a:buSzPct val="100000"/>
              <a:buFont typeface="+mj-lt"/>
              <a:buAutoNum type="arabicPeriod" startAt="1"/>
            </a:pPr>
            <a:r>
              <a:rPr lang="en-US" sz="1150" dirty="0">
                <a:solidFill>
                  <a:srgbClr val="E8EDF7"/>
                </a:solidFill>
                <a:latin typeface="Calibri" pitchFamily="34" charset="0"/>
                <a:ea typeface="Calibri" pitchFamily="34" charset="-122"/>
                <a:cs typeface="Calibri" pitchFamily="34" charset="-120"/>
              </a:rPr>
              <a:t>Burst 6 rapid payments → velocity rule flags REVIEW</a:t>
            </a:r>
            <a:endParaRPr lang="en-US" sz="1150" dirty="0"/>
          </a:p>
          <a:p>
            <a:pPr marL="342900" indent="-342900">
              <a:spcAft>
                <a:spcPts val="800"/>
              </a:spcAft>
              <a:buSzPct val="100000"/>
              <a:buFont typeface="+mj-lt"/>
              <a:buAutoNum type="arabicPeriod" startAt="1"/>
            </a:pPr>
            <a:r>
              <a:rPr lang="en-US" sz="1150" dirty="0">
                <a:solidFill>
                  <a:srgbClr val="E8EDF7"/>
                </a:solidFill>
                <a:latin typeface="Calibri" pitchFamily="34" charset="0"/>
                <a:ea typeface="Calibri" pitchFamily="34" charset="-122"/>
                <a:cs typeface="Calibri" pitchFamily="34" charset="-120"/>
              </a:rPr>
              <a:t>Read the LLM explanation — the panel sees why, not just a score</a:t>
            </a:r>
            <a:endParaRPr lang="en-US" sz="1150" dirty="0"/>
          </a:p>
          <a:p>
            <a:pPr marL="342900" indent="-342900">
              <a:spcAft>
                <a:spcPts val="800"/>
              </a:spcAft>
              <a:buSzPct val="100000"/>
              <a:buFont typeface="+mj-lt"/>
              <a:buAutoNum type="arabicPeriod" startAt="1"/>
            </a:pPr>
            <a:r>
              <a:rPr lang="en-US" sz="1150" dirty="0">
                <a:solidFill>
                  <a:srgbClr val="E8EDF7"/>
                </a:solidFill>
                <a:latin typeface="Calibri" pitchFamily="34" charset="0"/>
                <a:ea typeface="Calibri" pitchFamily="34" charset="-122"/>
                <a:cs typeface="Calibri" pitchFamily="34" charset="-120"/>
              </a:rPr>
              <a:t>Dashboard KPIs &amp; charts update live (10 s refresh)</a:t>
            </a:r>
            <a:endParaRPr lang="en-US" sz="1150" dirty="0"/>
          </a:p>
        </p:txBody>
      </p:sp>
      <p:sp>
        <p:nvSpPr>
          <p:cNvPr id="7" name="Shape 5"/>
          <p:cNvSpPr/>
          <p:nvPr/>
        </p:nvSpPr>
        <p:spPr>
          <a:xfrm>
            <a:off x="4983480" y="1280160"/>
            <a:ext cx="3657600" cy="3474720"/>
          </a:xfrm>
          <a:prstGeom prst="roundRect">
            <a:avLst>
              <a:gd name="adj" fmla="val 1842"/>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8" name="Text 6"/>
          <p:cNvSpPr/>
          <p:nvPr/>
        </p:nvSpPr>
        <p:spPr>
          <a:xfrm>
            <a:off x="5257800" y="1481328"/>
            <a:ext cx="3108960" cy="274320"/>
          </a:xfrm>
          <a:prstGeom prst="rect">
            <a:avLst/>
          </a:prstGeom>
          <a:noFill/>
          <a:ln/>
        </p:spPr>
        <p:txBody>
          <a:bodyPr wrap="square" lIns="0" tIns="0" rIns="0" bIns="0" rtlCol="0" anchor="ctr"/>
          <a:lstStyle/>
          <a:p>
            <a:pPr indent="0" marL="0">
              <a:buNone/>
            </a:pPr>
            <a:r>
              <a:rPr lang="en-US" sz="1400" b="1" dirty="0">
                <a:solidFill>
                  <a:srgbClr val="60A5FA"/>
                </a:solidFill>
                <a:latin typeface="Calibri" pitchFamily="34" charset="0"/>
                <a:ea typeface="Calibri" pitchFamily="34" charset="-122"/>
                <a:cs typeface="Calibri" pitchFamily="34" charset="-120"/>
              </a:rPr>
              <a:t>Sample run — decision mix</a:t>
            </a:r>
            <a:endParaRPr lang="en-US" sz="1400" dirty="0"/>
          </a:p>
        </p:txBody>
      </p:sp>
      <p:graphicFrame>
        <p:nvGraphicFramePr>
          <p:cNvPr id="9" name="Chart 0" descr=""/>
          <p:cNvGraphicFramePr/>
          <p:nvPr/>
        </p:nvGraphicFramePr>
        <p:xfrm>
          <a:off x="5257800" y="1828800"/>
          <a:ext cx="3108960" cy="237744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p:nvPr/>
        </p:nvSpPr>
        <p:spPr>
          <a:xfrm>
            <a:off x="5257800" y="4315968"/>
            <a:ext cx="3108960" cy="237744"/>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187 transactions · synthetic dataset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09 · ROADMAP</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Remaining work — five weeks to final delivery</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8531352" cy="914400"/>
        </p:xfrm>
        <a:graphic>
          <a:graphicData uri="http://schemas.openxmlformats.org/drawingml/2006/table">
            <a:tbl>
              <a:tblPr/>
              <a:tblGrid>
                <a:gridCol w="1325880"/>
                <a:gridCol w="3566160"/>
                <a:gridCol w="896112"/>
                <a:gridCol w="2743200"/>
              </a:tblGrid>
              <a:tr h="475488">
                <a:tc>
                  <a:txBody>
                    <a:bodyPr/>
                    <a:lstStyle/>
                    <a:p>
                      <a:pPr indent="0" marL="0">
                        <a:buNone/>
                      </a:pPr>
                      <a:r>
                        <a:rPr lang="en-US" sz="1100" b="1" dirty="0">
                          <a:solidFill>
                            <a:srgbClr val="60A5FA"/>
                          </a:solidFill>
                          <a:latin typeface="Calibri" pitchFamily="34" charset="0"/>
                          <a:ea typeface="Calibri" pitchFamily="34" charset="-122"/>
                          <a:cs typeface="Calibri" pitchFamily="34" charset="-120"/>
                        </a:rPr>
                        <a:t>When</a:t>
                      </a:r>
                      <a:endParaRPr lang="en-US" sz="110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C2539"/>
                    </a:solidFill>
                  </a:tcPr>
                </a:tc>
                <a:tc>
                  <a:txBody>
                    <a:bodyPr/>
                    <a:lstStyle/>
                    <a:p>
                      <a:pPr indent="0" marL="0">
                        <a:buNone/>
                      </a:pPr>
                      <a:r>
                        <a:rPr lang="en-US" sz="1100" b="1" dirty="0">
                          <a:solidFill>
                            <a:srgbClr val="60A5FA"/>
                          </a:solidFill>
                          <a:latin typeface="Calibri" pitchFamily="34" charset="0"/>
                          <a:ea typeface="Calibri" pitchFamily="34" charset="-122"/>
                          <a:cs typeface="Calibri" pitchFamily="34" charset="-120"/>
                        </a:rPr>
                        <a:t>Focus</a:t>
                      </a:r>
                      <a:endParaRPr lang="en-US" sz="110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C2539"/>
                    </a:solidFill>
                  </a:tcPr>
                </a:tc>
                <a:tc>
                  <a:txBody>
                    <a:bodyPr/>
                    <a:lstStyle/>
                    <a:p>
                      <a:pPr indent="0" marL="0">
                        <a:buNone/>
                      </a:pPr>
                      <a:r>
                        <a:rPr lang="en-US" sz="1100" b="1" dirty="0">
                          <a:solidFill>
                            <a:srgbClr val="60A5FA"/>
                          </a:solidFill>
                          <a:latin typeface="Calibri" pitchFamily="34" charset="0"/>
                          <a:ea typeface="Calibri" pitchFamily="34" charset="-122"/>
                          <a:cs typeface="Calibri" pitchFamily="34" charset="-120"/>
                        </a:rPr>
                        <a:t>Owner</a:t>
                      </a:r>
                      <a:endParaRPr lang="en-US" sz="110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C2539"/>
                    </a:solidFill>
                  </a:tcPr>
                </a:tc>
                <a:tc>
                  <a:txBody>
                    <a:bodyPr/>
                    <a:lstStyle/>
                    <a:p>
                      <a:pPr indent="0" marL="0">
                        <a:buNone/>
                      </a:pPr>
                      <a:r>
                        <a:rPr lang="en-US" sz="1100" b="1" dirty="0">
                          <a:solidFill>
                            <a:srgbClr val="60A5FA"/>
                          </a:solidFill>
                          <a:latin typeface="Calibri" pitchFamily="34" charset="0"/>
                          <a:ea typeface="Calibri" pitchFamily="34" charset="-122"/>
                          <a:cs typeface="Calibri" pitchFamily="34" charset="-120"/>
                        </a:rPr>
                        <a:t>Deliverable</a:t>
                      </a:r>
                      <a:endParaRPr lang="en-US" sz="110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C2539"/>
                    </a:solidFill>
                  </a:tcPr>
                </a:tc>
              </a:tr>
              <a:tr h="475488">
                <a:tc>
                  <a:txBody>
                    <a:bodyPr/>
                    <a:lstStyle/>
                    <a:p>
                      <a:pPr indent="0" marL="0">
                        <a:buNone/>
                      </a:pPr>
                      <a:r>
                        <a:rPr lang="en-US" sz="1050" dirty="0">
                          <a:solidFill>
                            <a:srgbClr val="94A3B8"/>
                          </a:solidFill>
                          <a:latin typeface="Courier New" pitchFamily="34" charset="0"/>
                          <a:ea typeface="Courier New" pitchFamily="34" charset="-122"/>
                          <a:cs typeface="Courier New" pitchFamily="34" charset="-120"/>
                        </a:rPr>
                        <a:t>Jul 5–10</a:t>
                      </a:r>
                      <a:endParaRPr lang="en-US" sz="1050" dirty="0">
                        <a:latin typeface="Courier New" charset="0"/>
                        <a:ea typeface="Courier New" charset="0"/>
                        <a:cs typeface="Courier New"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Full-stack integration under Docker; demo rehearsal</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All</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Working end-to-end demo for Review 1</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475488">
                <a:tc>
                  <a:txBody>
                    <a:bodyPr/>
                    <a:lstStyle/>
                    <a:p>
                      <a:pPr indent="0" marL="0">
                        <a:buNone/>
                      </a:pPr>
                      <a:r>
                        <a:rPr lang="en-US" sz="1050" dirty="0">
                          <a:solidFill>
                            <a:srgbClr val="94A3B8"/>
                          </a:solidFill>
                          <a:latin typeface="Courier New" pitchFamily="34" charset="0"/>
                          <a:ea typeface="Courier New" pitchFamily="34" charset="-122"/>
                          <a:cs typeface="Courier New" pitchFamily="34" charset="-120"/>
                        </a:rPr>
                        <a:t>Jul 14–24</a:t>
                      </a:r>
                      <a:endParaRPr lang="en-US" sz="1050" dirty="0">
                        <a:latin typeface="Courier New" charset="0"/>
                        <a:ea typeface="Courier New" charset="0"/>
                        <a:cs typeface="Courier New"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Accuracy evaluation on synthetic set; tune thresholds &amp; prompts</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B + C</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Precision/recall report; tuned scoring</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475488">
                <a:tc>
                  <a:txBody>
                    <a:bodyPr/>
                    <a:lstStyle/>
                    <a:p>
                      <a:pPr indent="0" marL="0">
                        <a:buNone/>
                      </a:pPr>
                      <a:r>
                        <a:rPr lang="en-US" sz="1050" dirty="0">
                          <a:solidFill>
                            <a:srgbClr val="94A3B8"/>
                          </a:solidFill>
                          <a:latin typeface="Courier New" pitchFamily="34" charset="0"/>
                          <a:ea typeface="Courier New" pitchFamily="34" charset="-122"/>
                          <a:cs typeface="Courier New" pitchFamily="34" charset="-120"/>
                        </a:rPr>
                        <a:t>Jul 14–24</a:t>
                      </a:r>
                      <a:endParaRPr lang="en-US" sz="1050" dirty="0">
                        <a:latin typeface="Courier New" charset="0"/>
                        <a:ea typeface="Courier New" charset="0"/>
                        <a:cs typeface="Courier New"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Auth (API keys), request logging, error handling hardening</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A</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Secured, observable API</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475488">
                <a:tc>
                  <a:txBody>
                    <a:bodyPr/>
                    <a:lstStyle/>
                    <a:p>
                      <a:pPr indent="0" marL="0">
                        <a:buNone/>
                      </a:pPr>
                      <a:r>
                        <a:rPr lang="en-US" sz="1050" dirty="0">
                          <a:solidFill>
                            <a:srgbClr val="94A3B8"/>
                          </a:solidFill>
                          <a:latin typeface="Courier New" pitchFamily="34" charset="0"/>
                          <a:ea typeface="Courier New" pitchFamily="34" charset="-122"/>
                          <a:cs typeface="Courier New" pitchFamily="34" charset="-120"/>
                        </a:rPr>
                        <a:t>Jul 27–Aug 7</a:t>
                      </a:r>
                      <a:endParaRPr lang="en-US" sz="1050" dirty="0">
                        <a:latin typeface="Courier New" charset="0"/>
                        <a:ea typeface="Courier New" charset="0"/>
                        <a:cs typeface="Courier New"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Graph visualisation in dashboard; load test 100 tx/s</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B + C</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Fraud-ring explorer view; perf numbers</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r h="475488">
                <a:tc>
                  <a:txBody>
                    <a:bodyPr/>
                    <a:lstStyle/>
                    <a:p>
                      <a:pPr indent="0" marL="0">
                        <a:buNone/>
                      </a:pPr>
                      <a:r>
                        <a:rPr lang="en-US" sz="1050" dirty="0">
                          <a:solidFill>
                            <a:srgbClr val="94A3B8"/>
                          </a:solidFill>
                          <a:latin typeface="Courier New" pitchFamily="34" charset="0"/>
                          <a:ea typeface="Courier New" pitchFamily="34" charset="-122"/>
                          <a:cs typeface="Courier New" pitchFamily="34" charset="-120"/>
                        </a:rPr>
                        <a:t>Aug 10–14</a:t>
                      </a:r>
                      <a:endParaRPr lang="en-US" sz="1050" dirty="0">
                        <a:latin typeface="Courier New" charset="0"/>
                        <a:ea typeface="Courier New" charset="0"/>
                        <a:cs typeface="Courier New"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Final report, documentation, presentation &amp; recorded demo</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All</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c>
                  <a:txBody>
                    <a:bodyPr/>
                    <a:lstStyle/>
                    <a:p>
                      <a:pPr indent="0" marL="0">
                        <a:buNone/>
                      </a:pPr>
                      <a:r>
                        <a:rPr lang="en-US" sz="1050" dirty="0">
                          <a:solidFill>
                            <a:srgbClr val="E8EDF7"/>
                          </a:solidFill>
                          <a:latin typeface="Calibri" pitchFamily="34" charset="0"/>
                          <a:ea typeface="Calibri" pitchFamily="34" charset="-122"/>
                          <a:cs typeface="Calibri" pitchFamily="34" charset="-120"/>
                        </a:rPr>
                        <a:t>Final submission package</a:t>
                      </a:r>
                      <a:endParaRPr lang="en-US" sz="1050" dirty="0">
                        <a:latin typeface="Calibri" charset="0"/>
                        <a:ea typeface="Calibri" charset="0"/>
                        <a:cs typeface="Calibri" charset="0"/>
                      </a:endParaRPr>
                    </a:p>
                  </a:txBody>
                  <a:tcPr marL="73152" marR="73152" marT="73152" marB="73152" anchor="ctr">
                    <a:lnL w="12700" cap="flat" cmpd="sng" algn="ctr">
                      <a:solidFill>
                        <a:srgbClr val="2A3450"/>
                      </a:solidFill>
                      <a:prstDash val="solid"/>
                      <a:round/>
                      <a:headEnd type="none" w="med" len="med"/>
                      <a:tailEnd type="none" w="med" len="med"/>
                    </a:lnL>
                    <a:lnR w="12700" cap="flat" cmpd="sng" algn="ctr">
                      <a:solidFill>
                        <a:srgbClr val="2A3450"/>
                      </a:solidFill>
                      <a:prstDash val="solid"/>
                      <a:round/>
                      <a:headEnd type="none" w="med" len="med"/>
                      <a:tailEnd type="none" w="med" len="med"/>
                    </a:lnR>
                    <a:lnT w="12700" cap="flat" cmpd="sng" algn="ctr">
                      <a:solidFill>
                        <a:srgbClr val="2A3450"/>
                      </a:solidFill>
                      <a:prstDash val="solid"/>
                      <a:round/>
                      <a:headEnd type="none" w="med" len="med"/>
                      <a:tailEnd type="none" w="med" len="med"/>
                    </a:lnT>
                    <a:lnB w="12700" cap="flat" cmpd="sng" algn="ctr">
                      <a:solidFill>
                        <a:srgbClr val="2A3450"/>
                      </a:solidFill>
                      <a:prstDash val="solid"/>
                      <a:round/>
                      <a:headEnd type="none" w="med" len="med"/>
                      <a:tailEnd type="none" w="med" len="med"/>
                    </a:lnB>
                    <a:solidFill>
                      <a:srgbClr val="161D2E"/>
                    </a:solidFill>
                  </a:tcPr>
                </a:tc>
              </a:tr>
            </a:tbl>
          </a:graphicData>
        </a:graphic>
      </p:graphicFrame>
      <p:sp>
        <p:nvSpPr>
          <p:cNvPr id="5" name="Text 2"/>
          <p:cNvSpPr/>
          <p:nvPr/>
        </p:nvSpPr>
        <p:spPr>
          <a:xfrm>
            <a:off x="502920" y="4617720"/>
            <a:ext cx="8531352" cy="274320"/>
          </a:xfrm>
          <a:prstGeom prst="rect">
            <a:avLst/>
          </a:prstGeom>
          <a:noFill/>
          <a:ln/>
        </p:spPr>
        <p:txBody>
          <a:bodyPr wrap="square" lIns="0" tIns="0" rIns="0" bIns="0" rtlCol="0" anchor="ctr"/>
          <a:lstStyle/>
          <a:p>
            <a:pPr indent="0" marL="0">
              <a:buNone/>
            </a:pPr>
            <a:r>
              <a:rPr lang="en-US" sz="1000" dirty="0">
                <a:solidFill>
                  <a:srgbClr val="FBBF24"/>
                </a:solidFill>
                <a:latin typeface="Courier New" pitchFamily="34" charset="0"/>
                <a:ea typeface="Courier New" pitchFamily="34" charset="-122"/>
                <a:cs typeface="Courier New" pitchFamily="34" charset="-120"/>
              </a:rPr>
              <a:t>Milestones: Review 1 — Jul 11 · Review 2 (expected) — early Aug · Final demo — Aug 14</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0F17"/>
        </a:solidFill>
      </p:bgPr>
    </p:bg>
    <p:spTree>
      <p:nvGrpSpPr>
        <p:cNvPr id="1" name=""/>
        <p:cNvGrpSpPr/>
        <p:nvPr/>
      </p:nvGrpSpPr>
      <p:grpSpPr>
        <a:xfrm>
          <a:off x="0" y="0"/>
          <a:ext cx="0" cy="0"/>
          <a:chOff x="0" y="0"/>
          <a:chExt cx="0" cy="0"/>
        </a:xfrm>
      </p:grpSpPr>
      <p:sp>
        <p:nvSpPr>
          <p:cNvPr id="2" name="Text 0"/>
          <p:cNvSpPr/>
          <p:nvPr/>
        </p:nvSpPr>
        <p:spPr>
          <a:xfrm>
            <a:off x="502920" y="256032"/>
            <a:ext cx="8138160" cy="274320"/>
          </a:xfrm>
          <a:prstGeom prst="rect">
            <a:avLst/>
          </a:prstGeom>
          <a:noFill/>
          <a:ln/>
        </p:spPr>
        <p:txBody>
          <a:bodyPr wrap="square" lIns="0" tIns="0" rIns="0" bIns="0" rtlCol="0" anchor="ctr"/>
          <a:lstStyle/>
          <a:p>
            <a:pPr indent="0" marL="0">
              <a:buNone/>
            </a:pPr>
            <a:r>
              <a:rPr lang="en-US" sz="1100" spc="300" kern="0" dirty="0">
                <a:solidFill>
                  <a:srgbClr val="60A5FA"/>
                </a:solidFill>
                <a:latin typeface="Courier New" pitchFamily="34" charset="0"/>
                <a:ea typeface="Courier New" pitchFamily="34" charset="-122"/>
                <a:cs typeface="Courier New" pitchFamily="34" charset="-120"/>
              </a:rPr>
              <a:t>10 · RISKS &amp; QUESTIONS</a:t>
            </a:r>
            <a:endParaRPr lang="en-US" sz="1100" dirty="0"/>
          </a:p>
        </p:txBody>
      </p:sp>
      <p:sp>
        <p:nvSpPr>
          <p:cNvPr id="3" name="Text 1"/>
          <p:cNvSpPr/>
          <p:nvPr/>
        </p:nvSpPr>
        <p:spPr>
          <a:xfrm>
            <a:off x="502920" y="512064"/>
            <a:ext cx="8138160" cy="566928"/>
          </a:xfrm>
          <a:prstGeom prst="rect">
            <a:avLst/>
          </a:prstGeom>
          <a:noFill/>
          <a:ln/>
        </p:spPr>
        <p:txBody>
          <a:bodyPr wrap="square" lIns="0" tIns="0" rIns="0" bIns="0" rtlCol="0" anchor="ctr"/>
          <a:lstStyle/>
          <a:p>
            <a:pPr indent="0" marL="0">
              <a:buNone/>
            </a:pPr>
            <a:r>
              <a:rPr lang="en-US" sz="2800" b="1" dirty="0">
                <a:solidFill>
                  <a:srgbClr val="E8EDF7"/>
                </a:solidFill>
                <a:latin typeface="Calibri" pitchFamily="34" charset="0"/>
                <a:ea typeface="Calibri" pitchFamily="34" charset="-122"/>
                <a:cs typeface="Calibri" pitchFamily="34" charset="-120"/>
              </a:rPr>
              <a:t>What could go wrong — and our mitigations</a:t>
            </a:r>
            <a:endParaRPr lang="en-US" sz="2800" dirty="0"/>
          </a:p>
        </p:txBody>
      </p:sp>
      <p:sp>
        <p:nvSpPr>
          <p:cNvPr id="4" name="Shape 2"/>
          <p:cNvSpPr/>
          <p:nvPr/>
        </p:nvSpPr>
        <p:spPr>
          <a:xfrm>
            <a:off x="502920" y="1280160"/>
            <a:ext cx="8138160" cy="896112"/>
          </a:xfrm>
          <a:prstGeom prst="roundRect">
            <a:avLst>
              <a:gd name="adj" fmla="val 7143"/>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5" name="Shape 3"/>
          <p:cNvSpPr/>
          <p:nvPr/>
        </p:nvSpPr>
        <p:spPr>
          <a:xfrm>
            <a:off x="685800" y="1463040"/>
            <a:ext cx="512064" cy="512064"/>
          </a:xfrm>
          <a:prstGeom prst="roundRect">
            <a:avLst>
              <a:gd name="adj" fmla="val 16071"/>
            </a:avLst>
          </a:prstGeom>
          <a:solidFill>
            <a:srgbClr val="0B0F17"/>
          </a:solidFill>
          <a:ln/>
        </p:spPr>
      </p:sp>
      <p:pic>
        <p:nvPicPr>
          <p:cNvPr id="6" name="Image 0" descr="preencoded.png">    </p:cNvPr>
          <p:cNvPicPr>
            <a:picLocks noChangeAspect="1"/>
          </p:cNvPicPr>
          <p:nvPr/>
        </p:nvPicPr>
        <p:blipFill>
          <a:blip r:embed="rId1"/>
          <a:stretch>
            <a:fillRect/>
          </a:stretch>
        </p:blipFill>
        <p:spPr>
          <a:xfrm>
            <a:off x="818937" y="1596177"/>
            <a:ext cx="245791" cy="245791"/>
          </a:xfrm>
          <a:prstGeom prst="rect">
            <a:avLst/>
          </a:prstGeom>
        </p:spPr>
      </p:pic>
      <p:sp>
        <p:nvSpPr>
          <p:cNvPr id="7" name="Text 4"/>
          <p:cNvSpPr/>
          <p:nvPr/>
        </p:nvSpPr>
        <p:spPr>
          <a:xfrm>
            <a:off x="1371600" y="1408176"/>
            <a:ext cx="2011680" cy="274320"/>
          </a:xfrm>
          <a:prstGeom prst="rect">
            <a:avLst/>
          </a:prstGeom>
          <a:noFill/>
          <a:ln/>
        </p:spPr>
        <p:txBody>
          <a:bodyPr wrap="square" lIns="0" tIns="0" rIns="0" bIns="0" rtlCol="0" anchor="ctr"/>
          <a:lstStyle/>
          <a:p>
            <a:pPr indent="0" marL="0">
              <a:buNone/>
            </a:pPr>
            <a:r>
              <a:rPr lang="en-US" sz="1250" b="1" dirty="0">
                <a:solidFill>
                  <a:srgbClr val="E8EDF7"/>
                </a:solidFill>
                <a:latin typeface="Calibri" pitchFamily="34" charset="0"/>
                <a:ea typeface="Calibri" pitchFamily="34" charset="-122"/>
                <a:cs typeface="Calibri" pitchFamily="34" charset="-120"/>
              </a:rPr>
              <a:t>LLM score drift</a:t>
            </a:r>
            <a:endParaRPr lang="en-US" sz="1250" dirty="0"/>
          </a:p>
        </p:txBody>
      </p:sp>
      <p:sp>
        <p:nvSpPr>
          <p:cNvPr id="8" name="Text 5"/>
          <p:cNvSpPr/>
          <p:nvPr/>
        </p:nvSpPr>
        <p:spPr>
          <a:xfrm>
            <a:off x="1371600" y="1700784"/>
            <a:ext cx="23774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Same transaction, different scores across runs</a:t>
            </a:r>
            <a:endParaRPr lang="en-US" sz="950" dirty="0"/>
          </a:p>
        </p:txBody>
      </p:sp>
      <p:sp>
        <p:nvSpPr>
          <p:cNvPr id="9" name="Text 6"/>
          <p:cNvSpPr/>
          <p:nvPr/>
        </p:nvSpPr>
        <p:spPr>
          <a:xfrm>
            <a:off x="3931920" y="1444752"/>
            <a:ext cx="4526280" cy="621792"/>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Mitigation: </a:t>
            </a:r>
            <a:pPr indent="0" marL="0">
              <a:buNone/>
            </a:pPr>
            <a:r>
              <a:rPr lang="en-US" sz="1050" dirty="0">
                <a:solidFill>
                  <a:srgbClr val="E8EDF7"/>
                </a:solidFill>
                <a:latin typeface="Calibri" pitchFamily="34" charset="0"/>
                <a:ea typeface="Calibri" pitchFamily="34" charset="-122"/>
                <a:cs typeface="Calibri" pitchFamily="34" charset="-120"/>
              </a:rPr>
              <a:t>Temperature 0, few-shot anchors, LLM capped at 30/100 — rules &amp; graph dominate</a:t>
            </a:r>
            <a:endParaRPr lang="en-US" sz="1050" dirty="0"/>
          </a:p>
        </p:txBody>
      </p:sp>
      <p:sp>
        <p:nvSpPr>
          <p:cNvPr id="10" name="Shape 7"/>
          <p:cNvSpPr/>
          <p:nvPr/>
        </p:nvSpPr>
        <p:spPr>
          <a:xfrm>
            <a:off x="502920" y="2331720"/>
            <a:ext cx="8138160" cy="896112"/>
          </a:xfrm>
          <a:prstGeom prst="roundRect">
            <a:avLst>
              <a:gd name="adj" fmla="val 7143"/>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1" name="Shape 8"/>
          <p:cNvSpPr/>
          <p:nvPr/>
        </p:nvSpPr>
        <p:spPr>
          <a:xfrm>
            <a:off x="685800" y="2514600"/>
            <a:ext cx="512064" cy="512064"/>
          </a:xfrm>
          <a:prstGeom prst="roundRect">
            <a:avLst>
              <a:gd name="adj" fmla="val 16071"/>
            </a:avLst>
          </a:prstGeom>
          <a:solidFill>
            <a:srgbClr val="0B0F17"/>
          </a:solidFill>
          <a:ln/>
        </p:spPr>
      </p:sp>
      <p:pic>
        <p:nvPicPr>
          <p:cNvPr id="12" name="Image 1" descr="preencoded.png">    </p:cNvPr>
          <p:cNvPicPr>
            <a:picLocks noChangeAspect="1"/>
          </p:cNvPicPr>
          <p:nvPr/>
        </p:nvPicPr>
        <p:blipFill>
          <a:blip r:embed="rId2"/>
          <a:stretch>
            <a:fillRect/>
          </a:stretch>
        </p:blipFill>
        <p:spPr>
          <a:xfrm>
            <a:off x="818937" y="2647737"/>
            <a:ext cx="245791" cy="245791"/>
          </a:xfrm>
          <a:prstGeom prst="rect">
            <a:avLst/>
          </a:prstGeom>
        </p:spPr>
      </p:pic>
      <p:sp>
        <p:nvSpPr>
          <p:cNvPr id="13" name="Text 9"/>
          <p:cNvSpPr/>
          <p:nvPr/>
        </p:nvSpPr>
        <p:spPr>
          <a:xfrm>
            <a:off x="1371600" y="2459736"/>
            <a:ext cx="2011680" cy="274320"/>
          </a:xfrm>
          <a:prstGeom prst="rect">
            <a:avLst/>
          </a:prstGeom>
          <a:noFill/>
          <a:ln/>
        </p:spPr>
        <p:txBody>
          <a:bodyPr wrap="square" lIns="0" tIns="0" rIns="0" bIns="0" rtlCol="0" anchor="ctr"/>
          <a:lstStyle/>
          <a:p>
            <a:pPr indent="0" marL="0">
              <a:buNone/>
            </a:pPr>
            <a:r>
              <a:rPr lang="en-US" sz="1250" b="1" dirty="0">
                <a:solidFill>
                  <a:srgbClr val="E8EDF7"/>
                </a:solidFill>
                <a:latin typeface="Calibri" pitchFamily="34" charset="0"/>
                <a:ea typeface="Calibri" pitchFamily="34" charset="-122"/>
                <a:cs typeface="Calibri" pitchFamily="34" charset="-120"/>
              </a:rPr>
              <a:t>API cost / availability</a:t>
            </a:r>
            <a:endParaRPr lang="en-US" sz="1250" dirty="0"/>
          </a:p>
        </p:txBody>
      </p:sp>
      <p:sp>
        <p:nvSpPr>
          <p:cNvPr id="14" name="Text 10"/>
          <p:cNvSpPr/>
          <p:nvPr/>
        </p:nvSpPr>
        <p:spPr>
          <a:xfrm>
            <a:off x="1371600" y="2752344"/>
            <a:ext cx="23774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OpenAI quota or network failure during demo</a:t>
            </a:r>
            <a:endParaRPr lang="en-US" sz="950" dirty="0"/>
          </a:p>
        </p:txBody>
      </p:sp>
      <p:sp>
        <p:nvSpPr>
          <p:cNvPr id="15" name="Text 11"/>
          <p:cNvSpPr/>
          <p:nvPr/>
        </p:nvSpPr>
        <p:spPr>
          <a:xfrm>
            <a:off x="3931920" y="2496312"/>
            <a:ext cx="4526280" cy="621792"/>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Mitigation: </a:t>
            </a:r>
            <a:pPr indent="0" marL="0">
              <a:buNone/>
            </a:pPr>
            <a:r>
              <a:rPr lang="en-US" sz="1050" dirty="0">
                <a:solidFill>
                  <a:srgbClr val="E8EDF7"/>
                </a:solidFill>
                <a:latin typeface="Calibri" pitchFamily="34" charset="0"/>
                <a:ea typeface="Calibri" pitchFamily="34" charset="-122"/>
                <a:cs typeface="Calibri" pitchFamily="34" charset="-120"/>
              </a:rPr>
              <a:t>Automatic fallback to local Ollama; dashboard has offline sample mode</a:t>
            </a:r>
            <a:endParaRPr lang="en-US" sz="1050" dirty="0"/>
          </a:p>
        </p:txBody>
      </p:sp>
      <p:sp>
        <p:nvSpPr>
          <p:cNvPr id="16" name="Shape 12"/>
          <p:cNvSpPr/>
          <p:nvPr/>
        </p:nvSpPr>
        <p:spPr>
          <a:xfrm>
            <a:off x="502920" y="3383280"/>
            <a:ext cx="8138160" cy="896112"/>
          </a:xfrm>
          <a:prstGeom prst="roundRect">
            <a:avLst>
              <a:gd name="adj" fmla="val 7143"/>
            </a:avLst>
          </a:prstGeom>
          <a:solidFill>
            <a:srgbClr val="161D2E"/>
          </a:solidFill>
          <a:ln w="12700">
            <a:solidFill>
              <a:srgbClr val="2A3450"/>
            </a:solidFill>
            <a:prstDash val="solid"/>
          </a:ln>
          <a:effectLst>
            <a:outerShdw sx="100000" sy="100000" kx="0" ky="0" algn="bl" rotWithShape="0" blurRad="101600" dist="38100" dir="5400000">
              <a:srgbClr val="000000">
                <a:alpha val="35000"/>
              </a:srgbClr>
            </a:outerShdw>
          </a:effectLst>
        </p:spPr>
      </p:sp>
      <p:sp>
        <p:nvSpPr>
          <p:cNvPr id="17" name="Shape 13"/>
          <p:cNvSpPr/>
          <p:nvPr/>
        </p:nvSpPr>
        <p:spPr>
          <a:xfrm>
            <a:off x="685800" y="3566160"/>
            <a:ext cx="512064" cy="512064"/>
          </a:xfrm>
          <a:prstGeom prst="roundRect">
            <a:avLst>
              <a:gd name="adj" fmla="val 16071"/>
            </a:avLst>
          </a:prstGeom>
          <a:solidFill>
            <a:srgbClr val="0B0F17"/>
          </a:solidFill>
          <a:ln/>
        </p:spPr>
      </p:sp>
      <p:pic>
        <p:nvPicPr>
          <p:cNvPr id="18" name="Image 2" descr="preencoded.png">    </p:cNvPr>
          <p:cNvPicPr>
            <a:picLocks noChangeAspect="1"/>
          </p:cNvPicPr>
          <p:nvPr/>
        </p:nvPicPr>
        <p:blipFill>
          <a:blip r:embed="rId3"/>
          <a:stretch>
            <a:fillRect/>
          </a:stretch>
        </p:blipFill>
        <p:spPr>
          <a:xfrm>
            <a:off x="818937" y="3699297"/>
            <a:ext cx="245791" cy="245791"/>
          </a:xfrm>
          <a:prstGeom prst="rect">
            <a:avLst/>
          </a:prstGeom>
        </p:spPr>
      </p:pic>
      <p:sp>
        <p:nvSpPr>
          <p:cNvPr id="19" name="Text 14"/>
          <p:cNvSpPr/>
          <p:nvPr/>
        </p:nvSpPr>
        <p:spPr>
          <a:xfrm>
            <a:off x="1371600" y="3511296"/>
            <a:ext cx="2011680" cy="274320"/>
          </a:xfrm>
          <a:prstGeom prst="rect">
            <a:avLst/>
          </a:prstGeom>
          <a:noFill/>
          <a:ln/>
        </p:spPr>
        <p:txBody>
          <a:bodyPr wrap="square" lIns="0" tIns="0" rIns="0" bIns="0" rtlCol="0" anchor="ctr"/>
          <a:lstStyle/>
          <a:p>
            <a:pPr indent="0" marL="0">
              <a:buNone/>
            </a:pPr>
            <a:r>
              <a:rPr lang="en-US" sz="1250" b="1" dirty="0">
                <a:solidFill>
                  <a:srgbClr val="E8EDF7"/>
                </a:solidFill>
                <a:latin typeface="Calibri" pitchFamily="34" charset="0"/>
                <a:ea typeface="Calibri" pitchFamily="34" charset="-122"/>
                <a:cs typeface="Calibri" pitchFamily="34" charset="-120"/>
              </a:rPr>
              <a:t>Integration complexity</a:t>
            </a:r>
            <a:endParaRPr lang="en-US" sz="1250" dirty="0"/>
          </a:p>
        </p:txBody>
      </p:sp>
      <p:sp>
        <p:nvSpPr>
          <p:cNvPr id="20" name="Text 15"/>
          <p:cNvSpPr/>
          <p:nvPr/>
        </p:nvSpPr>
        <p:spPr>
          <a:xfrm>
            <a:off x="1371600" y="3803904"/>
            <a:ext cx="2377440" cy="402336"/>
          </a:xfrm>
          <a:prstGeom prst="rect">
            <a:avLst/>
          </a:prstGeom>
          <a:noFill/>
          <a:ln/>
        </p:spPr>
        <p:txBody>
          <a:bodyPr wrap="square" lIns="0" tIns="0" rIns="0" bIns="0" rtlCol="0" anchor="ctr"/>
          <a:lstStyle/>
          <a:p>
            <a:pPr indent="0" marL="0">
              <a:buNone/>
            </a:pPr>
            <a:r>
              <a:rPr lang="en-US" sz="950" dirty="0">
                <a:solidFill>
                  <a:srgbClr val="94A3B8"/>
                </a:solidFill>
                <a:latin typeface="Calibri" pitchFamily="34" charset="0"/>
                <a:ea typeface="Calibri" pitchFamily="34" charset="-122"/>
                <a:cs typeface="Calibri" pitchFamily="34" charset="-120"/>
              </a:rPr>
              <a:t>4 services (MongoDB, Neo4j, Redis, API) must run together</a:t>
            </a:r>
            <a:endParaRPr lang="en-US" sz="950" dirty="0"/>
          </a:p>
        </p:txBody>
      </p:sp>
      <p:sp>
        <p:nvSpPr>
          <p:cNvPr id="21" name="Text 16"/>
          <p:cNvSpPr/>
          <p:nvPr/>
        </p:nvSpPr>
        <p:spPr>
          <a:xfrm>
            <a:off x="3931920" y="3547872"/>
            <a:ext cx="4526280" cy="621792"/>
          </a:xfrm>
          <a:prstGeom prst="rect">
            <a:avLst/>
          </a:prstGeom>
          <a:noFill/>
          <a:ln/>
        </p:spPr>
        <p:txBody>
          <a:bodyPr wrap="square" lIns="0" tIns="0" rIns="0" bIns="0" rtlCol="0" anchor="ctr"/>
          <a:lstStyle/>
          <a:p>
            <a:pPr indent="0" marL="0">
              <a:buNone/>
            </a:pPr>
            <a:r>
              <a:rPr lang="en-US" sz="1050" b="1" dirty="0">
                <a:solidFill>
                  <a:srgbClr val="34D399"/>
                </a:solidFill>
                <a:latin typeface="Calibri" pitchFamily="34" charset="0"/>
                <a:ea typeface="Calibri" pitchFamily="34" charset="-122"/>
                <a:cs typeface="Calibri" pitchFamily="34" charset="-120"/>
              </a:rPr>
              <a:t>Mitigation: </a:t>
            </a:r>
            <a:pPr indent="0" marL="0">
              <a:buNone/>
            </a:pPr>
            <a:r>
              <a:rPr lang="en-US" sz="1050" dirty="0">
                <a:solidFill>
                  <a:srgbClr val="E8EDF7"/>
                </a:solidFill>
                <a:latin typeface="Calibri" pitchFamily="34" charset="0"/>
                <a:ea typeface="Calibri" pitchFamily="34" charset="-122"/>
                <a:cs typeface="Calibri" pitchFamily="34" charset="-120"/>
              </a:rPr>
              <a:t>Docker Compose one-command startup; deterministic seed scripts; health endpoint</a:t>
            </a:r>
            <a:endParaRPr lang="en-US" sz="1050" dirty="0"/>
          </a:p>
        </p:txBody>
      </p:sp>
      <p:sp>
        <p:nvSpPr>
          <p:cNvPr id="22" name="Text 17"/>
          <p:cNvSpPr/>
          <p:nvPr/>
        </p:nvSpPr>
        <p:spPr>
          <a:xfrm>
            <a:off x="502920" y="4480560"/>
            <a:ext cx="8138160" cy="411480"/>
          </a:xfrm>
          <a:prstGeom prst="rect">
            <a:avLst/>
          </a:prstGeom>
          <a:noFill/>
          <a:ln/>
        </p:spPr>
        <p:txBody>
          <a:bodyPr wrap="square" lIns="0" tIns="0" rIns="0" bIns="0" rtlCol="0" anchor="ctr"/>
          <a:lstStyle/>
          <a:p>
            <a:pPr algn="ctr" indent="0" marL="0">
              <a:buNone/>
            </a:pPr>
            <a:r>
              <a:rPr lang="en-US" sz="1800" b="1" dirty="0">
                <a:solidFill>
                  <a:srgbClr val="CADCFC"/>
                </a:solidFill>
                <a:latin typeface="Calibri" pitchFamily="34" charset="0"/>
                <a:ea typeface="Calibri" pitchFamily="34" charset="-122"/>
                <a:cs typeface="Calibri" pitchFamily="34" charset="-120"/>
              </a:rPr>
              <a:t>Thank you — questions welcome</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Indus11 — First Project Review</dc:title>
  <dc:subject>PptxGenJS Presentation</dc:subject>
  <dc:creator>Indus11 Team</dc:creator>
  <cp:lastModifiedBy>Indus11 Team</cp:lastModifiedBy>
  <cp:revision>1</cp:revision>
  <dcterms:created xsi:type="dcterms:W3CDTF">2026-07-06T14:41:13Z</dcterms:created>
  <dcterms:modified xsi:type="dcterms:W3CDTF">2026-07-06T14:41:13Z</dcterms:modified>
</cp:coreProperties>
</file>