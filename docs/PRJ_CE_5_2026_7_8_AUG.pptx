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61" r:id="rId9"/>
    <p:sldId id="274" r:id="rId10"/>
    <p:sldId id="275" r:id="rId11"/>
    <p:sldId id="276" r:id="rId12"/>
    <p:sldId id="277" r:id="rId13"/>
    <p:sldId id="278" r:id="rId14"/>
    <p:sldId id="279" r:id="rId15"/>
    <p:sldId id="262" r:id="rId16"/>
    <p:sldId id="263" r:id="rId17"/>
    <p:sldId id="264" r:id="rId18"/>
    <p:sldId id="269" r:id="rId19"/>
    <p:sldId id="270" r:id="rId20"/>
    <p:sldId id="265" r:id="rId21"/>
    <p:sldId id="266" r:id="rId22"/>
    <p:sldId id="267" r:id="rId23"/>
    <p:sldId id="271" r:id="rId24"/>
    <p:sldId id="26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00"/>
    <a:srgbClr val="157DB1"/>
    <a:srgbClr val="FFFFCC"/>
    <a:srgbClr val="FFFFFF"/>
    <a:srgbClr val="800080"/>
    <a:srgbClr val="635E68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86575" autoAdjust="0"/>
  </p:normalViewPr>
  <p:slideViewPr>
    <p:cSldViewPr snapToGrid="0">
      <p:cViewPr varScale="1">
        <p:scale>
          <a:sx n="109" d="100"/>
          <a:sy n="109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0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FFBF8C-BD9E-4D4B-9BA9-B7EEF03F4C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EF2CE-746F-4A36-868D-371D96CE43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4EDD5-DACD-4DA8-925C-0E51C68F2D41}" type="datetime1">
              <a:rPr lang="en-IN" smtClean="0"/>
              <a:t>06/08/26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8C888-E6FF-4D21-B737-E49D2F175A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0E4A0-BDDE-4C4C-9945-A5AD0AE8A0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8CAF-C41B-4C5C-85EC-7B5120882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34388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F8DE5-DE46-4259-86B1-9A0FF77025F2}" type="datetime1">
              <a:rPr lang="en-IN" smtClean="0"/>
              <a:t>06/08/26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E871C-BF31-4FEA-99A6-B8124E0AF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5127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097799C-B79F-486C-9B99-1DE850F894F9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871C-BF31-4FEA-99A6-B8124E0AFC7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267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EB58606-F24A-4325-95C9-F75FC2CA6C82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871C-BF31-4FEA-99A6-B8124E0AFC7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705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27F8DE5-DE46-4259-86B1-9A0FF77025F2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871C-BF31-4FEA-99A6-B8124E0AFC7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428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D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277C-4F24-4CF7-A720-3034A3CF3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62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F77EA-B0A1-4704-8548-20F1B59B3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9837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02A89-DB61-449B-A842-71EFBB0A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30"/>
            <a:ext cx="2743200" cy="365125"/>
          </a:xfrm>
        </p:spPr>
        <p:txBody>
          <a:bodyPr/>
          <a:lstStyle/>
          <a:p>
            <a:fld id="{A7F366FE-06BF-4204-B18C-8530729481A3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831AC-99BD-4ED1-9391-0A4843A1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30"/>
            <a:ext cx="2743200" cy="365125"/>
          </a:xfrm>
        </p:spPr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graduated #education #engineering #informationtechnology ...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3453" r="11811" b="32375"/>
          <a:stretch/>
        </p:blipFill>
        <p:spPr bwMode="auto">
          <a:xfrm>
            <a:off x="8374867" y="227483"/>
            <a:ext cx="3696972" cy="86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40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G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5077-318F-480C-9DEF-40F572C3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13" y="313900"/>
            <a:ext cx="9880984" cy="79156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43C4E-7419-4FA4-B484-F9CE1E2B2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003" y="1405719"/>
            <a:ext cx="9880984" cy="48313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E17C9-A4C9-4856-93DC-BDD95A52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53DFE-425C-420D-B509-EBA6BB423B06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77AD2-3AAA-4B77-86BB-36B7A549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7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1987-0133-41EC-ABE5-12B64040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DF598-A2DC-49EF-A111-68D61C38A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60990-D6AF-4979-B2E0-A73C9637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F5FC-3D17-4649-A994-3AB1B64F785B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21A4-C118-4DD9-9475-32E498DC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20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BA95-8922-4E55-B2F4-8728A049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552" y="272955"/>
            <a:ext cx="9771307" cy="8241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41C26-5CFF-458E-953F-F0C1FD9CC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5F633-50B1-40E7-8606-3109450AC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8D27A-C509-46CE-A196-C319DBB2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6646-D086-4553-AE67-AA6AD758D98E}" type="datetime1">
              <a:rPr lang="en-IN" smtClean="0"/>
              <a:t>06/08/26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FC7C8-5FEA-4204-9640-B1D48A30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158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2C7A-8FE6-4EA3-A307-AC87254D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3BD6-9F27-43D6-BE51-4F9FCF81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27D2E-09FC-4C17-8F4C-6D6397B12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D3738-E279-43C7-974B-B67113386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B27AF-EA91-4F0D-A0BF-52C05C34B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F4510A-BBB8-4CFF-BAEB-EFDDF0BF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F3E4-01DF-46BE-A244-236DAC055295}" type="datetime1">
              <a:rPr lang="en-IN" smtClean="0"/>
              <a:t>06/08/26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88CADC-F5D5-4489-99AC-4D51B878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4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A87D-40EA-497F-8E88-7EB1D564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AD6F9-1A41-4343-AC91-4A4846ABC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5BE-48A4-4D95-B654-91A198D66E30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7B1BA-E552-4CE1-81D4-C7C12CD5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33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17F097-816B-41ED-8421-79624080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2632C-F855-403D-BE11-628E645B3D95}" type="datetime1">
              <a:rPr lang="en-IN" smtClean="0"/>
              <a:t>06/08/26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57CD1-E0E7-4F71-B528-23A9EFDD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35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CD34-1BEE-4598-BD6E-38DE280B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AAFC0-12A5-44FD-A5BE-2F7FFC20C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B07DA-9F81-4332-861F-2714572EE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5321B-2C67-40C0-B012-E654BF62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1943-E387-4132-9997-AE83890079EB}" type="datetime1">
              <a:rPr lang="en-IN" smtClean="0"/>
              <a:t>06/08/26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E8ABB-2CE4-42BB-87F1-CC66869F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6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4321-FA12-4C83-AC1B-86911821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9D738B-700A-4AB0-91C5-1657264FF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53FCF-6CA7-49C9-A079-6D2713004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220E6-1801-4109-B621-7F08825DC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6E9E-B8DA-4CC6-93FB-CD3FBD18C811}" type="datetime1">
              <a:rPr lang="en-IN" smtClean="0"/>
              <a:t>06/08/26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07CEE-BC9D-4F2E-B06B-40EB7433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59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CDA3-419E-44E2-A81D-C91C1384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B7762-350B-4C44-BBBA-88B41FDEB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8AD53-DD49-42BA-8FB8-ED0C9181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AA7C-C54C-4C9B-A927-28ABD1183B15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DCE8A-1B26-4032-900F-67A07517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952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EAA3A-C4C8-4C2C-9FB3-119CB755D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4E1A8A-AF47-4929-B9E8-331253700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8702E-E271-4760-ADBF-C8CBB9DB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82F3-4AC5-4982-8C48-ED7D3591BAE9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BB332-56E2-4ED7-9BBE-98F65481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2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C6D43-C996-4112-9F8A-D72265696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98" y="272955"/>
            <a:ext cx="9771307" cy="82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C4C07-2A70-4262-9C3F-43271A18A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572" y="1411368"/>
            <a:ext cx="10084557" cy="4765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802D1-02EA-44FC-9028-61E78374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6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38A7-8228-4A66-972C-E42C916957DF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0F90-C9AA-49D2-B005-C1E3B6E0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06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A8DB74-7F25-42ED-A8E3-B38C824021C6}"/>
              </a:ext>
            </a:extLst>
          </p:cNvPr>
          <p:cNvCxnSpPr/>
          <p:nvPr userDrawn="1"/>
        </p:nvCxnSpPr>
        <p:spPr>
          <a:xfrm>
            <a:off x="0" y="1241946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2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11;p1">
            <a:extLst>
              <a:ext uri="{FF2B5EF4-FFF2-40B4-BE49-F238E27FC236}">
                <a16:creationId xmlns:a16="http://schemas.microsoft.com/office/drawing/2014/main" id="{E77E84B8-DB58-4F91-B76F-8E8D50525017}"/>
              </a:ext>
            </a:extLst>
          </p:cNvPr>
          <p:cNvSpPr/>
          <p:nvPr/>
        </p:nvSpPr>
        <p:spPr>
          <a:xfrm>
            <a:off x="0" y="1599641"/>
            <a:ext cx="12192000" cy="4616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sz="2400">
                <a:solidFill>
                  <a:srgbClr val="002060"/>
                </a:solidFill>
                <a:latin typeface="Cambria"/>
              </a:rPr>
              <a:t>AY: 2026-27          Semester – 5          CE</a:t>
            </a:r>
            <a:endParaRPr sz="240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" name="Google Shape;111;p1">
            <a:extLst>
              <a:ext uri="{FF2B5EF4-FFF2-40B4-BE49-F238E27FC236}">
                <a16:creationId xmlns:a16="http://schemas.microsoft.com/office/drawing/2014/main" id="{E77E84B8-DB58-4F91-B76F-8E8D50525017}"/>
              </a:ext>
            </a:extLst>
          </p:cNvPr>
          <p:cNvSpPr/>
          <p:nvPr/>
        </p:nvSpPr>
        <p:spPr>
          <a:xfrm>
            <a:off x="1692124" y="356038"/>
            <a:ext cx="6441467" cy="4616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mbria"/>
                <a:cs typeface="Cambria"/>
                <a:sym typeface="Cambria"/>
              </a:rPr>
              <a:t>Software Group Project (SGP)</a:t>
            </a:r>
            <a:endParaRPr sz="240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Google Shape;104;p1">
            <a:extLst>
              <a:ext uri="{FF2B5EF4-FFF2-40B4-BE49-F238E27FC236}">
                <a16:creationId xmlns:a16="http://schemas.microsoft.com/office/drawing/2014/main" id="{E8AAF98A-5605-46DF-85EE-A5BE99AEB242}"/>
              </a:ext>
            </a:extLst>
          </p:cNvPr>
          <p:cNvSpPr txBox="1">
            <a:spLocks/>
          </p:cNvSpPr>
          <p:nvPr/>
        </p:nvSpPr>
        <p:spPr>
          <a:xfrm>
            <a:off x="1036819" y="2428240"/>
            <a:ext cx="10149840" cy="14714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headEnd type="none" w="sm" len="sm"/>
            <a:tailEnd type="none" w="sm" len="sm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800"/>
            </a:pPr>
            <a:r>
              <a:rPr sz="3200" b="1">
                <a:solidFill>
                  <a:srgbClr val="002060"/>
                </a:solidFill>
                <a:latin typeface="Cambria"/>
              </a:rPr>
              <a:t>Indus11 — AI Financial Risk &amp; Fraud Decision Engine</a:t>
            </a:r>
            <a:endParaRPr lang="en-US" sz="3200" b="1" dirty="0">
              <a:solidFill>
                <a:schemeClr val="bg1"/>
              </a:solidFill>
              <a:ea typeface="Cambria"/>
              <a:cs typeface="David" panose="020F0502020204030204" pitchFamily="34" charset="-79"/>
              <a:sym typeface="Cambria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26906"/>
              </p:ext>
            </p:extLst>
          </p:nvPr>
        </p:nvGraphicFramePr>
        <p:xfrm>
          <a:off x="1036819" y="4633610"/>
          <a:ext cx="10149840" cy="1082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8941">
                  <a:extLst>
                    <a:ext uri="{9D8B030D-6E8A-4147-A177-3AD203B41FA5}">
                      <a16:colId xmlns:a16="http://schemas.microsoft.com/office/drawing/2014/main" val="853402913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924197298"/>
                    </a:ext>
                  </a:extLst>
                </a:gridCol>
                <a:gridCol w="2835139">
                  <a:extLst>
                    <a:ext uri="{9D8B030D-6E8A-4147-A177-3AD203B41FA5}">
                      <a16:colId xmlns:a16="http://schemas.microsoft.com/office/drawing/2014/main" val="150723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Prepared by :</a:t>
                      </a: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Project ID: </a:t>
                      </a:r>
                      <a:r>
                        <a:rPr lang="en-US"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PRJ_CE_5_2026_7</a:t>
                      </a:r>
                      <a:endParaRPr sz="1300" b="0" dirty="0">
                        <a:solidFill>
                          <a:srgbClr val="222833"/>
                        </a:solidFill>
                        <a:latin typeface="Cambria"/>
                      </a:endParaRP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Joshi Om (24DCE052)</a:t>
                      </a: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Krish Gajera (24DCE040)</a:t>
                      </a: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Drashti </a:t>
                      </a:r>
                      <a:r>
                        <a:rPr sz="1300" b="0" dirty="0" err="1">
                          <a:solidFill>
                            <a:srgbClr val="222833"/>
                          </a:solidFill>
                          <a:latin typeface="Cambria"/>
                        </a:rPr>
                        <a:t>Dedaniya</a:t>
                      </a:r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 (24DCE029)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Internal </a:t>
                      </a:r>
                      <a:r>
                        <a:rPr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Guide:</a:t>
                      </a:r>
                      <a:endParaRPr lang="en-US" sz="2400" b="1" kern="1200" dirty="0">
                        <a:solidFill>
                          <a:srgbClr val="3333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Dr. Deven Gol</a:t>
                      </a: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Assistant Professor</a:t>
                      </a: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Computer Engineering</a:t>
                      </a: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DEPSTAR, CHARUSAT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Review:</a:t>
                      </a:r>
                      <a:endParaRPr lang="en-US" sz="2400" b="1" kern="1200" dirty="0">
                        <a:solidFill>
                          <a:srgbClr val="3333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Review </a:t>
                      </a:r>
                      <a:r>
                        <a:rPr lang="en-US"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1 Exam </a:t>
                      </a:r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— Technical Progress</a:t>
                      </a:r>
                    </a:p>
                    <a:p>
                      <a:pPr algn="l"/>
                      <a:r>
                        <a:rPr lang="en-US"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8 August</a:t>
                      </a:r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 2026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696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90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8B20-417E-44A5-9E46-172FDC9D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3" y="420580"/>
            <a:ext cx="9880984" cy="791568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Outline of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229BD-8564-4A52-83BC-42D34CF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BD91F-2C4F-5429-F6E6-7C065ACACBC1}"/>
              </a:ext>
            </a:extLst>
          </p:cNvPr>
          <p:cNvSpPr/>
          <p:nvPr/>
        </p:nvSpPr>
        <p:spPr>
          <a:xfrm>
            <a:off x="47309" y="1266921"/>
            <a:ext cx="12070080" cy="5638800"/>
          </a:xfrm>
          <a:prstGeom prst="rect">
            <a:avLst/>
          </a:prstGeom>
        </p:spPr>
        <p:txBody>
          <a:bodyPr wrap="square" anchor="t"/>
          <a:lstStyle/>
          <a:p>
            <a:pPr lvl="0" algn="l"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1.  Mentor Feedback &amp; Improvements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2.  Problem Statement &amp; Objectives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3.  System Architecture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4.  Process Flow / Data-Flow Diagram (DFD)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5.  Literature Review &amp; Existing Solutions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6.  Implementation Progress (Screenshots + Code)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7.  Challenges Faced &amp; Future Work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8.  Conclusion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9.  References</a:t>
            </a:r>
          </a:p>
          <a:p>
            <a:r>
              <a:rPr sz="2000" b="0" dirty="0">
                <a:solidFill>
                  <a:srgbClr val="222833"/>
                </a:solidFill>
                <a:latin typeface="Cambria"/>
              </a:rPr>
              <a:t>10.  Team Contributions</a:t>
            </a:r>
          </a:p>
        </p:txBody>
      </p:sp>
    </p:spTree>
    <p:extLst>
      <p:ext uri="{BB962C8B-B14F-4D97-AF65-F5344CB8AC3E}">
        <p14:creationId xmlns:p14="http://schemas.microsoft.com/office/powerpoint/2010/main" val="866290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Guide Feedback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002060"/>
                </a:solidFill>
                <a:latin typeface="Cambria"/>
              </a:rPr>
              <a:t>Feedback received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Show measured evidence, not just a working demo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SRS: correct DFD notation and UML diagrams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Single spacing; each chapter on a new page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Conclusion, References, Definitions last, unnumbered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Abstract must be written by the team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Keep the repository updated for review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2E7D32"/>
                </a:solidFill>
                <a:latin typeface="Cambria"/>
              </a:rPr>
              <a:t>Action taken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Built an evaluation harness; results in this deck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DFDs redrawn in Gane-Sarson notation; 7 UML diagrams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Document reformatted to the prescribed style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Sections reordered as instructed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Abstract being written by the team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Repository public with continuous integration</a:t>
            </a:r>
            <a:endParaRPr sz="1300" b="0" dirty="0">
              <a:solidFill>
                <a:srgbClr val="222833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01 ·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>
                <a:solidFill>
                  <a:srgbClr val="002060"/>
                </a:solidFill>
                <a:latin typeface="Cambria"/>
              </a:rP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2000" b="1" dirty="0">
                <a:solidFill>
                  <a:srgbClr val="C62828"/>
                </a:solidFill>
                <a:latin typeface="Cambria"/>
              </a:rPr>
              <a:t>The problem</a:t>
            </a:r>
          </a:p>
          <a:p>
            <a:pPr lvl="1">
              <a:spcAft>
                <a:spcPts val="400"/>
              </a:spcAft>
            </a:pPr>
            <a:r>
              <a:rPr sz="1800" b="0" dirty="0">
                <a:solidFill>
                  <a:srgbClr val="222833"/>
                </a:solidFill>
                <a:latin typeface="Cambria"/>
              </a:rPr>
              <a:t>Banks must approve or block a payment in milliseconds</a:t>
            </a:r>
          </a:p>
          <a:p>
            <a:pPr lvl="1">
              <a:spcAft>
                <a:spcPts val="400"/>
              </a:spcAft>
            </a:pPr>
            <a:r>
              <a:rPr sz="1800" b="0" dirty="0">
                <a:solidFill>
                  <a:srgbClr val="222833"/>
                </a:solidFill>
                <a:latin typeface="Cambria"/>
              </a:rPr>
              <a:t>Rule-only systems miss new &amp; coordinated fraud</a:t>
            </a:r>
          </a:p>
          <a:p>
            <a:pPr lvl="1">
              <a:spcAft>
                <a:spcPts val="400"/>
              </a:spcAft>
            </a:pPr>
            <a:r>
              <a:rPr sz="1800" b="0" dirty="0">
                <a:solidFill>
                  <a:srgbClr val="222833"/>
                </a:solidFill>
                <a:latin typeface="Cambria"/>
              </a:rPr>
              <a:t>Pure ML systems cannot explain why they blocked</a:t>
            </a:r>
          </a:p>
          <a:p>
            <a:pPr lvl="1">
              <a:spcAft>
                <a:spcPts val="400"/>
              </a:spcAft>
            </a:pPr>
            <a:r>
              <a:rPr sz="1800" b="0" dirty="0">
                <a:solidFill>
                  <a:srgbClr val="222833"/>
                </a:solidFill>
                <a:latin typeface="Cambria"/>
              </a:rPr>
              <a:t>Analysts &amp; regulators need a reason for every decision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2000" b="1" dirty="0">
                <a:solidFill>
                  <a:srgbClr val="2E7D32"/>
                </a:solidFill>
                <a:latin typeface="Cambria"/>
              </a:rPr>
              <a:t>Our objectives</a:t>
            </a:r>
          </a:p>
          <a:p>
            <a:pPr lvl="1">
              <a:spcAft>
                <a:spcPts val="400"/>
              </a:spcAft>
            </a:pPr>
            <a:r>
              <a:rPr sz="1800" b="0" dirty="0">
                <a:solidFill>
                  <a:srgbClr val="222833"/>
                </a:solidFill>
                <a:latin typeface="Cambria"/>
              </a:rPr>
              <a:t>Score each transaction 0–100 → APPROVE / REVIEW / BLOCK</a:t>
            </a:r>
          </a:p>
          <a:p>
            <a:pPr lvl="1">
              <a:spcAft>
                <a:spcPts val="400"/>
              </a:spcAft>
            </a:pPr>
            <a:r>
              <a:rPr sz="1800" b="0" dirty="0">
                <a:solidFill>
                  <a:srgbClr val="222833"/>
                </a:solidFill>
                <a:latin typeface="Cambria"/>
              </a:rPr>
              <a:t>Combine three engines — rules, graph, RAG-LLM</a:t>
            </a:r>
          </a:p>
          <a:p>
            <a:pPr lvl="1">
              <a:spcAft>
                <a:spcPts val="400"/>
              </a:spcAft>
            </a:pPr>
            <a:r>
              <a:rPr sz="1800" b="0" dirty="0">
                <a:solidFill>
                  <a:srgbClr val="222833"/>
                </a:solidFill>
                <a:latin typeface="Cambria"/>
              </a:rPr>
              <a:t>Attach a plain-English explanation to every decision</a:t>
            </a:r>
          </a:p>
          <a:p>
            <a:pPr lvl="1">
              <a:spcAft>
                <a:spcPts val="400"/>
              </a:spcAft>
            </a:pPr>
            <a:r>
              <a:rPr sz="1800" b="0" dirty="0">
                <a:solidFill>
                  <a:srgbClr val="222833"/>
                </a:solidFill>
                <a:latin typeface="Cambria"/>
              </a:rPr>
              <a:t>Detect fraud rings single checks cannot see</a:t>
            </a:r>
          </a:p>
          <a:p>
            <a:pPr lvl="1">
              <a:spcAft>
                <a:spcPts val="400"/>
              </a:spcAft>
            </a:pPr>
            <a:r>
              <a:rPr sz="1800" b="0" dirty="0">
                <a:solidFill>
                  <a:srgbClr val="222833"/>
                </a:solidFill>
                <a:latin typeface="Cambria"/>
              </a:rPr>
              <a:t>Deliver a live analyst dashboard on one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22155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28090"/>
                </a:solidFill>
                <a:latin typeface="Cambria"/>
              </a:rPr>
              <a:t>02 · PROBLEM &amp;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55B66"/>
                </a:solidFill>
                <a:latin typeface="Cambria"/>
              </a:rPr>
              <a:t>28 requirements across two tables, each traceable to the module that implements it (SRS Chapter 3, Tables 3.1-3.2) — a representative selection: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891468"/>
              </p:ext>
            </p:extLst>
          </p:nvPr>
        </p:nvGraphicFramePr>
        <p:xfrm>
          <a:off x="515815" y="1645920"/>
          <a:ext cx="1114278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mbria"/>
                        </a:rPr>
                        <a:t>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mbria"/>
                        </a:rPr>
                        <a:t>Requirement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mbria"/>
                        </a:rPr>
                        <a:t>Module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Accept a transaction over HTTP POST with sender, receiver, amount and context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routes/transactions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Score 0-40 on blacklist, velocity, amount-anomaly, merchant and risk-tier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services/</a:t>
                      </a:r>
                      <a:r>
                        <a:rPr sz="1100" b="0" dirty="0" err="1">
                          <a:solidFill>
                            <a:srgbClr val="222833"/>
                          </a:solidFill>
                          <a:latin typeface="Cambria"/>
                        </a:rPr>
                        <a:t>rule_engine</a:t>
                      </a:r>
                      <a:endParaRPr sz="1100" b="0" dirty="0">
                        <a:solidFill>
                          <a:srgbClr val="222833"/>
                        </a:solidFill>
                        <a:latin typeface="Cambr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Score 0-30 by detecting shared devices, circular flows and fee-skimming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services/</a:t>
                      </a:r>
                      <a:r>
                        <a:rPr sz="1100" b="0" dirty="0" err="1">
                          <a:solidFill>
                            <a:srgbClr val="222833"/>
                          </a:solidFill>
                          <a:latin typeface="Cambria"/>
                        </a:rPr>
                        <a:t>graph_analyzer</a:t>
                      </a:r>
                      <a:endParaRPr sz="1100" b="0" dirty="0">
                        <a:solidFill>
                          <a:srgbClr val="222833"/>
                        </a:solidFill>
                        <a:latin typeface="Cambr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Score 0-30 via RAG retrieval and an LLM explanation, degrading to 0 if unreachable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services/rag_pipeline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Execute the three scoring layers concurrently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routes/transactions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Map the composite score to APPROVE, REVIEW or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services/decision_engine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Allow an analyst to override a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routes/transactions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Propagate fraud labels to accounts within two 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services/graph_analyzer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Replay a labelled dataset and report precision, recall, F1 and ring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scripts/evaluate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Display metrics, decision mix, accuracy and flagged transactions on the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555B66"/>
                </a:solidFill>
                <a:latin typeface="Cambria"/>
              </a:rPr>
              <a:t>Full list: SRS §3.1, Tables 3.1 (FR-1 to FR-17) and 3.2 (FR-18 to FR-28).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2060"/>
                </a:solidFill>
                <a:latin typeface="Cambria"/>
              </a:rPr>
              <a:t>Measured performance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Rule engine: 8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  ·  Graph analyzer: 48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 warm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Complete pipeline: 14,046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 (13.9 s in the language model)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Deterministic layers complete within 500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; latency is bounded by the slowest layer, not the sum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28090"/>
                </a:solidFill>
                <a:latin typeface="Cambria"/>
              </a:rPr>
              <a:t>Reliability &amp; maintainability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No state held between requests; an instance restarts without loss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An unavailable component never approves a transaction silently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Every decision persisted with its explanation for audit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2E7D32"/>
                </a:solidFill>
                <a:latin typeface="Cambria"/>
              </a:rPr>
              <a:t>Testability &amp; portability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Automated tests run with no database or network access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The entire stack starts with one command via Docker Compose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2060"/>
                </a:solidFill>
                <a:latin typeface="Cambria"/>
              </a:rPr>
              <a:t>Software quality attributes (SRS Table 3.4)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Reliability — pipeline degrades one component at a time; a duplicate submission returns a defined conflict response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Maintainability — each layer is one function, one input, one output type; replaceable independently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Testability — 27 automated tests, no database or network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Portability — the whole stack is one container composition file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Usability — every decision is accompanied by a written explanation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Accuracy — 93.8% precision, 86.5% recall, F1 0.90 over 208 transactions (see the Detection Accuracy slide)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System Architecture — 5-Layer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03 ·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3904" y="1234440"/>
            <a:ext cx="4572000" cy="4572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Client · React Dashboard (analyst UI)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71032" y="1719072"/>
            <a:ext cx="256032" cy="256032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51760" y="2029968"/>
            <a:ext cx="6885432" cy="566928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Layer 1 — FastAPI Gateway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mbria"/>
              </a:rPr>
              <a:t>validate payload · load profile (Redis → MongoDB)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71032" y="2633472"/>
            <a:ext cx="256032" cy="237744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2999232"/>
            <a:ext cx="3520440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002060"/>
                </a:solidFill>
                <a:latin typeface="Cambria"/>
              </a:rPr>
              <a:t>Layer 2 · Rule Engine</a:t>
            </a:r>
          </a:p>
          <a:p>
            <a:pPr algn="ctr"/>
            <a:r>
              <a:rPr sz="950" b="0">
                <a:solidFill>
                  <a:srgbClr val="555B66"/>
                </a:solidFill>
                <a:latin typeface="Cambria"/>
              </a:rPr>
              <a:t>velocity · amount · blacklist · merchant</a:t>
            </a:r>
          </a:p>
          <a:p>
            <a:pPr algn="ctr"/>
            <a:r>
              <a:rPr sz="950" b="1">
                <a:solidFill>
                  <a:srgbClr val="028090"/>
                </a:solidFill>
                <a:latin typeface="Cambria"/>
              </a:rPr>
              <a:t>score 0–40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2999232"/>
            <a:ext cx="3520440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002060"/>
                </a:solidFill>
                <a:latin typeface="Cambria"/>
              </a:rPr>
              <a:t>Layer 3 · Graph Analyzer</a:t>
            </a:r>
          </a:p>
          <a:p>
            <a:pPr algn="ctr"/>
            <a:r>
              <a:rPr sz="950" b="0">
                <a:solidFill>
                  <a:srgbClr val="555B66"/>
                </a:solidFill>
                <a:latin typeface="Cambria"/>
              </a:rPr>
              <a:t>Neo4j — fraud rings, shared device/IP</a:t>
            </a:r>
          </a:p>
          <a:p>
            <a:pPr algn="ctr"/>
            <a:r>
              <a:rPr sz="950" b="1">
                <a:solidFill>
                  <a:srgbClr val="028090"/>
                </a:solidFill>
                <a:latin typeface="Cambria"/>
              </a:rPr>
              <a:t>score 0–30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99232"/>
            <a:ext cx="3520440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002060"/>
                </a:solidFill>
                <a:latin typeface="Cambria"/>
              </a:rPr>
              <a:t>Layer 4 · RAG Pipeline</a:t>
            </a:r>
          </a:p>
          <a:p>
            <a:pPr algn="ctr"/>
            <a:r>
              <a:rPr sz="950" b="0">
                <a:solidFill>
                  <a:srgbClr val="555B66"/>
                </a:solidFill>
                <a:latin typeface="Cambria"/>
              </a:rPr>
              <a:t>ChromaDB + LLM (Ollama) — explains</a:t>
            </a:r>
          </a:p>
          <a:p>
            <a:pPr algn="ctr"/>
            <a:r>
              <a:rPr sz="950" b="1">
                <a:solidFill>
                  <a:srgbClr val="028090"/>
                </a:solidFill>
                <a:latin typeface="Cambria"/>
              </a:rPr>
              <a:t>score 0–30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788920"/>
            <a:ext cx="25603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555B66"/>
                </a:solidFill>
                <a:latin typeface="Cambria"/>
              </a:rPr>
              <a:t>run concurrently — asyncio.gather()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71032" y="3968496"/>
            <a:ext cx="256032" cy="237744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51760" y="4279392"/>
            <a:ext cx="6885432" cy="603504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Layer 5 — Decision Engine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mbria"/>
              </a:rPr>
              <a:t>composite 0–100 → APPROVE / REVIEW / BLOCK + explanation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71032" y="4937760"/>
            <a:ext cx="256032" cy="219456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1488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MongoDB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Neo4j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Redis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ChromaDB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Process Flow / DFD — Transaction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14542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04 · PROCESS FLOW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325880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325880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Client submits a transaction   </a:t>
            </a:r>
            <a:r>
              <a:rPr sz="1600">
                <a:solidFill>
                  <a:srgbClr val="555B66"/>
                </a:solidFill>
                <a:latin typeface="Cambria"/>
              </a:rPr>
              <a:t>POST /api/v1/transactions/analyze  (sender, receiver, amount, device, IP)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984248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984248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Validate &amp; load context   </a:t>
            </a:r>
            <a:r>
              <a:rPr sz="1600">
                <a:solidFill>
                  <a:srgbClr val="555B66"/>
                </a:solidFill>
                <a:latin typeface="Cambria"/>
              </a:rPr>
              <a:t>Pydantic schema check · fetch account profiles from Redis, fallback MongoDB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642615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642615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Run three engines concurrently   </a:t>
            </a:r>
            <a:r>
              <a:rPr sz="1600">
                <a:solidFill>
                  <a:srgbClr val="555B66"/>
                </a:solidFill>
                <a:latin typeface="Cambria"/>
              </a:rPr>
              <a:t>Rule Engine + Neo4j Graph Analyzer + RAG Pipeline via asyncio.gather()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300983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300983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Aggregate the scores   </a:t>
            </a:r>
            <a:r>
              <a:rPr sz="1600">
                <a:solidFill>
                  <a:srgbClr val="555B66"/>
                </a:solidFill>
                <a:latin typeface="Cambria"/>
              </a:rPr>
              <a:t>Decision Engine sums rule (0–40) + graph (0–30) + AI (0–30) = 0–100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59351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959351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Decide &amp; explain   </a:t>
            </a:r>
            <a:r>
              <a:rPr sz="1600">
                <a:solidFill>
                  <a:srgbClr val="555B66"/>
                </a:solidFill>
                <a:latin typeface="Cambria"/>
              </a:rPr>
              <a:t>map to APPROVE (0–39) / REVIEW (40–69) / BLOCK (70+) + plain-English reason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617719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617719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Persist &amp; respond   </a:t>
            </a:r>
            <a:r>
              <a:rPr sz="1600">
                <a:solidFill>
                  <a:srgbClr val="555B66"/>
                </a:solidFill>
                <a:latin typeface="Cambria"/>
              </a:rPr>
              <a:t>save record to MongoDB · return JSON (decision, score, breakdown)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276087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5276087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Dashboard reads results   </a:t>
            </a:r>
            <a:r>
              <a:rPr sz="1600">
                <a:solidFill>
                  <a:srgbClr val="555B66"/>
                </a:solidFill>
                <a:latin typeface="Cambria"/>
              </a:rPr>
              <a:t>stats endpoints feed live charts and the flagged-transactions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System Architecture — Five-Layer Pipeline</a:t>
            </a:r>
          </a:p>
        </p:txBody>
      </p:sp>
      <p:pic>
        <p:nvPicPr>
          <p:cNvPr id="3" name="Picture 2" descr="fina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Data Flow Diagram — Level 0 (Context Diagram)</a:t>
            </a:r>
          </a:p>
        </p:txBody>
      </p:sp>
      <p:pic>
        <p:nvPicPr>
          <p:cNvPr id="3" name="Picture 2" descr="final-d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564" y="1234440"/>
            <a:ext cx="856687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Data Flow Diagram — Level 1</a:t>
            </a:r>
          </a:p>
        </p:txBody>
      </p:sp>
      <p:pic>
        <p:nvPicPr>
          <p:cNvPr id="3" name="Picture 2" descr="final-d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Use Case Diagram</a:t>
            </a:r>
          </a:p>
        </p:txBody>
      </p:sp>
      <p:pic>
        <p:nvPicPr>
          <p:cNvPr id="3" name="Picture 2" descr="final-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Activity Diagram — Transaction Analysis Workflow</a:t>
            </a:r>
          </a:p>
        </p:txBody>
      </p:sp>
      <p:pic>
        <p:nvPicPr>
          <p:cNvPr id="3" name="Picture 2" descr="final-activity.png"/>
          <p:cNvPicPr>
            <a:picLocks noChangeAspect="1"/>
          </p:cNvPicPr>
          <p:nvPr/>
        </p:nvPicPr>
        <p:blipFill>
          <a:blip r:embed="rId2"/>
          <a:srcRect t="5863"/>
          <a:stretch>
            <a:fillRect/>
          </a:stretch>
        </p:blipFill>
        <p:spPr>
          <a:xfrm>
            <a:off x="4297680" y="1547446"/>
            <a:ext cx="3596640" cy="50819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Class Diagram — Core Domain and Service Classes</a:t>
            </a:r>
          </a:p>
        </p:txBody>
      </p:sp>
      <p:pic>
        <p:nvPicPr>
          <p:cNvPr id="3" name="Picture 2" descr="final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Literature Review &amp; Existing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05 · LITERATURE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System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Approach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Explains why?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Open / on-prem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FICO Falcon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Neural nets on shared bank data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Limited — black box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No — proprietary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Feedzai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ML risk platform (RiskOps)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Limited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No — commercial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Featurespace ARIC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Adaptive behavioural analytics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Limited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No — commercial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Traditional rule engines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Static hand-written rules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Yes, but rigid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Varies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Indus11 (ours)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Rules + graph + RAG-LLM ensemble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Yes — every decision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Yes — open, local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937760"/>
            <a:ext cx="114300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090"/>
                </a:solidFill>
                <a:latin typeface="Cambria"/>
              </a:rPr>
              <a:t>Research basis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The APATE study (Van Vlasselaer et al., 2015) shows that combining graph-based features with traditional features reaches AUC &gt; 0.98 — evidence that our rules-plus-graph design outperforms either approach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Implementation — Live Dashboard &amp;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06 · IMPLEMENTATION</a:t>
            </a:r>
          </a:p>
        </p:txBody>
      </p:sp>
      <p:pic>
        <p:nvPicPr>
          <p:cNvPr id="4" name="Picture 3" descr="screensh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588645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12080" y="1417320"/>
            <a:ext cx="5886450" cy="4709160"/>
          </a:xfrm>
          <a:prstGeom prst="rect">
            <a:avLst/>
          </a:prstGeom>
          <a:noFill/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20624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mbria"/>
              </a:rPr>
              <a:t>React dashboard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Live risk metrics &amp; decision mix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Score-distribution chart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Flagged-transactions feed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Click a transaction → full detail + reason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Approve / Block override on REVIEW</a:t>
            </a:r>
          </a:p>
          <a:p>
            <a:pPr algn="l">
              <a:spcAft>
                <a:spcPts val="400"/>
              </a:spcAft>
            </a:pPr>
            <a:endParaRPr sz="1250" b="0">
              <a:solidFill>
                <a:srgbClr val="222833"/>
              </a:solidFill>
              <a:latin typeface="Cambria"/>
            </a:endParaR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mbria"/>
              </a:rPr>
              <a:t>FastAPI backend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12 documented REST endpoints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health · transactions · accounts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graph · stats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Swagger UI at /docs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All engines run via asyncio.gather()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Implementation — Structure, Code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06 ·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5120640" cy="3977639"/>
          </a:xfrm>
          <a:prstGeom prst="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t"/>
          <a:lstStyle/>
          <a:p>
            <a:pPr algn="l">
              <a:spcAft>
                <a:spcPts val="400"/>
              </a:spcAft>
            </a:pPr>
            <a:r>
              <a:rPr b="1" dirty="0">
                <a:solidFill>
                  <a:srgbClr val="002060"/>
                </a:solidFill>
                <a:latin typeface="Cambria"/>
              </a:rPr>
              <a:t>Project structure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app/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main.py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FastAPI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app + startup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config.py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     settings (.env)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api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/routes/    transactions · accounts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               graph · stats · health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core/ 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db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neo4j ·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redis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rate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models/        Beanie documents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schemas/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Pydantic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contracts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services/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rule_engine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graph_analyzer</a:t>
            </a:r>
            <a:endParaRPr sz="1400" dirty="0">
              <a:solidFill>
                <a:srgbClr val="222833"/>
              </a:solidFill>
              <a:latin typeface="Courier New"/>
            </a:endParaRP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      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rag_pipeline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decision_engine</a:t>
            </a:r>
            <a:endParaRPr sz="1400" dirty="0">
              <a:solidFill>
                <a:srgbClr val="222833"/>
              </a:solidFill>
              <a:latin typeface="Courier New"/>
            </a:endParaRP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dashboard/       React + Vite + Recharts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scripts/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seed_mongo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seed_neo4j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tests/  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test_fraud.py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(8 tests)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docker-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compose.yml</a:t>
            </a:r>
            <a:endParaRPr sz="1400" dirty="0">
              <a:solidFill>
                <a:srgbClr val="222833"/>
              </a:solidFill>
              <a:latin typeface="Courier New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0" y="1371600"/>
            <a:ext cx="6080760" cy="233172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t"/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8FB5E8"/>
                </a:solidFill>
                <a:latin typeface="Cambria"/>
              </a:rPr>
              <a:t>Decision Engine — composite scoring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composite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rule.score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+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graph.score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+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rag.score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composite = min(composite, 100)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if   composite &gt;= BLOCK_THRESHOLD:   # 70+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    decision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Decision.BLOCK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r>
              <a:rPr sz="1200" dirty="0" err="1">
                <a:solidFill>
                  <a:srgbClr val="E6EDF3"/>
                </a:solidFill>
                <a:latin typeface="Courier New"/>
              </a:rPr>
              <a:t>elif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composite &gt;= REVIEW_THRESHOLD:  # 40-69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    decision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Decision.REVIEW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else: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    decision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Decision.APPROVE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    # 0-39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858768"/>
            <a:ext cx="6080760" cy="658368"/>
          </a:xfrm>
          <a:prstGeom prst="rect">
            <a:avLst/>
          </a:prstGeom>
          <a:solidFill>
            <a:srgbClr val="FBE9E9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tlCol="0" anchor="ctr"/>
          <a:lstStyle/>
          <a:p>
            <a:pPr algn="ctr"/>
            <a:r>
              <a:rPr sz="1200" b="1">
                <a:solidFill>
                  <a:srgbClr val="222833"/>
                </a:solidFill>
                <a:latin typeface="Cambria"/>
              </a:rPr>
              <a:t>Live example  ₹7,04,000 wire → known fraud ring    </a:t>
            </a:r>
            <a:r>
              <a:rPr sz="1200" b="1">
                <a:solidFill>
                  <a:srgbClr val="C62828"/>
                </a:solidFill>
                <a:latin typeface="Cambria"/>
              </a:rPr>
              <a:t>BLOCK 83/100 = rule 25 + graph 30 + AI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4663440"/>
            <a:ext cx="6080760" cy="713232"/>
          </a:xfrm>
          <a:prstGeom prst="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833"/>
                </a:solidFill>
                <a:latin typeface="Cambria"/>
              </a:rPr>
              <a:t>Stack: Python · FastAPI · MongoDB · Neo4j · Redis · ChromaDB · LangChain+Ollama · React · Docker · pytest (8/8)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2060"/>
                </a:solidFill>
                <a:latin typeface="Cambria"/>
              </a:rPr>
              <a:t>Detection Accuracy — 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555B66"/>
                </a:solidFill>
                <a:latin typeface="Cambria"/>
              </a:rPr>
              <a:t>208 labelled synthetic transactions — 52 fraudulent, 156 legitimate — replayed through the complete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2E7D32"/>
                </a:solidFill>
                <a:latin typeface="Cambria"/>
              </a:rPr>
              <a:t>93.8%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Precision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of flagged were fraud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028090"/>
                </a:solidFill>
                <a:latin typeface="Cambria"/>
              </a:rPr>
              <a:t>86.5%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Recall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of fraud was caught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002060"/>
                </a:solidFill>
                <a:latin typeface="Cambria"/>
              </a:rPr>
              <a:t>0.90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F1 score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combined measure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2E7D32"/>
                </a:solidFill>
                <a:latin typeface="Cambria"/>
              </a:rPr>
              <a:t>36/36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Ring recall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mule-ring hops detected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337560"/>
          <a:ext cx="5577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Decision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Actually fraud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Actually legitimate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3375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62828"/>
                </a:solidFill>
                <a:latin typeface="Cambria"/>
              </a:rPr>
              <a:t>Key finding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833"/>
                </a:solidFill>
                <a:latin typeface="Cambria"/>
              </a:rPr>
              <a:t>No transaction reached the block threshold of 70.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555B66"/>
                </a:solidFill>
                <a:latin typeface="Cambria"/>
              </a:rPr>
              <a:t>Every detection is routed to a human analyst; nothing is blocked automatically. Lowering the band would automate blocking — but would also auto-block the three false positives. That is a policy decision, not a configuration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035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B66"/>
                </a:solidFill>
                <a:latin typeface="Cambria"/>
              </a:rPr>
              <a:t>Measured on synthetic data in which fraud is far denser than a real payment feed, so precision here is optimistic — it measures the separation between the engines, not production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Progress Since the Last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002060"/>
                </a:solidFill>
                <a:latin typeface="Cambria"/>
              </a:rPr>
              <a:t>Specification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Front matter numbered in roman (i-ix); body restarts at 1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Every reference cited in the text at its point of use, IEEE style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Tables restyled — caption above, columns sized to content, none split across a page break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32 functional requirements consolidated to 28 real, distinct ones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Diagram set re-checked against the guide's notation comments and against the running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028090"/>
                </a:solidFill>
                <a:latin typeface="Cambria"/>
              </a:rPr>
              <a:t>Product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Flagged-transactions table made interactive — filters, search, sortable columns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Entrance and count-up motion, with an automatic reduced-motion fallback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Static demo mode: the dashboard runs from a snapshot with no live backend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Weekly-report generator with an automatic duplicate-reference check across weeks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Challenges Faced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B26A00"/>
                </a:solidFill>
                <a:latin typeface="Cambria"/>
              </a:rPr>
              <a:t>Challenges faced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Coordinating four data stores on one machine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Keeping model output consistent — solved with a 30-point cap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Writing Cypher queries for circular money-mule flows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Two defects the benchmark exposed: a repeated request returned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a server error, and a parsing fault silently zeroed the AI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score — both fixed and covered by tests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E7D32"/>
                </a:solidFill>
                <a:latin typeface="Cambria"/>
              </a:rPr>
              <a:t>Future work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Resolve the block-threshold trade-off from recorded scores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Add API authentication and request logging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Fraud-ring visualisation on the graph endpoint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Investigate the 7 undetected frauds; fan-in / fan-out patterns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Train a supervised classifier as a fourth signal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Reduce latency, presently dominated by the local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07 · CHALLENGES &amp; FUTURE 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Conclusion — Where the Project Stands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02060"/>
                </a:solidFill>
                <a:latin typeface="Cambria"/>
              </a:rPr>
              <a:t>Measured, not asserted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93.8% precision, 86.5% recall, F1 0.90 on 208 labelled transactions.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47288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The graph layer earns its place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All 36 planted mule-ring transactions were detected.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37376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C62828"/>
                </a:solidFill>
                <a:latin typeface="Cambria"/>
              </a:rPr>
              <a:t>A finding worth reporting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Nothing reaches the block threshold; every catch reaches an analyst.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27464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2E7D32"/>
                </a:solidFill>
                <a:latin typeface="Cambria"/>
              </a:rPr>
              <a:t>Engineering discipline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27 automated tests, continuous integration, one-command deployment.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[1]  Van Vlasselaer, V. et al. (2015). APATE: A novel approach for automated credit card transaction fraud detection using network-based extensions. Decision Support Systems, 75, 38–48.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[2]  FICO. Falcon Fraud Manager — product documentation. fico.com.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[3]  Feedzai. RiskOps platform overview. feedzai.com.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[4]  Featurespace. ARIC Risk Hub — adaptive behavioural analytics. featurespace.com.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[5]  Neo4j. Graph algorithms for fraud detection — developer guide. neo4j.com.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[6]  LangChain &amp; ChromaDB documentation — retrieval-augmented generation.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Team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70332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97380" y="1600200"/>
            <a:ext cx="822960" cy="8229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mbria"/>
              </a:rPr>
              <a:t>Joshi Om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Cambria"/>
              </a:rPr>
              <a:t>24DCE052  ·  Platform &amp;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290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</a:t>
            </a:r>
            <a:r>
              <a:rPr sz="1150" dirty="0" err="1">
                <a:solidFill>
                  <a:srgbClr val="222833"/>
                </a:solidFill>
                <a:latin typeface="Cambria"/>
              </a:rPr>
              <a:t>FastAPI</a:t>
            </a:r>
            <a:r>
              <a:rPr sz="1150" dirty="0">
                <a:solidFill>
                  <a:srgbClr val="222833"/>
                </a:solidFill>
                <a:latin typeface="Cambria"/>
              </a:rPr>
              <a:t> gateway, MongoDB/Beanie schema, Redis caching and rate limiting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Rule Engine — velocity, amount, blacklist, merchant, risk-tier checks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Docker Compose stack for all five services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SRS requirements and database design; verified every schema table against the running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70332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83580" y="160020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mbria"/>
              </a:rPr>
              <a:t>Krish Gajera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28090"/>
                </a:solidFill>
                <a:latin typeface="Cambria"/>
              </a:rPr>
              <a:t>24DCE040  ·  Graph &amp;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3429000"/>
            <a:ext cx="3200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Neo4j schema and Cypher queries for rings, circular flow, fee-skimming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Graph Analyzer — shared device/IP clustering, fraud-label propagation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Synthetic fraud dataset generator — 500 accounts, 3 planted mule rings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</a:t>
            </a:r>
            <a:r>
              <a:rPr lang="en-US" sz="1150" dirty="0">
                <a:solidFill>
                  <a:srgbClr val="222833"/>
                </a:solidFill>
              </a:rPr>
              <a:t> </a:t>
            </a:r>
            <a:r>
              <a:rPr lang="en-US" sz="1150" dirty="0" err="1">
                <a:solidFill>
                  <a:srgbClr val="222833"/>
                </a:solidFill>
              </a:rPr>
              <a:t>LangChain</a:t>
            </a:r>
            <a:r>
              <a:rPr lang="en-US" sz="1150" dirty="0">
                <a:solidFill>
                  <a:srgbClr val="222833"/>
                </a:solidFill>
              </a:rPr>
              <a:t> RAG pipeline, </a:t>
            </a:r>
            <a:r>
              <a:rPr lang="en-US" sz="1150" dirty="0" err="1">
                <a:solidFill>
                  <a:srgbClr val="222833"/>
                </a:solidFill>
              </a:rPr>
              <a:t>ChromaDB</a:t>
            </a:r>
            <a:r>
              <a:rPr lang="en-US" sz="1150" dirty="0">
                <a:solidFill>
                  <a:srgbClr val="222833"/>
                </a:solidFill>
              </a:rPr>
              <a:t> knowledge base, prompt engineering</a:t>
            </a:r>
            <a:endParaRPr sz="1150" dirty="0">
              <a:solidFill>
                <a:srgbClr val="222833"/>
              </a:solidFill>
              <a:latin typeface="Cambri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70332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69780" y="1600200"/>
            <a:ext cx="822960" cy="822960"/>
          </a:xfrm>
          <a:prstGeom prst="ellipse">
            <a:avLst/>
          </a:prstGeom>
          <a:solidFill>
            <a:srgbClr val="5B3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mbria"/>
              </a:rPr>
              <a:t>Drashti Dedaniya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B3A8E"/>
                </a:solidFill>
                <a:latin typeface="Cambria"/>
              </a:rPr>
              <a:t>24DCE029  ·  AI &amp;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429000"/>
            <a:ext cx="3200400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1150" dirty="0">
                <a:solidFill>
                  <a:srgbClr val="222833"/>
                </a:solidFill>
              </a:rPr>
              <a:t>•  Decision Engine — score aggregation and threshold mapping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</a:t>
            </a:r>
            <a:r>
              <a:rPr lang="en-IN" sz="1150" dirty="0">
                <a:solidFill>
                  <a:srgbClr val="222833"/>
                </a:solidFill>
              </a:rPr>
              <a:t>UML and DFD diagram set for the specification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React dashboard — charts, interactive table, motion, demo mode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Review-2 deck and the standalone speaking script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2749773"/>
            <a:ext cx="9418320" cy="126701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4800" b="1" dirty="0">
                <a:solidFill>
                  <a:srgbClr val="002060"/>
                </a:solidFill>
                <a:latin typeface="Cambria"/>
              </a:rPr>
              <a:t>Thank You</a:t>
            </a:r>
          </a:p>
          <a:p>
            <a:pPr algn="ctr">
              <a:spcAft>
                <a:spcPts val="400"/>
              </a:spcAft>
            </a:pPr>
            <a:r>
              <a:rPr sz="2000" b="0" dirty="0">
                <a:solidFill>
                  <a:srgbClr val="555B66"/>
                </a:solidFill>
                <a:latin typeface="Cambria"/>
              </a:rPr>
              <a:t>Questions · Suggestions · Comments</a:t>
            </a:r>
            <a:endParaRPr sz="1400" b="0" dirty="0">
              <a:solidFill>
                <a:srgbClr val="222833"/>
              </a:solidFill>
              <a:latin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 DG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27130</TotalTime>
  <Words>2172</Words>
  <Application>Microsoft Macintosh PowerPoint</Application>
  <PresentationFormat>Widescreen</PresentationFormat>
  <Paragraphs>331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Outline of Presentation</vt:lpstr>
      <vt:lpstr>Guide Feedback &amp; Improvements</vt:lpstr>
      <vt:lpstr>Problem Statement &amp; Objectives</vt:lpstr>
      <vt:lpstr>Functional Requirements</vt:lpstr>
      <vt:lpstr>Non-Functional Requirements</vt:lpstr>
      <vt:lpstr>System Architecture — 5-Layer Pipeline</vt:lpstr>
      <vt:lpstr>Process Flow / DFD — Transaction to Decision</vt:lpstr>
      <vt:lpstr>System Architecture — Five-Layer Pipeline</vt:lpstr>
      <vt:lpstr>Data Flow Diagram — Level 0 (Context Diagram)</vt:lpstr>
      <vt:lpstr>Data Flow Diagram — Level 1</vt:lpstr>
      <vt:lpstr>Use Case Diagram</vt:lpstr>
      <vt:lpstr>Activity Diagram — Transaction Analysis Workflow</vt:lpstr>
      <vt:lpstr>Class Diagram — Core Domain and Service Classes</vt:lpstr>
      <vt:lpstr>Literature Review &amp; Existing Solutions</vt:lpstr>
      <vt:lpstr>Implementation — Live Dashboard &amp; API</vt:lpstr>
      <vt:lpstr>Implementation — Structure, Code &amp; Stack</vt:lpstr>
      <vt:lpstr>Detection Accuracy — Measured Results</vt:lpstr>
      <vt:lpstr>Progress Since the Last Review</vt:lpstr>
      <vt:lpstr>Challenges Faced &amp; Future Work</vt:lpstr>
      <vt:lpstr>Conclusion — Where the Project Stands</vt:lpstr>
      <vt:lpstr>References</vt:lpstr>
      <vt:lpstr>Team Contributions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 Deven A Gol</dc:creator>
  <cp:lastModifiedBy>Joshi Om</cp:lastModifiedBy>
  <cp:revision>3690</cp:revision>
  <cp:lastPrinted>2024-04-30T12:52:07Z</cp:lastPrinted>
  <dcterms:created xsi:type="dcterms:W3CDTF">2021-11-23T04:44:57Z</dcterms:created>
  <dcterms:modified xsi:type="dcterms:W3CDTF">2026-08-06T13:42:54Z</dcterms:modified>
</cp:coreProperties>
</file>