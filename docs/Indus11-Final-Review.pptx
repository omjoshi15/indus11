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80" r:id="rId32"/>
    <p:sldId id="281" r:id="rId33"/>
    <p:sldId id="259" r:id="rId5"/>
    <p:sldId id="272" r:id="rId6"/>
    <p:sldId id="273" r:id="rId7"/>
    <p:sldId id="260" r:id="rId8"/>
    <p:sldId id="261" r:id="rId9"/>
    <p:sldId id="274" r:id="rId10"/>
    <p:sldId id="262" r:id="rId16"/>
    <p:sldId id="263" r:id="rId17"/>
    <p:sldId id="264" r:id="rId18"/>
    <p:sldId id="282" r:id="rId34"/>
    <p:sldId id="283" r:id="rId35"/>
    <p:sldId id="284" r:id="rId36"/>
    <p:sldId id="285" r:id="rId37"/>
    <p:sldId id="286" r:id="rId38"/>
    <p:sldId id="269" r:id="rId19"/>
    <p:sldId id="265" r:id="rId21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20.xml"/><Relationship Id="rId21" Type="http://schemas.openxmlformats.org/officeDocument/2006/relationships/slide" Target="slides/slide22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Final Review — Project Demonstration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3 October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>
                <a:solidFill>
                  <a:srgbClr val="222833"/>
                </a:solidFill>
                <a:latin typeface="Cambria"/>
              </a:rPr>
              <a:t>1.  Review Comments &amp; Actions (Proposal · Review 1 · Mid-Semester)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8.  References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9.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Project Proposal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Evaluation harness built; the measured results are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written by the team, not generated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public; continuous integration runs 113 tests on every push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PROPOSAL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Review 1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Fourteen seconds end to end: the language-model call sat inside the decision path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 defined behaviour if the graph database fails mid-session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written explanation can contradict the signals that actually fired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Which graph pattern produces the most false positives?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Why is the score weighted 40 / 30 / 30?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Does an identical transaction score identically every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Decision returns on the rule and graph layers alone; the model runs after the reply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Measured: median 114 ms, p95 189 ms, 29 of 29 inside the 500 ms budget (was 14,046 ms)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 graph failure is caught, scored as a failed layer, and lifts approve to review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explanation is checked against the fired signals; the flags stand alone if it drifts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Answered on the day as shared device; measured afterwards, circular flow and shared device were the worst and cluster proximity the fewest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Acting on that measurement, a time window on the circular-flow query cut its false positives from 44.9% to 10.3% and its query time from 260 ms to about 20 ms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Model temperature fixed at zero — the same transaction now scores the same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REVIEW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Mid-Semester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Study the anomalies banks actually watch for and add them to the rule engine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Validate on a real or public dataset, not only on data we generated ourselves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Name the member responsible for each chapter of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Consider writing a conference paper on the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Fifty anomaly types catalogued from FIU-IND, RBI and FATF; twenty-five implemented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Thirty-five of the fifty are now detected; the fifteen that are not are listed with the data each would need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PaySim chosen and the replay written — the dataset run itself is still outstanding, and is reported as outstanding rather than as done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responsible member is printed under each chapter heading in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Not pursued this semester; the time went into the dataset and anomaly work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MID-SEMESTER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113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96.3% precision, 100% recall, F1 0.98 over 208 transactions (see the Detection Accuracy slide)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ash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932384"/>
            <a:ext cx="5886450" cy="3679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80" y="1932384"/>
            <a:ext cx="5886450" cy="3679031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18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(113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(113/113)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Review Queue</a:t>
            </a:r>
          </a:p>
        </p:txBody>
      </p:sp>
      <p:pic>
        <p:nvPicPr>
          <p:cNvPr id="4" name="Picture 3" descr="dash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416 in review and 114 blocked; every row carries its score, decision and the signals that fired.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Signals and Score Distribution</a:t>
            </a:r>
          </a:p>
        </p:txBody>
      </p:sp>
      <p:pic>
        <p:nvPicPr>
          <p:cNvPr id="4" name="Picture 3" descr="dash-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75" y="1188720"/>
            <a:ext cx="8762250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Which flag fired how often, coloured by the layer that raised it, beside the spread of composite scores.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Measured Accuracy</a:t>
            </a:r>
          </a:p>
        </p:txBody>
      </p:sp>
      <p:pic>
        <p:nvPicPr>
          <p:cNvPr id="4" name="Picture 3" descr="dash-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600" cy="38097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89874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Precision 96.3%, recall 100%, accuracy 99.0%, F1 98.1% on 208 labelled transactions, with the confusion matrix.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Graph Network</a:t>
            </a:r>
          </a:p>
        </p:txBody>
      </p:sp>
      <p:pic>
        <p:nvPicPr>
          <p:cNvPr id="4" name="Picture 3" descr="dash-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One hop around a known fraud account: 506 accounts, 463 devices, 221 addresses and 3,372 transfers in Neo4j.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REST API</a:t>
            </a:r>
          </a:p>
        </p:txBody>
      </p:sp>
      <p:pic>
        <p:nvPicPr>
          <p:cNvPr id="4" name="Picture 3" descr="api-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The OpenAPI page the service publishes at /docs: health, transactions, accounts, graph and stats.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96.3%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100%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0.98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25 fraudulent transactions now reach the block threshold.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rule the guide asked for is in place, and nothing labelled fraud is approved. At a realistic fraud rate of one in a thousand the same detector's precision falls to about 7 per cent, so the queue, not the accuracy, is the real constraint.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