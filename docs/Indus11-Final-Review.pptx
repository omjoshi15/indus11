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80" r:id="rId32"/>
    <p:sldId id="281" r:id="rId33"/>
    <p:sldId id="259" r:id="rId5"/>
    <p:sldId id="272" r:id="rId6"/>
    <p:sldId id="273" r:id="rId7"/>
    <p:sldId id="260" r:id="rId8"/>
    <p:sldId id="261" r:id="rId9"/>
    <p:sldId id="274" r:id="rId10"/>
    <p:sldId id="262" r:id="rId16"/>
    <p:sldId id="263" r:id="rId17"/>
    <p:sldId id="264" r:id="rId18"/>
    <p:sldId id="282" r:id="rId34"/>
    <p:sldId id="283" r:id="rId35"/>
    <p:sldId id="284" r:id="rId36"/>
    <p:sldId id="285" r:id="rId37"/>
    <p:sldId id="286" r:id="rId38"/>
    <p:sldId id="269" r:id="rId19"/>
    <p:sldId id="270" r:id="rId20"/>
    <p:sldId id="265" r:id="rId21"/>
    <p:sldId id="266" r:id="rId22"/>
    <p:sldId id="267" r:id="rId23"/>
    <p:sldId id="27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86575" autoAdjust="0"/>
  </p:normalViewPr>
  <p:slideViewPr>
    <p:cSldViewPr snapToGrid="0">
      <p:cViewPr varScale="1">
        <p:scale>
          <a:sx n="109" d="100"/>
          <a:sy n="10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5.xml"/><Relationship Id="rId20" Type="http://schemas.openxmlformats.org/officeDocument/2006/relationships/slide" Target="slides/slide26.xml"/><Relationship Id="rId21" Type="http://schemas.openxmlformats.org/officeDocument/2006/relationships/slide" Target="slides/slide27.xml"/><Relationship Id="rId22" Type="http://schemas.openxmlformats.org/officeDocument/2006/relationships/slide" Target="slides/slide28.xml"/><Relationship Id="rId23" Type="http://schemas.openxmlformats.org/officeDocument/2006/relationships/slide" Target="slides/slide29.xml"/><Relationship Id="rId24" Type="http://schemas.openxmlformats.org/officeDocument/2006/relationships/slide" Target="slides/slide30.xml"/><Relationship Id="rId25" Type="http://schemas.openxmlformats.org/officeDocument/2006/relationships/slide" Target="slides/slide3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4288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06/08/26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6906"/>
              </p:ext>
            </p:extLst>
          </p:nvPr>
        </p:nvGraphicFramePr>
        <p:xfrm>
          <a:off x="1036819" y="4633610"/>
          <a:ext cx="10149840" cy="1082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Project ID: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PRJ_CE_5_2026_7</a:t>
                      </a:r>
                      <a:endParaRPr sz="1300" b="0" dirty="0">
                        <a:solidFill>
                          <a:srgbClr val="222833"/>
                        </a:solidFill>
                        <a:latin typeface="Cambria"/>
                      </a:endParaRP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Drashti </a:t>
                      </a:r>
                      <a:r>
                        <a:rPr sz="1300" b="0" dirty="0" err="1">
                          <a:solidFill>
                            <a:srgbClr val="222833"/>
                          </a:solidFill>
                          <a:latin typeface="Cambria"/>
                        </a:rPr>
                        <a:t>Dedaniya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Internal </a:t>
                      </a: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Guide: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Final Review — Project Demonstration</a:t>
                      </a:r>
                    </a:p>
                    <a:p>
                      <a:pPr algn="l"/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3 October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lvl="0" algn="l"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1.  Review Comments &amp; Actions (Proposal · Review 1 · Mid-Semester)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9.  References</a:t>
            </a:r>
          </a:p>
          <a:p>
            <a:r>
              <a:rPr sz="2000" b="0" dirty="0">
                <a:solidFill>
                  <a:srgbClr val="222833"/>
                </a:solidFill>
                <a:latin typeface="Cambria"/>
              </a:rPr>
              <a:t>10.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Project Proposal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Evaluation harness built; the measured results are in this deck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written by the team, not generated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Repository public; continuous integration runs 113 tests on every push</a:t>
            </a:r>
            <a:endParaRPr sz="1300" b="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PROPOSAL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Review 1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Fourteen seconds end to end: the language-model call sat inside the decision path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 defined behaviour if the graph database fails mid-session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written explanation can contradict the signals that actually fired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Which graph pattern produces the most false positives?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Why is the score weighted 40 / 30 / 30?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Does an identical transaction score identically every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Decision returns on the rule and graph layers alone; the model runs after the reply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Measured: median 114 ms, p95 189 ms, 29 of 29 inside the 500 ms budget (was 14,046 ms)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 graph failure is caught, scored as a failed layer, and lifts approve to review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explanation is checked against the fired signals; the flags stand alone if it drifts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Answered on the day as shared device; measured afterwards, circular flow and shared device were the worst and cluster proximity the fewest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Acting on that measurement, a time window on the circular-flow query cut its false positives from 44.9% to 10.3% and its query time from 260 ms to about 20 ms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Model temperature fixed at zero — the same transaction now scores the same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REVIEW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Mid-Semester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Study the anomalies banks actually watch for and add them to the rule engine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Validate on a real or public dataset, not only on data we generated ourselves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Name the member responsible for each chapter of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Consider writing a conference paper on the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Fifty anomaly types catalogued from FIU-IND, RBI and FATF; twenty-five implemented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Thirty-five of the fifty are now detected; the fifteen that are not are listed with the data each would need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PaySim chosen and the replay written — the dataset run itself is still outstanding, and is reported as outstanding rather than as done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responsible member is printed under each chapter heading in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Not pursued this semester; the time went into the dataset and anomaly work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MID-SEMESTER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891468"/>
              </p:ext>
            </p:extLst>
          </p:nvPr>
        </p:nvGraphicFramePr>
        <p:xfrm>
          <a:off x="515815" y="1645920"/>
          <a:ext cx="1114278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 engine: 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 ·  Graph analyzer: 48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warm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Complete pipeline: 14,046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(13.9 s in the language model)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Deterministic layers complete within 500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Testability — 113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Accuracy — 96.3% precision, 100% recall, F1 0.98 over 208 transactions (see the Detection Accuracy slide)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14542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6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6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6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6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6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6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6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ash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932384"/>
            <a:ext cx="5886450" cy="3679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80" y="1932384"/>
            <a:ext cx="5886450" cy="3679031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222833"/>
              </a:solidFill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18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tlCol="0" anchor="t"/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main.py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FastAPI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app + startup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config.py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settings (.env)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/routes/    transactions · accounts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core/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db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neo4j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redis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rate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schemas/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Pydantic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contracts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services/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rule_engine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graph_analyzer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rag_pipeline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decision_engine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scripts/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seed_mongo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seed_neo4j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tests/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test_fraud.py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(113 tests)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docker-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compose.yml</a:t>
            </a:r>
            <a:endParaRPr sz="1400" dirty="0">
              <a:solidFill>
                <a:srgbClr val="222833"/>
              </a:solidFill>
              <a:latin typeface="Courier New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tlCol="0" anchor="t"/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rule.score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graph.score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rag.score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Decision.BLOCK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 err="1">
                <a:solidFill>
                  <a:srgbClr val="E6EDF3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composite &gt;= REVIEW_THRESHOLD:  # 40-69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Decision.REVIEW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Decision.APPROVE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tlCol="0" anchor="ctr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tlCol="0" anchor="ctr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(113/113)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Review Queue</a:t>
            </a:r>
          </a:p>
        </p:txBody>
      </p:sp>
      <p:pic>
        <p:nvPicPr>
          <p:cNvPr id="4" name="Picture 3" descr="dash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416 in review and 114 blocked; every row carries its score, decision and the signals that fired.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Signals and Score Distribution</a:t>
            </a:r>
          </a:p>
        </p:txBody>
      </p:sp>
      <p:pic>
        <p:nvPicPr>
          <p:cNvPr id="4" name="Picture 3" descr="dash-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75" y="1188720"/>
            <a:ext cx="8762250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Which flag fired how often, coloured by the layer that raised it, beside the spread of composite scores.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Measured Accuracy</a:t>
            </a:r>
          </a:p>
        </p:txBody>
      </p:sp>
      <p:pic>
        <p:nvPicPr>
          <p:cNvPr id="4" name="Picture 3" descr="dash-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600" cy="38097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89874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Precision 96.3%, recall 100%, accuracy 99.0%, F1 98.1% on 208 labelled transactions, with the confusion matrix.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Graph Network</a:t>
            </a:r>
          </a:p>
        </p:txBody>
      </p:sp>
      <p:pic>
        <p:nvPicPr>
          <p:cNvPr id="4" name="Picture 3" descr="dash-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One hop around a known fraud account: 506 accounts, 463 devices, 221 addresses and 3,372 transfers in Neo4j.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REST API</a:t>
            </a:r>
          </a:p>
        </p:txBody>
      </p:sp>
      <p:pic>
        <p:nvPicPr>
          <p:cNvPr id="4" name="Picture 3" descr="api-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The OpenAPI page the service publishes at /docs: health, transactions, accounts, graph and stats.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96.3%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100%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0.98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25 fraudulent transactions now reach the block threshold.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rule the guide asked for is in place, and nothing labelled fraud is approved. At a realistic fraud rate of one in a thousand the same detector's precision falls to about 7 per cent, so the queue, not the accuracy, is the real constraint.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Progress Since the Last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02060"/>
                </a:solidFill>
                <a:latin typeface="Cambria"/>
              </a:rPr>
              <a:t>Specification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Front matter numbered in roman (i-ix); body restarts at 1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Every reference cited in the text at its point of use, IEEE style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Tables restyled — caption above, columns sized to content, none split across a page break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32 functional requirements consolidated to 28 real, distinct ones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Diagram set re-checked against the guide's notation comments and against the running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28090"/>
                </a:solidFill>
                <a:latin typeface="Cambria"/>
              </a:rPr>
              <a:t>Product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Flagged-transactions table made interactive — filters, search, sortable columns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Entrance and count-up motion, with an automatic reduced-motion fallback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Static demo mode: the dashboard runs from a snapshot with no live backend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Weekly-report generator with an automatic duplicate-reference check across weeks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96.3% precision, 100% recall, F1 0.98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113 automated tests, continuous integration, one-command deployment.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</a:t>
            </a:r>
            <a:r>
              <a:rPr sz="1150" dirty="0" err="1">
                <a:solidFill>
                  <a:srgbClr val="222833"/>
                </a:solidFill>
                <a:latin typeface="Cambria"/>
              </a:rPr>
              <a:t>FastAPI</a:t>
            </a:r>
            <a:r>
              <a:rPr sz="1150" dirty="0">
                <a:solidFill>
                  <a:srgbClr val="222833"/>
                </a:solidFill>
                <a:latin typeface="Cambria"/>
              </a:rPr>
              <a:t>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</a:t>
            </a:r>
            <a:r>
              <a:rPr lang="en-US" sz="1150" dirty="0">
                <a:solidFill>
                  <a:srgbClr val="222833"/>
                </a:solidFill>
              </a:rPr>
              <a:t> </a:t>
            </a:r>
            <a:r>
              <a:rPr lang="en-US" sz="1150" dirty="0" err="1">
                <a:solidFill>
                  <a:srgbClr val="222833"/>
                </a:solidFill>
              </a:rPr>
              <a:t>LangChain</a:t>
            </a:r>
            <a:r>
              <a:rPr lang="en-US" sz="1150" dirty="0">
                <a:solidFill>
                  <a:srgbClr val="222833"/>
                </a:solidFill>
              </a:rPr>
              <a:t> RAG pipeline, </a:t>
            </a:r>
            <a:r>
              <a:rPr lang="en-US" sz="1150" dirty="0" err="1">
                <a:solidFill>
                  <a:srgbClr val="222833"/>
                </a:solidFill>
              </a:rPr>
              <a:t>ChromaDB</a:t>
            </a:r>
            <a:r>
              <a:rPr lang="en-US" sz="1150" dirty="0">
                <a:solidFill>
                  <a:srgbClr val="222833"/>
                </a:solidFill>
              </a:rPr>
              <a:t> knowledge base, prompt engineering</a:t>
            </a:r>
            <a:endParaRPr sz="115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1638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IN" sz="1150" dirty="0">
                <a:solidFill>
                  <a:srgbClr val="222833"/>
                </a:solidFill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</a:t>
            </a:r>
            <a:r>
              <a:rPr lang="en-IN" sz="1150" dirty="0">
                <a:solidFill>
                  <a:srgbClr val="222833"/>
                </a:solidFill>
              </a:rPr>
              <a:t>UML and DFD diagram set for the specification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71600" y="2749773"/>
            <a:ext cx="9418320" cy="126701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 dirty="0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 dirty="0">
                <a:solidFill>
                  <a:srgbClr val="555B66"/>
                </a:solidFill>
                <a:latin typeface="Cambria"/>
              </a:rPr>
              <a:t>Questions · Suggestions · Comments</a:t>
            </a:r>
            <a:endParaRPr sz="1400" b="0" dirty="0">
              <a:solidFill>
                <a:srgbClr val="222833"/>
              </a:solidFill>
              <a:latin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27124</TotalTime>
  <Words>2172</Words>
  <Application>Microsoft Macintosh PowerPoint</Application>
  <PresentationFormat>Widescreen</PresentationFormat>
  <Paragraphs>331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Outline of Presentation</vt:lpstr>
      <vt:lpstr>Guide Feedback &amp; Improvements</vt:lpstr>
      <vt:lpstr>Problem Statement &amp; Objectives</vt:lpstr>
      <vt:lpstr>Functional Requirements</vt:lpstr>
      <vt:lpstr>Non-Functional Requirements</vt:lpstr>
      <vt:lpstr>System Architecture — 5-Layer Pipeline</vt:lpstr>
      <vt:lpstr>Process Flow / DFD — Transaction to Decision</vt:lpstr>
      <vt:lpstr>System Architecture — Five-Layer Pipeline</vt:lpstr>
      <vt:lpstr>Data Flow Diagram — Level 0 (Context Diagram)</vt:lpstr>
      <vt:lpstr>Data Flow Diagram — Level 1</vt:lpstr>
      <vt:lpstr>Use Case Diagram</vt:lpstr>
      <vt:lpstr>Activity Diagram — Transaction Analysis Workflow</vt:lpstr>
      <vt:lpstr>Class Diagram — Core Domain and Service Classes</vt:lpstr>
      <vt:lpstr>Literature Review &amp; Existing Solutions</vt:lpstr>
      <vt:lpstr>Implementation — Live Dashboard &amp; API</vt:lpstr>
      <vt:lpstr>Implementation — Structure, Code &amp; Stack</vt:lpstr>
      <vt:lpstr>Detection Accuracy — Measured Results</vt:lpstr>
      <vt:lpstr>Progress Since the Last Review</vt:lpstr>
      <vt:lpstr>Challenges Faced &amp; Future Work</vt:lpstr>
      <vt:lpstr>Conclusion — Where the Project Stands</vt:lpstr>
      <vt:lpstr>References</vt:lpstr>
      <vt:lpstr>Team Contributions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Joshi Om</cp:lastModifiedBy>
  <cp:revision>3689</cp:revision>
  <cp:lastPrinted>2024-04-30T12:52:07Z</cp:lastPrinted>
  <dcterms:created xsi:type="dcterms:W3CDTF">2021-11-23T04:44:57Z</dcterms:created>
  <dcterms:modified xsi:type="dcterms:W3CDTF">2026-08-06T13:09:20Z</dcterms:modified>
</cp:coreProperties>
</file>