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75" r:id="rId11"/>
    <p:sldId id="276" r:id="rId12"/>
    <p:sldId id="277" r:id="rId13"/>
    <p:sldId id="278" r:id="rId14"/>
    <p:sldId id="279" r:id="rId15"/>
    <p:sldId id="262" r:id="rId16"/>
    <p:sldId id="263" r:id="rId17"/>
    <p:sldId id="264" r:id="rId18"/>
    <p:sldId id="282" r:id="rId34"/>
    <p:sldId id="283" r:id="rId35"/>
    <p:sldId id="284" r:id="rId36"/>
    <p:sldId id="285" r:id="rId37"/>
    <p:sldId id="286" r:id="rId38"/>
    <p:sldId id="269" r:id="rId19"/>
    <p:sldId id="270" r:id="rId20"/>
    <p:sldId id="265" r:id="rId21"/>
    <p:sldId id="266" r:id="rId22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5.xml"/><Relationship Id="rId20" Type="http://schemas.openxmlformats.org/officeDocument/2006/relationships/slide" Target="slides/slide26.xml"/><Relationship Id="rId21" Type="http://schemas.openxmlformats.org/officeDocument/2006/relationships/slide" Target="slides/slide27.xml"/><Relationship Id="rId22" Type="http://schemas.openxmlformats.org/officeDocument/2006/relationships/slide" Target="slides/slide28.xml"/><Relationship Id="rId23" Type="http://schemas.openxmlformats.org/officeDocument/2006/relationships/slide" Target="slides/slide29.xml"/><Relationship Id="rId24" Type="http://schemas.openxmlformats.org/officeDocument/2006/relationships/slide" Target="slides/slide30.xml"/><Relationship Id="rId25" Type="http://schemas.openxmlformats.org/officeDocument/2006/relationships/slide" Target="slides/slide3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Final Review — Project Demonstration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3 October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 dirty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 dirty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Evaluation harness built; the measured results are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written by the team, not generated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public; continuous integration runs 113 tests on every push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on the day as shared device; measured afterwards, circular flow and shared device were the worst and cluster proximity the fewest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Acting on that measurement, a time window on the circular-flow query cut its false positives from 44.9% to 10.3% and its query time from 260 ms to about 20 ms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113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96.3% precision, 100% recall, F1 0.98 over 208 transactions (see the Detection Accuracy slide)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0 (Context Diagram)</a:t>
            </a:r>
          </a:p>
        </p:txBody>
      </p:sp>
      <p:pic>
        <p:nvPicPr>
          <p:cNvPr id="3" name="Picture 2" descr="final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564" y="1234440"/>
            <a:ext cx="856687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Data Flow Diagram — Level 1</a:t>
            </a:r>
          </a:p>
        </p:txBody>
      </p:sp>
      <p:pic>
        <p:nvPicPr>
          <p:cNvPr id="3" name="Picture 2" descr="final-d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Use Case Diagram</a:t>
            </a:r>
          </a:p>
        </p:txBody>
      </p:sp>
      <p:pic>
        <p:nvPicPr>
          <p:cNvPr id="3" name="Picture 2" descr="final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Activity Diagram — Transaction Analysis Workflow</a:t>
            </a:r>
          </a:p>
        </p:txBody>
      </p:sp>
      <p:pic>
        <p:nvPicPr>
          <p:cNvPr id="3" name="Picture 2" descr="final-activity.png"/>
          <p:cNvPicPr>
            <a:picLocks noChangeAspect="1"/>
          </p:cNvPicPr>
          <p:nvPr/>
        </p:nvPicPr>
        <p:blipFill>
          <a:blip r:embed="rId2"/>
          <a:srcRect t="5863"/>
          <a:stretch>
            <a:fillRect/>
          </a:stretch>
        </p:blipFill>
        <p:spPr>
          <a:xfrm>
            <a:off x="4297680" y="1547446"/>
            <a:ext cx="3596640" cy="50819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Class Diagram — Core Domain and Service Classes</a:t>
            </a:r>
          </a:p>
        </p:txBody>
      </p:sp>
      <p:pic>
        <p:nvPicPr>
          <p:cNvPr id="3" name="Picture 2" descr="fina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ash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932384"/>
            <a:ext cx="5886450" cy="3679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80" y="1932384"/>
            <a:ext cx="5886450" cy="3679031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18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(113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(113/113)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Review Queue</a:t>
            </a:r>
          </a:p>
        </p:txBody>
      </p:sp>
      <p:pic>
        <p:nvPicPr>
          <p:cNvPr id="4" name="Picture 3" descr="dash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416 in review and 114 blocked; every row carries its score, decision and the signals that fired.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Signals and Score Distribution</a:t>
            </a:r>
          </a:p>
        </p:txBody>
      </p:sp>
      <p:pic>
        <p:nvPicPr>
          <p:cNvPr id="4" name="Picture 3" descr="dash-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75" y="1188720"/>
            <a:ext cx="8762250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Which flag fired how often, coloured by the layer that raised it, beside the spread of composite scores.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Measured Accuracy</a:t>
            </a:r>
          </a:p>
        </p:txBody>
      </p:sp>
      <p:pic>
        <p:nvPicPr>
          <p:cNvPr id="4" name="Picture 3" descr="dash-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600" cy="38097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89874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Precision 96.3%, recall 100%, accuracy 99.0%, F1 98.1% on 208 labelled transactions, with the confusion matrix.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Graph Network</a:t>
            </a:r>
          </a:p>
        </p:txBody>
      </p:sp>
      <p:pic>
        <p:nvPicPr>
          <p:cNvPr id="4" name="Picture 3" descr="dash-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One hop around a known fraud account: 506 accounts, 463 devices, 221 addresses and 3,372 transfers in Neo4j.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REST API</a:t>
            </a:r>
          </a:p>
        </p:txBody>
      </p:sp>
      <p:pic>
        <p:nvPicPr>
          <p:cNvPr id="4" name="Picture 3" descr="api-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The OpenAPI page the service publishes at /docs: health, transactions, accounts, graph and stats.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96.3%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100%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0.98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25 fraudulent transactions now reach the block threshold.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rule the guide asked for is in place, and nothing labelled fraud is approved. At a realistic fraud rate of one in a thousand the same detector's precision falls to about 7 per cent, so the queue, not the accuracy, is the real constraint.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96.3% precision, 100% recall, F1 0.98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28016" rtlCol="0" anchor="ctr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113 automated tests, continuous integration, one-command deployment.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