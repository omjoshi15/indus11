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41648" y="749808"/>
            <a:ext cx="1060704" cy="1060704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7510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INDUS11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670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Risk &amp; Fraud Decision Engine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314553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· idea, technology, and plan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4400" y="3767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Om   ·   Krish Gajera   ·   Drashti Dedaniya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Group Project · CHARUSAT — DEPSTAR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IDEA &amp; DOMAIN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decisions, explained in plain English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663440" cy="3429000"/>
          </a:xfrm>
          <a:prstGeom prst="roundRect">
            <a:avLst>
              <a:gd name="adj" fmla="val 186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73936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detection. Banks must approve or block each payment in milliseconds — rule-only systems miss new fraud tricks, and pure AI models can't explain why they blocked someone.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761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54096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transaction with three independent engines — business rules, graph analysis of fraud rings, and a RAG-grounded LLM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into one 0–100 score with clear thresholds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decision plus a natural-language explanation an analyst can act 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40680" y="1280160"/>
            <a:ext cx="3200400" cy="1024128"/>
          </a:xfrm>
          <a:prstGeom prst="roundRect">
            <a:avLst>
              <a:gd name="adj" fmla="val 625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151790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06" y="1660550"/>
            <a:ext cx="263347" cy="2633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09360" y="1444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0–39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17556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payment — release instantly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40680" y="2468880"/>
            <a:ext cx="3200400" cy="1024128"/>
          </a:xfrm>
          <a:prstGeom prst="roundRect">
            <a:avLst>
              <a:gd name="adj" fmla="val 625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23560" y="270662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206" y="2849270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09360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40–69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9360" y="29443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— queue for an analyst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40680" y="3657600"/>
            <a:ext cx="3200400" cy="1024128"/>
          </a:xfrm>
          <a:prstGeom prst="roundRect">
            <a:avLst>
              <a:gd name="adj" fmla="val 625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23560" y="3895344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06" y="4037990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70–100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9360" y="41330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stop the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— and our niche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663440" cy="3456432"/>
          </a:xfrm>
          <a:prstGeom prst="roundRect">
            <a:avLst>
              <a:gd name="adj" fmla="val 1852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out there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Falcon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+ shared bank data; scores in milliseconds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140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Feedzai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fraud + anti-money-laundering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80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Featurespace ARIC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behavioural profile built per customer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Actimize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7673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fraud + AML investigation suite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Fraud Detector · Stripe Radar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334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ML fraud 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1280160"/>
            <a:ext cx="3200400" cy="3456432"/>
          </a:xfrm>
          <a:prstGeom prst="roundRect">
            <a:avLst>
              <a:gd name="adj" fmla="val 200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41848" y="148132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B0F17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985" y="1614465"/>
            <a:ext cx="245791" cy="24579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63640" y="157276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Indus11 fits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2157984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decision in plain English — not a black box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graph + a capped LLM — every point is traceable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fraud-ring detection via a graph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self-hostable · runs free on a laptop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WHAT WE'LL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fraud-detection API and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700784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1C25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042" y="18624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90472" y="1865376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/analyze runs a transaction through all engines and returns a decision; 12 REST endpoints in total.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1700784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1C25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562" y="1862450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50992" y="1865376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Recharts: risk distribution, score histogram, and a feed of flagged transactions.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761488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" y="3090672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1C253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42" y="325233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0472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dataset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90472" y="3255264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accounts and ~1,000 transactions with 3 fraud rings planted to test detection.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761488"/>
            <a:ext cx="3977640" cy="1280160"/>
          </a:xfrm>
          <a:prstGeom prst="roundRect">
            <a:avLst>
              <a:gd name="adj" fmla="val 5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3090672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1C253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562" y="325233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decisions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50992" y="3255264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returns APPROVE / REVIEW / BLOCK with a plain-English reason.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4206240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77240" y="42062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on synthetic data that demonstrates the detection approach end-to-end — not a production banking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TOOLS &amp;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stack, runs on one laptop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0432" y="1554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1697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157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4360" y="24048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3.12 API — the gateway that runs all engines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51176" y="137160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554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334" y="16971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157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642616" y="24048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accounts (Beanie ODM) — flexible document store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599432" y="137160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66944" y="1554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16971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54296" y="2157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690872" y="24048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— fraud-ring &amp; shared-device detection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647688" y="137160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1554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846" y="16971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02552" y="21579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739128" y="240487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cache + rolling velocity windows for speed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02920" y="306324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170432" y="3246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078" y="338876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" y="3849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Ollama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94360" y="40965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a local LLM (llama3) — free &amp; offline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2551176" y="306324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18688" y="3246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334" y="338876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06040" y="3849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2642616" y="40965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 58 fraud-pattern documents for retrieval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4599432" y="306324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266944" y="3246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590" y="3388766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654296" y="3849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4690872" y="40965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 dashboard with Recharts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6647688" y="3063240"/>
            <a:ext cx="1883664" cy="1517904"/>
          </a:xfrm>
          <a:prstGeom prst="roundRect">
            <a:avLst>
              <a:gd name="adj" fmla="val 421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315200" y="3246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7846" y="3388766"/>
            <a:ext cx="263347" cy="26334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702552" y="38496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739128" y="4096512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spin-up of the whole stack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AI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layer scores and explains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7784" y="1481328"/>
            <a:ext cx="1810512" cy="1572768"/>
          </a:xfrm>
          <a:prstGeom prst="roundRect">
            <a:avLst>
              <a:gd name="adj" fmla="val 407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6642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18068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flagged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" y="2532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graph raise signals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50008" y="1938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697480" y="1481328"/>
            <a:ext cx="1810512" cy="1572768"/>
          </a:xfrm>
          <a:prstGeom prst="roundRect">
            <a:avLst>
              <a:gd name="adj" fmla="val 407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8416" y="16642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62" y="180685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4056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patterns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70632" y="2532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fraud cases in ChromaDB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489704" y="1938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837176" y="1481328"/>
            <a:ext cx="1810512" cy="1572768"/>
          </a:xfrm>
          <a:prstGeom prst="roundRect">
            <a:avLst>
              <a:gd name="adj" fmla="val 407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68112" y="16642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758" y="180685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73752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10328" y="2532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reads the examples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629400" y="1938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976872" y="1481328"/>
            <a:ext cx="1810512" cy="1572768"/>
          </a:xfrm>
          <a:prstGeom prst="roundRect">
            <a:avLst>
              <a:gd name="adj" fmla="val 407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07808" y="16642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54" y="1806854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13448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explanation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50024" y="253288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points and a plain-English reason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02920" y="3401568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2376" y="360273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" y="3745382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1732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a knowledge base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417320" y="3840480"/>
            <a:ext cx="2944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fraud-pattern documents — wire fraud, money-mule rings, card-not-present, account takeover and more — so the model reasons from real examples, not guesswork.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3401568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882896" y="360273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542" y="3745382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57784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5577840" y="3840480"/>
            <a:ext cx="29443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capped at 30 of 100 points and set to temperature 0, so the reliable rule and graph evidence stays in control. It runs locally — no data leaves the machine.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SECURITY &amp;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AI — in plain terms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459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17885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19751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for money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stolen accounts — many accounts sharing one device or IP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card testing — too many payments too fast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fraud rings — hidden money-laundering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itself — input checks, rate limits, full audit 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77640" cy="3401568"/>
          </a:xfrm>
          <a:prstGeom prst="roundRect">
            <a:avLst>
              <a:gd name="adj" fmla="val 1882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6459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C25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118" y="17885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19751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patterns, explains itself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37760" y="24688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finds transactions similar to known fraud — like a photo app grouping faces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 plain-English reason for every decision</a:t>
            </a:r>
            <a:endParaRPr lang="en-US" sz="11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privately and offline — no data leaves the machine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 a short leash — capped so the hard checks stay in control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research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56362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1C25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36" y="1701516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APATE — network-based fraud detection (Van Vlasselaer et al., 2015)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173736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graph (network) features with traditional features reaches AUC &gt; 0.98 and decides within the industry's 6-second limit.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371600" y="1993392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</a:t>
            </a:r>
            <a:pPr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rules + graph together beat either alone — our core design.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395728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" y="25877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1C25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6" y="272564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50545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for fraud — SHAP-based studies (2024–2025)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71600" y="276148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improves analyst trust and regulatory compliance, especially under heavy class imbalance.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371600" y="3017520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</a:t>
            </a:r>
            <a:pPr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our explanation-first approach — a reason with every decision.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419856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" y="361188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1C253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6" y="374977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295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LLM-enhanced graph fraud detection (2025)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371600" y="3785616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research pairs LLMs with graphs for fraud — while flagging LLM security as an open risk.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371600" y="404164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us:  </a:t>
            </a:r>
            <a:pPr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RAG + graph design sits on this frontier — and is why we cap the LLM at 30/100.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448056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1C2539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backs our two core bets — graph + traditional features beat either alone, and explainability materially improves fraud systems.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— clear ownership per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33472" cy="3474720"/>
          </a:xfrm>
          <a:prstGeom prst="roundRect">
            <a:avLst>
              <a:gd name="adj" fmla="val 2431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463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6056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4447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Joshi Om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22376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Rules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" y="2523744"/>
            <a:ext cx="22402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 &amp; REST API design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 · Beanie ODM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&amp; velocity windows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— amount, velocity, blacklist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280160"/>
            <a:ext cx="2633472" cy="3474720"/>
          </a:xfrm>
          <a:prstGeom prst="roundRect">
            <a:avLst>
              <a:gd name="adj" fmla="val 2431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463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6056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15384" y="14447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Gajera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Intelligence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38728" y="2523744"/>
            <a:ext cx="22402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schema &amp; Cypher fraud queries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Fraud-ring &amp; shared-device detection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fraud dataset (500 accounts)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Fraud-label propagation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1280160"/>
            <a:ext cx="2633472" cy="3474720"/>
          </a:xfrm>
          <a:prstGeom prst="roundRect">
            <a:avLst>
              <a:gd name="adj" fmla="val 2431"/>
            </a:avLst>
          </a:prstGeom>
          <a:solidFill>
            <a:srgbClr val="161D2E"/>
          </a:solidFill>
          <a:ln w="12700">
            <a:solidFill>
              <a:srgbClr val="2A34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36792" y="1463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0B0F1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38" y="16056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31736" y="14447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Drashti Dedaniya</a:t>
            </a:r>
            <a:endParaRPr lang="en-US" sz="135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5508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Experience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55080" y="2523744"/>
            <a:ext cx="22402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LangChain + ChromaDB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 &amp; local Ollama integration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— score aggregation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&amp; stats API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8249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APATE: automated credit-card fraud detection using network-based extensions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Vlasselaer et al. (2015) · Decision Support Systems · ScienceDirect: S0167923615000846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graph-based, semi-supervised credit-card fraud detection 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Lebichot et al. (2017) · Springer · doi:10.1007/978-3-319-50901-3_57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potential of network-based features for fraud detection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90779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 · arXiv:2402.09495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19125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Explainable-AI–enhanced ensemble learning for financial fraud detection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4107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Vijayanand &amp; Smrithy (2025) · SAGE · doi:10.1177/18724981241289751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0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challenges of large language models: a survey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91363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 · arXiv:2402.00888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2611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9884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Falcon · Feedzai · Featurespace ARIC · NICE Actimize — vendor &amp; industry overviews (fico.com, intellisoft.io).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Indus11 — Project Overview</dc:title>
  <dc:subject>PptxGenJS Presentation</dc:subject>
  <dc:creator>Indus11 Team</dc:creator>
  <cp:lastModifiedBy>Indus11 Team</cp:lastModifiedBy>
  <cp:revision>1</cp:revision>
  <dcterms:created xsi:type="dcterms:W3CDTF">2026-07-10T17:40:36Z</dcterms:created>
  <dcterms:modified xsi:type="dcterms:W3CDTF">2026-07-10T17:40:36Z</dcterms:modified>
</cp:coreProperties>
</file>