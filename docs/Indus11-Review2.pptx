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2"/>
  </p:notesMasterIdLst>
  <p:handoutMasterIdLst>
    <p:handoutMasterId r:id="rId43"/>
  </p:handoutMasterIdLst>
  <p:sldIdLst>
    <p:sldId id="256" r:id="rId2"/>
    <p:sldId id="257" r:id="rId3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9" r:id="rId21"/>
    <p:sldId id="270" r:id="rId22"/>
    <p:sldId id="265" r:id="rId17"/>
    <p:sldId id="266" r:id="rId18"/>
    <p:sldId id="267" r:id="rId19"/>
    <p:sldId id="271" r:id="rId23"/>
    <p:sldId id="268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00"/>
    <a:srgbClr val="157DB1"/>
    <a:srgbClr val="FFFFCC"/>
    <a:srgbClr val="FFFFFF"/>
    <a:srgbClr val="800080"/>
    <a:srgbClr val="635E68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52" autoAdjust="0"/>
    <p:restoredTop sz="86576" autoAdjust="0"/>
  </p:normalViewPr>
  <p:slideViewPr>
    <p:cSldViewPr snapToGrid="0">
      <p:cViewPr varScale="1">
        <p:scale>
          <a:sx n="75" d="100"/>
          <a:sy n="75" d="100"/>
        </p:scale>
        <p:origin x="888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1022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6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5.xml"/><Relationship Id="rId42" Type="http://schemas.openxmlformats.org/officeDocument/2006/relationships/notesMaster" Target="notesMasters/notesMaster1.xml"/><Relationship Id="rId43" Type="http://schemas.openxmlformats.org/officeDocument/2006/relationships/handoutMaster" Target="handoutMasters/handout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2FFBF8C-BD9E-4D4B-9BA9-B7EEF03F4C4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5EF2CE-746F-4A36-868D-371D96CE437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C4EDD5-DACD-4DA8-925C-0E51C68F2D41}" type="datetime1">
              <a:rPr lang="en-IN" smtClean="0"/>
              <a:t>11-07-2026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48C888-E6FF-4D21-B737-E49D2F175A0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F0E4A0-BDDE-4C4C-9945-A5AD0AE8A0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2A8CAF-C41B-4C5C-85EC-7B5120882E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7343881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7F8DE5-DE46-4259-86B1-9A0FF77025F2}" type="datetime1">
              <a:rPr lang="en-IN" smtClean="0"/>
              <a:t>11-07-2026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5E871C-BF31-4FEA-99A6-B8124E0AFC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9651275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2097799C-B79F-486C-9B99-1DE850F894F9}" type="datetime1">
              <a:rPr lang="en-IN" smtClean="0"/>
              <a:t>11-07-2026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E871C-BF31-4FEA-99A6-B8124E0AFC71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32675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5EB58606-F24A-4325-95C9-F75FC2CA6C82}" type="datetime1">
              <a:rPr lang="en-IN" smtClean="0"/>
              <a:t>11-07-2026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E871C-BF31-4FEA-99A6-B8124E0AFC71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70595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D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3277C-4F24-4CF7-A720-3034A3CF3B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36264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AF77EA-B0A1-4704-8548-20F1B59B31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29837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702A89-DB61-449B-A842-71EFBB0A12D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30"/>
            <a:ext cx="2743200" cy="365125"/>
          </a:xfrm>
        </p:spPr>
        <p:txBody>
          <a:bodyPr/>
          <a:lstStyle/>
          <a:p>
            <a:fld id="{A7F366FE-06BF-4204-B18C-8530729481A3}" type="datetime1">
              <a:rPr lang="en-IN" smtClean="0"/>
              <a:t>11-07-2026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A831AC-99BD-4ED1-9391-0A4843A1E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30"/>
            <a:ext cx="2743200" cy="365125"/>
          </a:xfrm>
        </p:spPr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  <p:pic>
        <p:nvPicPr>
          <p:cNvPr id="7" name="Picture 2" descr="graduated #education #engineering #informationtechnology ...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35" t="33453" r="11811" b="32375"/>
          <a:stretch/>
        </p:blipFill>
        <p:spPr bwMode="auto">
          <a:xfrm>
            <a:off x="8374867" y="227483"/>
            <a:ext cx="3696972" cy="862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4740844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G Tit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75077-318F-480C-9DEF-40F572C30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13" y="313900"/>
            <a:ext cx="9880984" cy="79156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743C4E-7419-4FA4-B484-F9CE1E2B20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003" y="1405719"/>
            <a:ext cx="9880984" cy="483130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0E17C9-A4C9-4856-93DC-BDD95A526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53DFE-425C-420D-B509-EBA6BB423B06}" type="datetime1">
              <a:rPr lang="en-IN" smtClean="0"/>
              <a:t>11-07-2026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777AD2-3AAA-4B77-86BB-36B7A549C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197709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91987-0133-41EC-ABE5-12B640401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ADF598-A2DC-49EF-A111-68D61C38A6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60990-D6AF-4979-B2E0-A73C9637E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F5FC-3D17-4649-A994-3AB1B64F785B}" type="datetime1">
              <a:rPr lang="en-IN" smtClean="0"/>
              <a:t>11-07-2026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B21A4-C118-4DD9-9475-32E498DC1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02017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FBA95-8922-4E55-B2F4-8728A0499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552" y="272955"/>
            <a:ext cx="9771307" cy="82419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841C26-5CFF-458E-953F-F0C1FD9CC3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D5F633-50B1-40E7-8606-3109450AC6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48D27A-C509-46CE-A196-C319DBB2F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86646-D086-4553-AE67-AA6AD758D98E}" type="datetime1">
              <a:rPr lang="en-IN" smtClean="0"/>
              <a:t>11-07-2026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1FC7C8-5FEA-4204-9640-B1D48A30A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615835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B2C7A-8FE6-4EA3-A307-AC87254D1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C53BD6-9F27-43D6-BE51-4F9FCF818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327D2E-09FC-4C17-8F4C-6D6397B121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6D3738-E279-43C7-974B-B671133868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9B27AF-EA91-4F0D-A0BF-52C05C34B1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F4510A-BBB8-4CFF-BAEB-EFDDF0BF3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3F3E4-01DF-46BE-A244-236DAC055295}" type="datetime1">
              <a:rPr lang="en-IN" smtClean="0"/>
              <a:t>11-07-2026</a:t>
            </a:fld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88CADC-F5D5-4489-99AC-4D51B8787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0481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2A87D-40EA-497F-8E88-7EB1D564E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AAD6F9-1A41-4343-AC91-4A4846ABC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975BE-48A4-4D95-B654-91A198D66E30}" type="datetime1">
              <a:rPr lang="en-IN" smtClean="0"/>
              <a:t>11-07-2026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57B1BA-E552-4CE1-81D4-C7C12CD5A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733979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17F097-816B-41ED-8421-796240803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2632C-F855-403D-BE11-628E645B3D95}" type="datetime1">
              <a:rPr lang="en-IN" smtClean="0"/>
              <a:t>11-07-2026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C57CD1-E0E7-4F71-B528-23A9EFDD4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035024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ECD34-1BEE-4598-BD6E-38DE280B4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DAAFC0-12A5-44FD-A5BE-2F7FFC20CE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6B07DA-9F81-4332-861F-2714572EE0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95321B-2C67-40C0-B012-E654BF62D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61943-E387-4132-9997-AE83890079EB}" type="datetime1">
              <a:rPr lang="en-IN" smtClean="0"/>
              <a:t>11-07-2026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E8ABB-2CE4-42BB-87F1-CC66869F6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986773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84321-FA12-4C83-AC1B-869118212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9D738B-700A-4AB0-91C5-1657264FFE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553FCF-6CA7-49C9-A079-6D27130044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4220E6-1801-4109-B621-7F08825DC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A6E9E-B8DA-4CC6-93FB-CD3FBD18C811}" type="datetime1">
              <a:rPr lang="en-IN" smtClean="0"/>
              <a:t>11-07-2026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707CEE-BC9D-4F2E-B06B-40EB74335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459317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8CDA3-419E-44E2-A81D-C91C1384C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6B7762-350B-4C44-BBBA-88B41FDEBE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8AD53-DD49-42BA-8FB8-ED0C91816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7AA7C-C54C-4C9B-A927-28ABD1183B15}" type="datetime1">
              <a:rPr lang="en-IN" smtClean="0"/>
              <a:t>11-07-2026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0DCE8A-1B26-4032-900F-67A07517E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195258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8EAA3A-C4C8-4C2C-9FB3-119CB755DD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4E1A8A-AF47-4929-B9E8-3312537003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F8702E-E271-4760-ADBF-C8CBB9DB1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982F3-4AC5-4982-8C48-ED7D3591BAE9}" type="datetime1">
              <a:rPr lang="en-IN" smtClean="0"/>
              <a:t>11-07-2026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5BB332-56E2-4ED7-9BBE-98F654811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428513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6C6D43-C996-4112-9F8A-D722656965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598" y="272955"/>
            <a:ext cx="9771307" cy="8241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CC4C07-2A70-4262-9C3F-43271A18A4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4572" y="1411368"/>
            <a:ext cx="10084557" cy="47655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E802D1-02EA-44FC-9028-61E7837404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50647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FC38A7-8228-4A66-972C-E42C916957DF}" type="datetime1">
              <a:rPr lang="en-IN" smtClean="0"/>
              <a:t>11-07-2026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E00F90-C9AA-49D2-B005-C1E3B6E06F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50647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1A8DB74-7F25-42ED-A8E3-B38C824021C6}"/>
              </a:ext>
            </a:extLst>
          </p:cNvPr>
          <p:cNvCxnSpPr/>
          <p:nvPr userDrawn="1"/>
        </p:nvCxnSpPr>
        <p:spPr>
          <a:xfrm>
            <a:off x="0" y="1241946"/>
            <a:ext cx="12192000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525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iming>
    <p:tnLst>
      <p:par>
        <p:cTn id="1" dur="indefinite" restart="never" nodeType="tmRoot"/>
      </p:par>
    </p:tnLst>
  </p:timing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206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11;p1">
            <a:extLst>
              <a:ext uri="{FF2B5EF4-FFF2-40B4-BE49-F238E27FC236}">
                <a16:creationId xmlns:a16="http://schemas.microsoft.com/office/drawing/2014/main" id="{E77E84B8-DB58-4F91-B76F-8E8D50525017}"/>
              </a:ext>
            </a:extLst>
          </p:cNvPr>
          <p:cNvSpPr/>
          <p:nvPr/>
        </p:nvSpPr>
        <p:spPr>
          <a:xfrm>
            <a:off x="0" y="1599641"/>
            <a:ext cx="12192000" cy="46162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sz="2400">
                <a:solidFill>
                  <a:srgbClr val="002060"/>
                </a:solidFill>
                <a:latin typeface="Cambria"/>
              </a:rPr>
              <a:t>AY: 2026-27          Semester – 5          CE</a:t>
            </a:r>
            <a:endParaRPr sz="2400" dirty="0">
              <a:ln w="0"/>
              <a:solidFill>
                <a:srgbClr val="00206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7" name="Google Shape;111;p1">
            <a:extLst>
              <a:ext uri="{FF2B5EF4-FFF2-40B4-BE49-F238E27FC236}">
                <a16:creationId xmlns:a16="http://schemas.microsoft.com/office/drawing/2014/main" id="{E77E84B8-DB58-4F91-B76F-8E8D50525017}"/>
              </a:ext>
            </a:extLst>
          </p:cNvPr>
          <p:cNvSpPr/>
          <p:nvPr/>
        </p:nvSpPr>
        <p:spPr>
          <a:xfrm>
            <a:off x="1692124" y="356038"/>
            <a:ext cx="6441467" cy="4616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en-US" sz="2400" dirty="0">
                <a:ln w="0"/>
                <a:solidFill>
                  <a:srgbClr val="00206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Cambria"/>
                <a:cs typeface="Cambria"/>
                <a:sym typeface="Cambria"/>
              </a:rPr>
              <a:t>Software Group Project (SGP)</a:t>
            </a:r>
            <a:endParaRPr sz="2400" dirty="0">
              <a:ln w="0"/>
              <a:solidFill>
                <a:srgbClr val="00206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" name="Google Shape;104;p1">
            <a:extLst>
              <a:ext uri="{FF2B5EF4-FFF2-40B4-BE49-F238E27FC236}">
                <a16:creationId xmlns:a16="http://schemas.microsoft.com/office/drawing/2014/main" id="{E8AAF98A-5605-46DF-85EE-A5BE99AEB242}"/>
              </a:ext>
            </a:extLst>
          </p:cNvPr>
          <p:cNvSpPr txBox="1">
            <a:spLocks/>
          </p:cNvSpPr>
          <p:nvPr/>
        </p:nvSpPr>
        <p:spPr>
          <a:xfrm>
            <a:off x="1036819" y="2428240"/>
            <a:ext cx="10149840" cy="147142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headEnd type="none" w="sm" len="sm"/>
            <a:tailEnd type="none" w="sm" len="sm"/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spcFirstLastPara="1" vert="horz" wrap="square" lIns="91425" tIns="45700" rIns="91425" bIns="45700" rtlCol="0" anchor="ctr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4800"/>
            </a:pPr>
            <a:r>
              <a:rPr sz="3200" b="1">
                <a:solidFill>
                  <a:srgbClr val="002060"/>
                </a:solidFill>
                <a:latin typeface="Cambria"/>
              </a:rPr>
              <a:t>Indus11 — AI Financial Risk &amp; Fraud Decision Engine</a:t>
            </a:r>
            <a:endParaRPr lang="en-US" sz="3200" b="1" dirty="0">
              <a:solidFill>
                <a:schemeClr val="bg1"/>
              </a:solidFill>
              <a:ea typeface="Cambria"/>
              <a:cs typeface="David" panose="020F0502020204030204" pitchFamily="34" charset="-79"/>
              <a:sym typeface="Cambria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4466459"/>
              </p:ext>
            </p:extLst>
          </p:nvPr>
        </p:nvGraphicFramePr>
        <p:xfrm>
          <a:off x="1036819" y="4633610"/>
          <a:ext cx="10149840" cy="1828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408941">
                  <a:extLst>
                    <a:ext uri="{9D8B030D-6E8A-4147-A177-3AD203B41FA5}">
                      <a16:colId xmlns:a16="http://schemas.microsoft.com/office/drawing/2014/main" val="853402913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924197298"/>
                    </a:ext>
                  </a:extLst>
                </a:gridCol>
                <a:gridCol w="2835139">
                  <a:extLst>
                    <a:ext uri="{9D8B030D-6E8A-4147-A177-3AD203B41FA5}">
                      <a16:colId xmlns:a16="http://schemas.microsoft.com/office/drawing/2014/main" val="1507237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002060"/>
                          </a:solidFill>
                          <a:latin typeface="Cambria"/>
                        </a:rPr>
                        <a:t>Prepared by :</a:t>
                      </a: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Project ID: SGP-Indus11</a:t>
                      </a: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Joshi Om (24DCE052)</a:t>
                      </a: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Krish Gajera (24DCE040)</a:t>
                      </a: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Drashti Dedaniya (24DCE029)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002060"/>
                          </a:solidFill>
                          <a:latin typeface="Cambria"/>
                        </a:rPr>
                        <a:t>Internal Guide:</a:t>
                      </a:r>
                      <a:endParaRPr lang="en-US" sz="2400" b="1" kern="1200" dirty="0" smtClean="0">
                        <a:solidFill>
                          <a:srgbClr val="3333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Dr. Deven Gol</a:t>
                      </a: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Assistant Professor</a:t>
                      </a: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Computer Engineering</a:t>
                      </a: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DEPSTAR, CHARUSAT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002060"/>
                          </a:solidFill>
                          <a:latin typeface="Cambria"/>
                        </a:rPr>
                        <a:t>Review:</a:t>
                      </a:r>
                      <a:endParaRPr lang="en-US" sz="2400" b="1" kern="1200" dirty="0" smtClean="0">
                        <a:solidFill>
                          <a:srgbClr val="3333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Review 2 — Technical Progress</a:t>
                      </a: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25 July 2026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4696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09080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88B20-417E-44A5-9E46-172FDC9DC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03" y="420580"/>
            <a:ext cx="9880984" cy="791568"/>
          </a:xfrm>
        </p:spPr>
        <p:txBody>
          <a:bodyPr>
            <a:normAutofit/>
          </a:bodyPr>
          <a:lstStyle/>
          <a:p>
            <a:r>
              <a:rPr sz="3000" b="1">
                <a:solidFill>
                  <a:srgbClr val="002060"/>
                </a:solidFill>
                <a:latin typeface="Cambria"/>
              </a:rPr>
              <a:t>Outline of Presentation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C2745-A1F9-4A3E-B6B4-18875BC92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1569C-E88B-4CE0-8561-EFBA90096C3A}" type="datetime1">
              <a:rPr lang="en-IN" smtClean="0"/>
              <a:t>11-07-2026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9229BD-8564-4A52-83BC-42D34CF41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2</a:t>
            </a:fld>
            <a:endParaRPr lang="en-IN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9BD91F-2C4F-5429-F6E6-7C065ACACBC1}"/>
              </a:ext>
            </a:extLst>
          </p:cNvPr>
          <p:cNvSpPr/>
          <p:nvPr/>
        </p:nvSpPr>
        <p:spPr>
          <a:xfrm>
            <a:off x="47309" y="1266921"/>
            <a:ext cx="12070080" cy="5638800"/>
          </a:xfrm>
          <a:prstGeom prst="rect">
            <a:avLst/>
          </a:prstGeom>
        </p:spPr>
        <p:txBody>
          <a:bodyPr wrap="square" anchor="t"/>
          <a:lstStyle/>
          <a:p>
            <a:pPr marL="342900" lvl="0" indent="-342900" algn="l">
              <a:spcAft>
                <a:spcPts val="1000"/>
              </a:spcAft>
              <a:buFont typeface="Wingdings" panose="05000000000000000000" pitchFamily="2" charset="2"/>
              <a:buChar char="ü"/>
            </a:pPr>
            <a:r>
              <a:rPr sz="2000" b="0">
                <a:solidFill>
                  <a:srgbClr val="222833"/>
                </a:solidFill>
                <a:latin typeface="Cambria"/>
              </a:rPr>
              <a:t>1.  Mentor Feedback &amp; Improvements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22833"/>
                </a:solidFill>
                <a:latin typeface="Cambria"/>
              </a:rPr>
              <a:t>2.  Problem Statement &amp; Objectives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22833"/>
                </a:solidFill>
                <a:latin typeface="Cambria"/>
              </a:rPr>
              <a:t>3.  System Architecture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22833"/>
                </a:solidFill>
                <a:latin typeface="Cambria"/>
              </a:rPr>
              <a:t>4.  Process Flow / Data-Flow Diagram (DFD)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22833"/>
                </a:solidFill>
                <a:latin typeface="Cambria"/>
              </a:rPr>
              <a:t>5.  Literature Review &amp; Existing Solutions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22833"/>
                </a:solidFill>
                <a:latin typeface="Cambria"/>
              </a:rPr>
              <a:t>6.  Implementation Progress (Screenshots + Code)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22833"/>
                </a:solidFill>
                <a:latin typeface="Cambria"/>
              </a:rPr>
              <a:t>7.  Challenges Faced &amp; Future Work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22833"/>
                </a:solidFill>
                <a:latin typeface="Cambria"/>
              </a:rPr>
              <a:t>8.  Conclusion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22833"/>
                </a:solidFill>
                <a:latin typeface="Cambria"/>
              </a:rPr>
              <a:t>9.  References</a:t>
            </a:r>
          </a:p>
          <a:p>
            <a:r>
              <a:rPr sz="2000" b="0">
                <a:solidFill>
                  <a:srgbClr val="222833"/>
                </a:solidFill>
                <a:latin typeface="Cambria"/>
              </a:rPr>
              <a:t>10.  Team Contributions</a:t>
            </a:r>
          </a:p>
        </p:txBody>
      </p:sp>
    </p:spTree>
    <p:extLst>
      <p:ext uri="{BB962C8B-B14F-4D97-AF65-F5344CB8AC3E}">
        <p14:creationId xmlns:p14="http://schemas.microsoft.com/office/powerpoint/2010/main" val="8662902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Guide Feedback &amp; Improvements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002060"/>
                </a:solidFill>
                <a:latin typeface="Cambria"/>
              </a:rPr>
              <a:t>Feedback received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Show measured evidence, not just a working demo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SRS: correct DFD notation and UML diagrams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Single spacing; each chapter on a new page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Conclusion, References, Definitions last, unnumbered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Abstract must be written by the team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Keep the repository updated for review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2E7D32"/>
                </a:solidFill>
                <a:latin typeface="Cambria"/>
              </a:rPr>
              <a:t>Action taken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Built an evaluation harness; results in this deck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DFDs redrawn in Gane-Sarson notation; 7 UML diagrams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Document reformatted to the prescribed style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Sections reordered as instructed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Abstract being written by the team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Repository public with continuous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01 · FEEDBACK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Problem Statement &amp;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600" b="1">
                <a:solidFill>
                  <a:srgbClr val="C62828"/>
                </a:solidFill>
                <a:latin typeface="Cambria"/>
              </a:rPr>
              <a:t>The problem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Banks must approve or block a payment in milliseconds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Rule-only systems miss new &amp; coordinated fraud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Pure ML systems cannot explain why they blocked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Analysts &amp; regulators need a reason for every decision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600" b="1">
                <a:solidFill>
                  <a:srgbClr val="2E7D32"/>
                </a:solidFill>
                <a:latin typeface="Cambria"/>
              </a:rPr>
              <a:t>Our objectives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Score each transaction 0–100 → APPROVE / REVIEW / BLOCK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Combine three engines — rules, graph, RAG-LLM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Attach a plain-English explanation to every decision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Detect fraud rings single checks cannot see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Deliver a live analyst dashboard on one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02 · PROBLEM &amp; OBJECTIVES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System Architecture — 5-Layer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03 ·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3904" y="1234440"/>
            <a:ext cx="4572000" cy="457200"/>
          </a:xfrm>
          <a:prstGeom prst="round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Client · React Dashboard (analyst UI)</a:t>
            </a:r>
          </a:p>
        </p:txBody>
      </p:sp>
      <p:sp>
        <p:nvSpPr>
          <p:cNvPr id="5" name="Down Arrow 4"/>
          <p:cNvSpPr/>
          <p:nvPr/>
        </p:nvSpPr>
        <p:spPr>
          <a:xfrm>
            <a:off x="5971032" y="1719072"/>
            <a:ext cx="256032" cy="256032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651760" y="2029968"/>
            <a:ext cx="6885432" cy="566928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Layer 1 — FastAPI Gateway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mbria"/>
              </a:rPr>
              <a:t>validate payload · load profile (Redis → MongoDB)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71032" y="2633472"/>
            <a:ext cx="256032" cy="237744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2 · Rule Engine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velocity · amount · blacklist · merchant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3 · Graph Analyzer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Neo4j — fraud rings, shared device/IP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4 · RAG Pipeline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ChromaDB + LLM (Ollama) — explains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788920"/>
            <a:ext cx="2560320" cy="2743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555B66"/>
                </a:solidFill>
                <a:latin typeface="Cambria"/>
              </a:rPr>
              <a:t>run concurrently — asyncio.gather()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71032" y="3968496"/>
            <a:ext cx="256032" cy="237744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51760" y="4279392"/>
            <a:ext cx="6885432" cy="603504"/>
          </a:xfrm>
          <a:prstGeom prst="round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Layer 5 — Decision Engine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Cambria"/>
              </a:rPr>
              <a:t>composite 0–100 → APPROVE / REVIEW / BLOCK + explanation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971032" y="4937760"/>
            <a:ext cx="256032" cy="219456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5175504"/>
            <a:ext cx="1828800" cy="3657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2060"/>
                </a:solidFill>
                <a:latin typeface="Cambria"/>
              </a:rPr>
              <a:t>Data stores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488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MongoDB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Neo4j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Redis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ChromaDB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002060"/>
                </a:solidFill>
                <a:latin typeface="Cambria"/>
              </a:rPr>
              <a:t>Process Flow / DFD — Transaction to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04 · PROCESS FLOW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325880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34440" y="1325880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 lIns="128016"/>
          <a:lstStyle/>
          <a:p>
            <a:pPr algn="ctr"/>
            <a:r>
              <a:rPr sz="1300" b="1">
                <a:solidFill>
                  <a:srgbClr val="002060"/>
                </a:solidFill>
                <a:latin typeface="Cambria"/>
              </a:rPr>
              <a:t>Client submits a transaction   </a:t>
            </a:r>
            <a:r>
              <a:rPr sz="1100">
                <a:solidFill>
                  <a:srgbClr val="555B66"/>
                </a:solidFill>
                <a:latin typeface="Cambria"/>
              </a:rPr>
              <a:t>POST /api/v1/transactions/analyze  (sender, receiver, amount, device, IP)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984248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1984248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 lIns="128016"/>
          <a:lstStyle/>
          <a:p>
            <a:pPr algn="ctr"/>
            <a:r>
              <a:rPr sz="1300" b="1">
                <a:solidFill>
                  <a:srgbClr val="002060"/>
                </a:solidFill>
                <a:latin typeface="Cambria"/>
              </a:rPr>
              <a:t>Validate &amp; load context   </a:t>
            </a:r>
            <a:r>
              <a:rPr sz="1100">
                <a:solidFill>
                  <a:srgbClr val="555B66"/>
                </a:solidFill>
                <a:latin typeface="Cambria"/>
              </a:rPr>
              <a:t>Pydantic schema check · fetch account profiles from Redis, fallback MongoDB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642615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2642615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 lIns="128016"/>
          <a:lstStyle/>
          <a:p>
            <a:pPr algn="ctr"/>
            <a:r>
              <a:rPr sz="1300" b="1">
                <a:solidFill>
                  <a:srgbClr val="002060"/>
                </a:solidFill>
                <a:latin typeface="Cambria"/>
              </a:rPr>
              <a:t>Run three engines concurrently   </a:t>
            </a:r>
            <a:r>
              <a:rPr sz="1100">
                <a:solidFill>
                  <a:srgbClr val="555B66"/>
                </a:solidFill>
                <a:latin typeface="Cambria"/>
              </a:rPr>
              <a:t>Rule Engine + Neo4j Graph Analyzer + RAG Pipeline via asyncio.gather()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3300983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4440" y="3300983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 lIns="128016"/>
          <a:lstStyle/>
          <a:p>
            <a:pPr algn="ctr"/>
            <a:r>
              <a:rPr sz="1300" b="1">
                <a:solidFill>
                  <a:srgbClr val="002060"/>
                </a:solidFill>
                <a:latin typeface="Cambria"/>
              </a:rPr>
              <a:t>Aggregate the scores   </a:t>
            </a:r>
            <a:r>
              <a:rPr sz="1100">
                <a:solidFill>
                  <a:srgbClr val="555B66"/>
                </a:solidFill>
                <a:latin typeface="Cambria"/>
              </a:rPr>
              <a:t>Decision Engine sums rule (0–40) + graph (0–30) + AI (0–30) = 0–100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959351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34440" y="3959351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 lIns="128016"/>
          <a:lstStyle/>
          <a:p>
            <a:pPr algn="ctr"/>
            <a:r>
              <a:rPr sz="1300" b="1">
                <a:solidFill>
                  <a:srgbClr val="002060"/>
                </a:solidFill>
                <a:latin typeface="Cambria"/>
              </a:rPr>
              <a:t>Decide &amp; explain   </a:t>
            </a:r>
            <a:r>
              <a:rPr sz="1100">
                <a:solidFill>
                  <a:srgbClr val="555B66"/>
                </a:solidFill>
                <a:latin typeface="Cambria"/>
              </a:rPr>
              <a:t>map to APPROVE (0–39) / REVIEW (40–69) / BLOCK (70+) + plain-English reason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617719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4440" y="4617719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 lIns="128016"/>
          <a:lstStyle/>
          <a:p>
            <a:pPr algn="ctr"/>
            <a:r>
              <a:rPr sz="1300" b="1">
                <a:solidFill>
                  <a:srgbClr val="002060"/>
                </a:solidFill>
                <a:latin typeface="Cambria"/>
              </a:rPr>
              <a:t>Persist &amp; respond   </a:t>
            </a:r>
            <a:r>
              <a:rPr sz="1100">
                <a:solidFill>
                  <a:srgbClr val="555B66"/>
                </a:solidFill>
                <a:latin typeface="Cambria"/>
              </a:rPr>
              <a:t>save record to MongoDB · return JSON (decision, score, breakdown)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5276087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5276087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 lIns="128016"/>
          <a:lstStyle/>
          <a:p>
            <a:pPr algn="ctr"/>
            <a:r>
              <a:rPr sz="1300" b="1">
                <a:solidFill>
                  <a:srgbClr val="002060"/>
                </a:solidFill>
                <a:latin typeface="Cambria"/>
              </a:rPr>
              <a:t>Dashboard reads results   </a:t>
            </a:r>
            <a:r>
              <a:rPr sz="1100">
                <a:solidFill>
                  <a:srgbClr val="555B66"/>
                </a:solidFill>
                <a:latin typeface="Cambria"/>
              </a:rPr>
              <a:t>stats endpoints feed live charts and the flagged-transactions table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002060"/>
                </a:solidFill>
                <a:latin typeface="Cambria"/>
              </a:rPr>
              <a:t>Literature Review &amp; Existing 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05 · LITERATURE REVIEW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14300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023360"/>
                <a:gridCol w="2468880"/>
                <a:gridCol w="2286000"/>
              </a:tblGrid>
              <a:tr h="5638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System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Approach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Explains why?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Open / on-prem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FICO Falcon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Neural nets on shared bank data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 — black box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proprietary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Feedzai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ML risk platform (RiskOps)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commercial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Featurespace ARIC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Adaptive behavioural analytics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commercial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Traditional rule engines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Static hand-written rules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Yes, but rigid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Varies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Indus11 (ours)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Rules + graph + RAG-LLM ensemble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Yes — every decision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Yes — open, local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4937760"/>
            <a:ext cx="11430000" cy="12801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28090"/>
                </a:solidFill>
                <a:latin typeface="Cambria"/>
              </a:rPr>
              <a:t>Research basis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The APATE study (Van Vlasselaer et al., 2015) shows that combining graph-based features with traditional features reaches AUC &gt; 0.98 — evidence that our rules-plus-graph design outperforms either approach alone.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002060"/>
                </a:solidFill>
                <a:latin typeface="Cambria"/>
              </a:rPr>
              <a:t>Implementation — Live Dashboard &amp;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IMPLEMENTATION</a:t>
            </a:r>
          </a:p>
        </p:txBody>
      </p:sp>
      <p:pic>
        <p:nvPicPr>
          <p:cNvPr id="4" name="Picture 3" descr="screensho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417320"/>
            <a:ext cx="5886450" cy="4709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212080" y="1417320"/>
            <a:ext cx="5886450" cy="4709160"/>
          </a:xfrm>
          <a:prstGeom prst="rect">
            <a:avLst/>
          </a:prstGeom>
          <a:noFill/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420624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2060"/>
                </a:solidFill>
                <a:latin typeface="Cambria"/>
              </a:rPr>
              <a:t>React dashboard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Live risk metrics &amp; decision mix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Score-distribution chart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Flagged-transactions feed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Click a transaction → full detail + reason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Approve / Block override on REVIEW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222833"/>
                </a:solidFill>
                <a:latin typeface="Cambria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02060"/>
                </a:solidFill>
                <a:latin typeface="Cambria"/>
              </a:rPr>
              <a:t>FastAPI backend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12 documented REST endpoints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health · transactions · accounts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graph · stats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Swagger UI at /docs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All engines run via asyncio.gather()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002060"/>
                </a:solidFill>
                <a:latin typeface="Cambria"/>
              </a:rPr>
              <a:t>Implementation — Structure, Code &amp;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IMPLEMENTATION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371600"/>
            <a:ext cx="5120640" cy="3977639"/>
          </a:xfrm>
          <a:prstGeom prst="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tIns="91440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Project structure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app/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  main.py        FastAPI app + startup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  config.py      settings (.env)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  api/routes/    transactions · accounts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                 graph · stats · health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  core/          db · neo4j · redis · rate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  models/        Beanie documents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  schemas/       Pydantic contracts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  services/      rule_engine · graph_analyzer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                 rag_pipeline · decision_engine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dashboard/       React + Vite + Recharts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scripts/         seed_mongo · seed_neo4j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tests/           test_fraud.py (8 tests)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docker-compose.yml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0" y="1371600"/>
            <a:ext cx="6080760" cy="2331720"/>
          </a:xfrm>
          <a:prstGeom prst="rect">
            <a:avLst/>
          </a:prstGeom>
          <a:solidFill>
            <a:srgbClr val="1E2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8FB5E8"/>
                </a:solidFill>
                <a:latin typeface="Cambria"/>
              </a:rPr>
              <a:t>Decision Engine — composite scoring</a:t>
            </a:r>
          </a:p>
          <a:p>
            <a:r>
              <a:rPr sz="1050">
                <a:solidFill>
                  <a:srgbClr val="E6EDF3"/>
                </a:solidFill>
                <a:latin typeface="Courier New"/>
              </a:rPr>
              <a:t>composite = rule.score + graph.score + rag.score</a:t>
            </a:r>
          </a:p>
          <a:p>
            <a:r>
              <a:rPr sz="1050">
                <a:solidFill>
                  <a:srgbClr val="E6EDF3"/>
                </a:solidFill>
                <a:latin typeface="Courier New"/>
              </a:rPr>
              <a:t>composite = min(composite, 100)</a:t>
            </a:r>
          </a:p>
          <a:p>
            <a:r>
              <a:rPr sz="1050">
                <a:solidFill>
                  <a:srgbClr val="E6EDF3"/>
                </a:solidFill>
                <a:latin typeface="Courier New"/>
              </a:rPr>
              <a:t> </a:t>
            </a:r>
          </a:p>
          <a:p>
            <a:r>
              <a:rPr sz="1050">
                <a:solidFill>
                  <a:srgbClr val="E6EDF3"/>
                </a:solidFill>
                <a:latin typeface="Courier New"/>
              </a:rPr>
              <a:t>if   composite &gt;= BLOCK_THRESHOLD:   # 70+</a:t>
            </a:r>
          </a:p>
          <a:p>
            <a:r>
              <a:rPr sz="1050">
                <a:solidFill>
                  <a:srgbClr val="E6EDF3"/>
                </a:solidFill>
                <a:latin typeface="Courier New"/>
              </a:rPr>
              <a:t>     decision = Decision.BLOCK</a:t>
            </a:r>
          </a:p>
          <a:p>
            <a:r>
              <a:rPr sz="1050">
                <a:solidFill>
                  <a:srgbClr val="E6EDF3"/>
                </a:solidFill>
                <a:latin typeface="Courier New"/>
              </a:rPr>
              <a:t>elif composite &gt;= REVIEW_THRESHOLD:  # 40-69</a:t>
            </a:r>
          </a:p>
          <a:p>
            <a:r>
              <a:rPr sz="1050">
                <a:solidFill>
                  <a:srgbClr val="E6EDF3"/>
                </a:solidFill>
                <a:latin typeface="Courier New"/>
              </a:rPr>
              <a:t>     decision = Decision.REVIEW</a:t>
            </a:r>
          </a:p>
          <a:p>
            <a:r>
              <a:rPr sz="1050">
                <a:solidFill>
                  <a:srgbClr val="E6EDF3"/>
                </a:solidFill>
                <a:latin typeface="Courier New"/>
              </a:rPr>
              <a:t>else:</a:t>
            </a:r>
          </a:p>
          <a:p>
            <a:r>
              <a:rPr sz="1050">
                <a:solidFill>
                  <a:srgbClr val="E6EDF3"/>
                </a:solidFill>
                <a:latin typeface="Courier New"/>
              </a:rPr>
              <a:t>     decision = Decision.APPROVE     # 0-39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0" y="3858768"/>
            <a:ext cx="6080760" cy="658368"/>
          </a:xfrm>
          <a:prstGeom prst="rect">
            <a:avLst/>
          </a:prstGeom>
          <a:solidFill>
            <a:srgbClr val="FBE9E9"/>
          </a:solidFill>
          <a:ln w="127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/>
          <a:lstStyle/>
          <a:p>
            <a:pPr algn="ctr"/>
            <a:r>
              <a:rPr sz="1200" b="1">
                <a:solidFill>
                  <a:srgbClr val="222833"/>
                </a:solidFill>
                <a:latin typeface="Cambria"/>
              </a:rPr>
              <a:t>Live example  ₹7,04,000 wire → known fraud ring    </a:t>
            </a:r>
            <a:r>
              <a:rPr sz="1200" b="1">
                <a:solidFill>
                  <a:srgbClr val="C62828"/>
                </a:solidFill>
                <a:latin typeface="Cambria"/>
              </a:rPr>
              <a:t>BLOCK 83/100 = rule 25 + graph 30 + AI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0" y="4663440"/>
            <a:ext cx="6080760" cy="713232"/>
          </a:xfrm>
          <a:prstGeom prst="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833"/>
                </a:solidFill>
                <a:latin typeface="Cambria"/>
              </a:rPr>
              <a:t>Stack: Python · FastAPI · MongoDB · Neo4j · Redis · ChromaDB · LangChain+Ollama · React · Docker · pytest (8/8)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Detection Accuracy — Measured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55B66"/>
                </a:solidFill>
                <a:latin typeface="Cambria"/>
              </a:rPr>
              <a:t>208 labelled synthetic transactions — 52 fraudulent, 156 legitimate — replayed through the complete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2E7D32"/>
                </a:solidFill>
                <a:latin typeface="Cambria"/>
              </a:rPr>
              <a:t>93.8%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Precision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of flagged were fraud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028090"/>
                </a:solidFill>
                <a:latin typeface="Cambria"/>
              </a:rPr>
              <a:t>86.5%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Recall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of fraud was caught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002060"/>
                </a:solidFill>
                <a:latin typeface="Cambria"/>
              </a:rPr>
              <a:t>0.90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F1 score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combined measure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0684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2E7D32"/>
                </a:solidFill>
                <a:latin typeface="Cambria"/>
              </a:rPr>
              <a:t>36/36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Ring recall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mule-ring hops detected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3337560"/>
          <a:ext cx="55778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/>
                <a:gridCol w="1859280"/>
                <a:gridCol w="1859280"/>
              </a:tblGrid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Decision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Actually fraud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Actually legitimate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APPROVE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153</a:t>
                      </a:r>
                    </a:p>
                  </a:txBody>
                  <a:tcPr/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3</a:t>
                      </a:r>
                    </a:p>
                  </a:txBody>
                  <a:tcPr/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3337560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C62828"/>
                </a:solidFill>
                <a:latin typeface="Cambria"/>
              </a:rPr>
              <a:t>Key finding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222833"/>
                </a:solidFill>
                <a:latin typeface="Cambria"/>
              </a:rPr>
              <a:t>No transaction reached the block threshold of 70.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555B66"/>
                </a:solidFill>
                <a:latin typeface="Cambria"/>
              </a:rPr>
              <a:t>Every detection is routed to a human analyst; nothing is blocked automatically. Lowering the band would automate blocking — but would also auto-block the three false positives. That is a policy decision, not a configuration change.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3035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55B66"/>
                </a:solidFill>
                <a:latin typeface="Cambria"/>
              </a:rPr>
              <a:t>Measured on synthetic data in which fraud is far denser than a real payment feed, so precision here is optimistic — it measures the separation between the engines, not production performance.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Progress Since the Last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002060"/>
                </a:solidFill>
                <a:latin typeface="Cambria"/>
              </a:rPr>
              <a:t>Specification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Front matter numbered in roman (i-ix); body restarts at 1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Every reference cited in the text at its point of use, IEEE style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Tables restyled — caption above, columns sized to content, none split across a page break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32 functional requirements consolidated to 28 real, distinct ones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Diagram set re-checked against the guide's notation comments and against the running code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028090"/>
                </a:solidFill>
                <a:latin typeface="Cambria"/>
              </a:rPr>
              <a:t>Product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Flagged-transactions table made interactive — filters, search, sortable columns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Entrance and count-up motion, with an automatic reduced-motion fallback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Static demo mode: the dashboard runs from a snapshot with no live backend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Weekly-report generator with an automatic duplicate-reference check across weeks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Challenges Faced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B26A00"/>
                </a:solidFill>
                <a:latin typeface="Cambria"/>
              </a:rPr>
              <a:t>Challenges faced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Coordinating four data stores on one machine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Keeping model output consistent — solved with a 30-point cap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Writing Cypher queries for circular money-mule flows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Two defects the benchmark exposed: a repeated request returned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a server error, and a parsing fault silently zeroed the AI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score — both fixed and covered by tests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2E7D32"/>
                </a:solidFill>
                <a:latin typeface="Cambria"/>
              </a:rPr>
              <a:t>Future work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Resolve the block-threshold trade-off from recorded scores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Add API authentication and request logging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Fraud-ring visualisation on the graph endpoint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Investigate the 7 undetected frauds; fan-in / fan-out patterns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Train a supervised classifier as a fourth signal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Reduce latency, presently dominated by the local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07 · CHALLENGES &amp; FUTURE WORK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Conclusion — Where the Project Stands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82880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002060"/>
                </a:solidFill>
                <a:latin typeface="Cambria"/>
              </a:rPr>
              <a:t>Measured, not asserted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93.8% precision, 86.5% recall, F1 0.90 on 208 labelled transactions.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47288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82880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028090"/>
                </a:solidFill>
                <a:latin typeface="Cambria"/>
              </a:rPr>
              <a:t>The graph layer earns its place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All 36 planted mule-ring transactions were detected.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37376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82880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62828"/>
                </a:solidFill>
                <a:latin typeface="Cambria"/>
              </a:rPr>
              <a:t>A finding worth reporting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Nothing reaches the block threshold; every catch reaches an analyst.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27464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82880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2E7D32"/>
                </a:solidFill>
                <a:latin typeface="Cambria"/>
              </a:rPr>
              <a:t>Engineering discipline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27 automated tests, continuous integration, one-command deployment.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[1]  Van Vlasselaer, V. et al. (2015). APATE: A novel approach for automated credit card transaction fraud detection using network-based extensions. Decision Support Systems, 75, 38–48.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[2]  FICO. Falcon Fraud Manager — product documentation. fico.com.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[3]  Feedzai. RiskOps platform overview. feedzai.com.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[4]  Featurespace. ARIC Risk Hub — adaptive behavioural analytics. featurespace.com.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[5]  Neo4j. Graph algorithms for fraud detection — developer guide. neo4j.com.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[6]  LangChain &amp; ChromaDB documentation — retrieval-augmented generation.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Team Contributions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3703320" cy="4846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897380" y="1600200"/>
            <a:ext cx="822960" cy="82296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JO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2060"/>
                </a:solidFill>
                <a:latin typeface="Cambria"/>
              </a:rPr>
              <a:t>Joshi Om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2060"/>
                </a:solidFill>
                <a:latin typeface="Cambria"/>
              </a:rPr>
              <a:t>24DCE052  ·  Platform &amp; Documentation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42900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>
                <a:solidFill>
                  <a:srgbClr val="222833"/>
                </a:solidFill>
                <a:latin typeface="Cambria"/>
              </a:rPr>
              <a:t>•  FastAPI gateway, MongoDB/Beanie schema, Redis caching and rate limiting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222833"/>
                </a:solidFill>
                <a:latin typeface="Cambria"/>
              </a:rPr>
              <a:t>•  Rule Engine — velocity, amount, blacklist, merchant, risk-tier checks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222833"/>
                </a:solidFill>
                <a:latin typeface="Cambria"/>
              </a:rPr>
              <a:t>•  Docker Compose stack for all five services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222833"/>
                </a:solidFill>
                <a:latin typeface="Cambria"/>
              </a:rPr>
              <a:t>•  SRS requirements and database design; verified every schema table against the running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71600"/>
            <a:ext cx="3703320" cy="4846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83580" y="1600200"/>
            <a:ext cx="822960" cy="82296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KG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2060"/>
                </a:solidFill>
                <a:latin typeface="Cambria"/>
              </a:rPr>
              <a:t>Krish Gajera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28090"/>
                </a:solidFill>
                <a:latin typeface="Cambria"/>
              </a:rPr>
              <a:t>24DCE040  ·  Graph &amp; Fraud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2" y="342900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>
                <a:solidFill>
                  <a:srgbClr val="222833"/>
                </a:solidFill>
                <a:latin typeface="Cambria"/>
              </a:rPr>
              <a:t>•  Neo4j schema and Cypher queries for rings, circular flow, fee-skimming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222833"/>
                </a:solidFill>
                <a:latin typeface="Cambria"/>
              </a:rPr>
              <a:t>•  Graph Analyzer — shared device/IP clustering, fraud-label propagation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222833"/>
                </a:solidFill>
                <a:latin typeface="Cambria"/>
              </a:rPr>
              <a:t>•  Synthetic fraud dataset generator — 500 accounts, 3 planted mule rings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222833"/>
                </a:solidFill>
                <a:latin typeface="Cambria"/>
              </a:rPr>
              <a:t>•  UML and DFD diagram set for the specification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371600"/>
            <a:ext cx="3703320" cy="4846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69780" y="1600200"/>
            <a:ext cx="822960" cy="822960"/>
          </a:xfrm>
          <a:prstGeom prst="ellipse">
            <a:avLst/>
          </a:prstGeom>
          <a:solidFill>
            <a:srgbClr val="5B3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DD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2060"/>
                </a:solidFill>
                <a:latin typeface="Cambria"/>
              </a:rPr>
              <a:t>Drashti Dedaniya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B3A8E"/>
                </a:solidFill>
                <a:latin typeface="Cambria"/>
              </a:rPr>
              <a:t>24DCE029  ·  AI &amp; 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342900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>
                <a:solidFill>
                  <a:srgbClr val="222833"/>
                </a:solidFill>
                <a:latin typeface="Cambria"/>
              </a:rPr>
              <a:t>•  LangChain RAG pipeline, ChromaDB knowledge base, prompt engineering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222833"/>
                </a:solidFill>
                <a:latin typeface="Cambria"/>
              </a:rPr>
              <a:t>•  Decision Engine — score aggregation and threshold mapping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222833"/>
                </a:solidFill>
                <a:latin typeface="Cambria"/>
              </a:rPr>
              <a:t>•  React dashboard — charts, interactive table, motion, demo mode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222833"/>
                </a:solidFill>
                <a:latin typeface="Cambria"/>
              </a:rPr>
              <a:t>•  Review-2 deck and the standalone speaking script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377440"/>
            <a:ext cx="9418320" cy="201168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4800" b="1">
                <a:solidFill>
                  <a:srgbClr val="002060"/>
                </a:solidFill>
                <a:latin typeface="Cambria"/>
              </a:rPr>
              <a:t>Thank You</a:t>
            </a:r>
          </a:p>
          <a:p>
            <a:pPr algn="ctr">
              <a:spcAft>
                <a:spcPts val="400"/>
              </a:spcAft>
            </a:pPr>
            <a:r>
              <a:rPr sz="2000" b="0">
                <a:solidFill>
                  <a:srgbClr val="555B66"/>
                </a:solidFill>
                <a:latin typeface="Cambria"/>
              </a:rPr>
              <a:t>Questions · Suggestions · Comments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Joshi Om · Krish Gajera · Drashti Dedaniya  —  CHARUSAT · DEPSTAR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mbria DG">
      <a:majorFont>
        <a:latin typeface="Cambria"/>
        <a:ea typeface=""/>
        <a:cs typeface=""/>
      </a:majorFont>
      <a:minorFont>
        <a:latin typeface="Cambria"/>
        <a:ea typeface="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27107</TotalTime>
  <Words>3616</Words>
  <Application>Microsoft Office PowerPoint</Application>
  <PresentationFormat>Widescreen</PresentationFormat>
  <Paragraphs>690</Paragraphs>
  <Slides>40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54" baseType="lpstr">
      <vt:lpstr>PMingLiU-ExtB</vt:lpstr>
      <vt:lpstr>ADLaM Display</vt:lpstr>
      <vt:lpstr>Alasassy Caps</vt:lpstr>
      <vt:lpstr>Aptos</vt:lpstr>
      <vt:lpstr>Arial</vt:lpstr>
      <vt:lpstr>Calibri</vt:lpstr>
      <vt:lpstr>Cambria</vt:lpstr>
      <vt:lpstr>David</vt:lpstr>
      <vt:lpstr>Perpetua</vt:lpstr>
      <vt:lpstr>Shruti</vt:lpstr>
      <vt:lpstr>Times New Roman</vt:lpstr>
      <vt:lpstr>Trade Gothic Inline</vt:lpstr>
      <vt:lpstr>Wingdings</vt:lpstr>
      <vt:lpstr>Office Theme</vt:lpstr>
      <vt:lpstr>PowerPoint Presentation</vt:lpstr>
      <vt:lpstr>Outline of Presentation</vt:lpstr>
      <vt:lpstr> Introduction[1] </vt:lpstr>
      <vt:lpstr>Motivation</vt:lpstr>
      <vt:lpstr>  Objectives of Research Work  </vt:lpstr>
      <vt:lpstr>PowerPoint Presentation</vt:lpstr>
      <vt:lpstr>Background</vt:lpstr>
      <vt:lpstr>Continue…</vt:lpstr>
      <vt:lpstr>Continue…</vt:lpstr>
      <vt:lpstr>Block In Blockchain Architecture</vt:lpstr>
      <vt:lpstr>Continue…</vt:lpstr>
      <vt:lpstr>Core Blockchain Architecture Components [11-33]</vt:lpstr>
      <vt:lpstr>Blockchain Layered Architecture [3-12]</vt:lpstr>
      <vt:lpstr>Evolution of Blockchain[8-24]</vt:lpstr>
      <vt:lpstr>PowerPoint Presentation</vt:lpstr>
      <vt:lpstr> Bitcoin Transaction Flow [31] </vt:lpstr>
      <vt:lpstr>Transaction In Blockchain [34]</vt:lpstr>
      <vt:lpstr>Exploring the Key Components of Bitcoin Core [36]</vt:lpstr>
      <vt:lpstr>An Overview of Essential Bitcoin Core Components </vt:lpstr>
      <vt:lpstr>PowerPoint Presentation</vt:lpstr>
      <vt:lpstr>Consensus Algorithm[5]</vt:lpstr>
      <vt:lpstr>Proof of Work (PoW) [16]</vt:lpstr>
      <vt:lpstr>Proof of Stake (PoS) [11]</vt:lpstr>
      <vt:lpstr>Proof of Elapsed Time (PoET) [23]</vt:lpstr>
      <vt:lpstr>Summary of Consensus Algorithms[21-26]</vt:lpstr>
      <vt:lpstr>PowerPoint Presentation</vt:lpstr>
      <vt:lpstr> Literature Survey </vt:lpstr>
      <vt:lpstr> Literature Survey </vt:lpstr>
      <vt:lpstr> Literature Survey </vt:lpstr>
      <vt:lpstr>Literature Review Summary [1-28]</vt:lpstr>
      <vt:lpstr>Literature Review Summary [1-28]</vt:lpstr>
      <vt:lpstr>Research Gap : Literature Review Summary [1-28]</vt:lpstr>
      <vt:lpstr>Consensus Algorithms Overview - PoW vs PoS[11]</vt:lpstr>
      <vt:lpstr>Why PoW??? [11-17]</vt:lpstr>
      <vt:lpstr>Why PoS??? [11-17]</vt:lpstr>
      <vt:lpstr> Impact on Industry/Society </vt:lpstr>
      <vt:lpstr>   Future Applications[12-18]    </vt:lpstr>
      <vt:lpstr>  Conclusion and Future Scope </vt:lpstr>
      <vt:lpstr>References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Prof Deven A Gol</dc:creator>
  <cp:lastModifiedBy>CHARUSAT</cp:lastModifiedBy>
  <cp:revision>3683</cp:revision>
  <cp:lastPrinted>2024-04-30T12:52:07Z</cp:lastPrinted>
  <dcterms:created xsi:type="dcterms:W3CDTF">2021-11-23T04:44:57Z</dcterms:created>
  <dcterms:modified xsi:type="dcterms:W3CDTF">2026-07-11T06:36:48Z</dcterms:modified>
</cp:coreProperties>
</file>