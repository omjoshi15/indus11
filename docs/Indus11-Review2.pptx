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41648" y="658368"/>
            <a:ext cx="1060704" cy="1060704"/>
          </a:xfrm>
          <a:prstGeom prst="roundRect">
            <a:avLst>
              <a:gd name="adj" fmla="val 13793"/>
            </a:avLst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91440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847088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600" kern="0" dirty="0">
                <a:solidFill>
                  <a:srgbClr val="E8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INDUS11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523744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Financial Risk &amp; Fraud Decision Engine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30540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TECHNICAL PROGRESS REVIEW</a:t>
            </a:r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25 July 2026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914400" y="36210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Joshi Om   ·   Krish Gajera   ·   Drashti Dedaniya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3968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Group Project · CHARUSAT — DEPSTAR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FEEDBACK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feedback — and what we changed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3977640" cy="3493008"/>
          </a:xfrm>
          <a:prstGeom prst="roundRect">
            <a:avLst>
              <a:gd name="adj" fmla="val 1571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1790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53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657" y="1651041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5910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received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9808" y="2103120"/>
            <a:ext cx="3566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real technical progress, not just the project idea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 concrete system architecture and module design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process-flow / data-flow diagram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existing solutions in a literature review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implementation evidence — screenshots, code, structure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GitHub repo with team + mentor as collaborators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280160"/>
            <a:ext cx="3977640" cy="3493008"/>
          </a:xfrm>
          <a:prstGeom prst="roundRect">
            <a:avLst>
              <a:gd name="adj" fmla="val 1571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51790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53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177" y="1651041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5910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 made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910328" y="2103120"/>
            <a:ext cx="3566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from concept to a running end-to-end prototype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the 5-layer architecture and how modules interact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step-by-step data-flow diagram of the pipeline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comparison of commercial systems, backed by research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+ 12 REST APIs running on real data (shown here)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organised for GitHub with structured commits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PROBLEM &amp;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solving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3977640" cy="3493008"/>
          </a:xfrm>
          <a:prstGeom prst="roundRect">
            <a:avLst>
              <a:gd name="adj" fmla="val 1571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4813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1810512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must approve or block a payment in milliseconds.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Rule-only systems miss new and coordinated fraud; pure machine-learning systems cannot explain why they blocked a customer.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and regulators need a clear reason behind every decision.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280160"/>
            <a:ext cx="3977640" cy="3493008"/>
          </a:xfrm>
          <a:prstGeom prst="roundRect">
            <a:avLst>
              <a:gd name="adj" fmla="val 1571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10328" y="14813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objectives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10328" y="1810512"/>
            <a:ext cx="3566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transaction 0–100 and return APPROVE / REVIEW / BLOCK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three engines — rules, graph analysis, and a RAG-LLM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 plain-English explanation to every decision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fraud rings that single-transaction checks cannot see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live dashboard for analysts, running on one machine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5-layer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0" y="12801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816352" y="128016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 ·  React Dashboard (analyst UI)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206240" y="17373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286000" y="1938528"/>
            <a:ext cx="4572000" cy="475488"/>
          </a:xfrm>
          <a:prstGeom prst="roundRect">
            <a:avLst>
              <a:gd name="adj" fmla="val 11538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59152" y="2011680"/>
            <a:ext cx="4425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FastAPI Gateway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359152" y="2267712"/>
            <a:ext cx="4425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payload · load account profile (Redis → MongoDB)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94944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concurrently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06240" y="243230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2670048"/>
            <a:ext cx="2514600" cy="786384"/>
          </a:xfrm>
          <a:prstGeom prst="roundRect">
            <a:avLst>
              <a:gd name="adj" fmla="val 6977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3232" y="274320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· Rule Engine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13232" y="2999232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· amount · blacklist · merchant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310128" y="2670048"/>
            <a:ext cx="2514600" cy="786384"/>
          </a:xfrm>
          <a:prstGeom prst="roundRect">
            <a:avLst>
              <a:gd name="adj" fmla="val 6977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83280" y="274320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· Graph Analyzer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83280" y="2999232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fraud rings, shared device/IP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80176" y="2670048"/>
            <a:ext cx="2514600" cy="786384"/>
          </a:xfrm>
          <a:prstGeom prst="roundRect">
            <a:avLst>
              <a:gd name="adj" fmla="val 6977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53328" y="274320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· RAG Pipeline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053328" y="2999232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+ LLM (Ollama) — explains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206240" y="34930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286000" y="3694176"/>
            <a:ext cx="4572000" cy="475488"/>
          </a:xfrm>
          <a:prstGeom prst="roundRect">
            <a:avLst>
              <a:gd name="adj" fmla="val 11538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359152" y="3767328"/>
            <a:ext cx="4425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Decision Engine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359152" y="4023360"/>
            <a:ext cx="4425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0–100  →  APPROVE / REVIEW / BLOCK  +  explanation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206240" y="41879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02920" y="44439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stores: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417320" y="4443984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17320" y="44439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4443984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3240" y="44439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4443984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9160" y="44439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55080" y="4443984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44439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PROCESS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Data-flow — from transaction to decision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399032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3990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298448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submits a transaction  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/api/v1/transactions/analyze  (sender, receiver, amount, device, IP)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792224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1892808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892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1792224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load context  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 check · fetch account profiles from Redis, fallback MongoDB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286000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2386584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386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2286000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three engines concurrently  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 + Neo4j Graph Analyzer + RAG Pipeline via asyncio.gather()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779776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2880360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880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2779776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the scores  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 sums rule (0–40) + graph (0–30) + AI (0–30) = 0–100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273552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" y="3374136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3741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3273552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&amp; explain  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APPROVE (0–39) / REVIEW (40–69) / BLOCK (70+) + plain-English reason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76732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" y="3867912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3867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3767328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&amp; respond  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record to MongoDB · return JSON (decision, score, breakdown)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4261104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8368" y="4361688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361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4261104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reads results  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endpoints feed live charts and the flagged-transactions table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LITERATURE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— and where we differ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880360"/>
                <a:gridCol w="1783080"/>
                <a:gridCol w="16916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53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53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why?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53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/ on-prem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53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FICO Falcon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D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networks on shared bank 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— black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D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proprietary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Feedzai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D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risk platform (RiskOps)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D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commercial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Featurespace ARIC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D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behavioural analytics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D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commercial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rule engines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D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hand-written rules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but rigid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D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Indus11 (ours)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+ graph + RAG-LLM ensemble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every decision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open, local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1480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411480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basis:  </a:t>
            </a:r>
            <a:pPr indent="0" marL="0">
              <a:buNone/>
            </a:pPr>
            <a:r>
              <a:rPr lang="en-US" sz="10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APATE study (Van Vlasselaer et al., 2015) shows combining graph features with traditional features reaches AUC &gt; 0.98 — evidence that our rules-plus-graph design outperforms either alone.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IMPLEMENTATION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system — dashboard &amp; working API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069080" cy="3063240"/>
          </a:xfrm>
          <a:prstGeom prst="roundRect">
            <a:avLst>
              <a:gd name="adj" fmla="val 1791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private/tmp/claude-501/-Users-joshiom-Projects-SGP-indus11/282d4297-a9f7-4ad9-821e-23c005777968/scratchpad/shots/dashboar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62456"/>
            <a:ext cx="3941064" cy="29352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3891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 — live risk metrics, decision mix, flagged transactions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663440" y="1298448"/>
            <a:ext cx="3977640" cy="3063240"/>
          </a:xfrm>
          <a:prstGeom prst="roundRect">
            <a:avLst>
              <a:gd name="adj" fmla="val 1791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private/tmp/claude-501/-Users-joshiom-Projects-SGP-indus11/282d4297-a9f7-4ad9-821e-23c005777968/scratchpad/shots/swagger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362456"/>
            <a:ext cx="3849624" cy="29352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43891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12 documented REST endpoints (health, transactions, accounts, graph, stats)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IMPLEMENTATION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Codebase, code &amp; technology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246120" cy="3474720"/>
          </a:xfrm>
          <a:prstGeom prst="roundRect">
            <a:avLst>
              <a:gd name="adj" fmla="val 1690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40817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58368" y="1700784"/>
            <a:ext cx="2971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main.py        FastAPI app + startup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config.py      settings (.env)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api/routes/    transactions · accounts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graph · stats · health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core/          db · neo4j · redis · rate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models/        Beanie documents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schemas/       Pydantic contracts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      rule_engine · graph_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analyzer · rag_pipeline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· decision_engine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       React + Vite + Recharts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         seed_mongo · seed_neo4j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           test_fraud.py (8 tests)</a:t>
            </a:r>
            <a:endParaRPr lang="en-US" sz="8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820" dirty="0"/>
          </a:p>
        </p:txBody>
      </p:sp>
      <p:sp>
        <p:nvSpPr>
          <p:cNvPr id="7" name="Shape 5"/>
          <p:cNvSpPr/>
          <p:nvPr/>
        </p:nvSpPr>
        <p:spPr>
          <a:xfrm>
            <a:off x="3886200" y="1298448"/>
            <a:ext cx="4754880" cy="2084832"/>
          </a:xfrm>
          <a:prstGeom prst="roundRect">
            <a:avLst>
              <a:gd name="adj" fmla="val 2632"/>
            </a:avLst>
          </a:prstGeom>
          <a:solidFill>
            <a:srgbClr val="1C2539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041648" y="13898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 — composite scoring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9080" y="1682496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composite = rule.score + graph.score + rag.score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composite = min(composite, 100)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  composite &gt;= BLOCK_THRESHOLD:   # 70+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decision = Decision.BLOCK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composite &gt;= REVIEW_THRESHOLD:  # 40–69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decision = Decision.REVIEW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decision = Decision.APPROVE     # 0–39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86200" y="3474720"/>
            <a:ext cx="4754880" cy="1298448"/>
          </a:xfrm>
          <a:prstGeom prst="roundRect">
            <a:avLst>
              <a:gd name="adj" fmla="val 4225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041648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example 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$9,200 wire → known fraud ring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41648" y="387705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 </a:t>
            </a:r>
            <a:pPr indent="0" marL="0">
              <a:buNone/>
            </a:pPr>
            <a:r>
              <a:rPr lang="en-US" sz="13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83/100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=  rule 25  +  graph 30  +  AI 28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041648" y="42428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 Python · FastAPI · MongoDB · Neo4j · Redis · ChromaDB · LangChain + Ollama · React · Docker · pytest (8/8 passing)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CHALLENGES &amp; FUTURE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hard, and what is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3977640" cy="3493008"/>
          </a:xfrm>
          <a:prstGeom prst="roundRect">
            <a:avLst>
              <a:gd name="adj" fmla="val 1571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1790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53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657" y="1651041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5910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9808" y="2103120"/>
            <a:ext cx="3566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four data stores (Mongo, Neo4j, Redis, Chroma) locally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LLM output consistent — solved with temperature 0 and a 30-point cap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Cypher queries to detect circular money-mule flows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Migrating the data layer from MySQL to MongoDB for schema flexibility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280160"/>
            <a:ext cx="3977640" cy="3493008"/>
          </a:xfrm>
          <a:prstGeom prst="roundRect">
            <a:avLst>
              <a:gd name="adj" fmla="val 1571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51790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53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177" y="1651041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5910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910328" y="2103120"/>
            <a:ext cx="3566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accuracy on the synthetic dataset (precision / recall)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supervised model as a fourth scoring signal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fraud-ring visualisation to the dashboard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 the API — authentication, encryption, load testing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SRS and the final project report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project stands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90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1C253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614099"/>
            <a:ext cx="228234" cy="2282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4630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end-to-end prototype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25880" y="175564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layers run together and score real transactions.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02920" y="219456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85800" y="2313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1C253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27" y="2437059"/>
            <a:ext cx="228234" cy="2282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22860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+ 12 REST APIs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325880" y="257860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see decisions, charts, and flagged transactions in real time.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85800" y="313639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1C253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427" y="3260019"/>
            <a:ext cx="228234" cy="2282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10896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+ AI, explained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25880" y="340156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rings caught by Neo4j; every decision carries a plain-English reason.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384048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161D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" y="395935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1C253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427" y="4082979"/>
            <a:ext cx="228234" cy="22823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9319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 for the next milestones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325880" y="422452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accuracy metrics, hardening, SRS, and the final report.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Indus11 — Technical Progress Review</dc:title>
  <dc:subject>PptxGenJS Presentation</dc:subject>
  <dc:creator>Indus11 Team</dc:creator>
  <cp:lastModifiedBy>Indus11 Team</cp:lastModifiedBy>
  <cp:revision>1</cp:revision>
  <dcterms:created xsi:type="dcterms:W3CDTF">2026-07-15T17:09:50Z</dcterms:created>
  <dcterms:modified xsi:type="dcterms:W3CDTF">2026-07-15T17:09:50Z</dcterms:modified>
</cp:coreProperties>
</file>