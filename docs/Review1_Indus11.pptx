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5" d="100"/>
          <a:sy n="125" d="100"/>
        </p:scale>
        <p:origin x="160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3666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120640" cy="5120640"/>
          </a:xfrm>
          <a:prstGeom prst="ellipse">
            <a:avLst/>
          </a:prstGeom>
          <a:solidFill>
            <a:srgbClr val="F1E8D8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E4E9E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77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GROUP PROJECT · DEPSTAR CHARUSAT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1C2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INDUS11</a:t>
            </a:r>
            <a:endParaRPr lang="en-US" sz="6000" dirty="0"/>
          </a:p>
        </p:txBody>
      </p:sp>
      <p:sp>
        <p:nvSpPr>
          <p:cNvPr id="6" name="Shape 4"/>
          <p:cNvSpPr/>
          <p:nvPr/>
        </p:nvSpPr>
        <p:spPr>
          <a:xfrm>
            <a:off x="841248" y="2880360"/>
            <a:ext cx="2926080" cy="109728"/>
          </a:xfrm>
          <a:prstGeom prst="line">
            <a:avLst/>
          </a:prstGeom>
          <a:ln w="28575">
            <a:solidFill>
              <a:srgbClr val="C77D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1089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Financial Risk &amp; Fraud Decision Engine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3611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 ·  idea, technology, and plan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4892040"/>
            <a:ext cx="76809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6E4DE"/>
            </a:solidFill>
            <a:prstDash val="solid"/>
          </a:ln>
          <a:effectLst>
            <a:outerShdw blurRad="127000" dist="38100" dir="5400000" algn="bl" rotWithShape="0">
              <a:srgbClr val="9C9A9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97280" y="5120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Joshi Om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97280" y="54864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11880" y="5120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 Gajera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11880" y="54864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126480" y="5120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Drashti Dedaniya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126480" y="54864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105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6C0951-5D0C-17DD-CE40-E9AD49A40F59}"/>
              </a:ext>
            </a:extLst>
          </p:cNvPr>
          <p:cNvSpPr txBox="1"/>
          <p:nvPr/>
        </p:nvSpPr>
        <p:spPr>
          <a:xfrm>
            <a:off x="7752080" y="6492240"/>
            <a:ext cx="3029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Internal Guide – Dr. Deven Gol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77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</a:t>
            </a:r>
            <a:r>
              <a:rPr lang="en-US" sz="1200" b="1" kern="0" spc="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&amp; DOMAIN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6675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C2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 fraud decisions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539496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6E4DE"/>
            </a:solidFill>
            <a:prstDash val="solid"/>
          </a:ln>
          <a:effectLst>
            <a:outerShdw blurRad="127000" dist="38100" dir="5400000" algn="bl" rotWithShape="0">
              <a:srgbClr val="9C9A9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514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77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DOMAIN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283464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fraud detection. Banks must approve or block every payment in milliseconds — rule-only systems miss new fraud tricks, and pure AI models can't explain why they blocked someone.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2331720"/>
            <a:ext cx="544068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6E4DE"/>
            </a:solidFill>
            <a:prstDash val="solid"/>
          </a:ln>
          <a:effectLst>
            <a:outerShdw blurRad="127000" dist="38100" dir="5400000" algn="bl" rotWithShape="0">
              <a:srgbClr val="9C9A9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0" y="2514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77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IDEA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0" y="2816352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every transaction with three independent engines — rules, graph analysis of fraud rings, and a RAG-grounded LLM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them into one 0–100 score with clear thresholds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the decision plus a natural-language explanation an analyst can act 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4526280"/>
            <a:ext cx="3611880" cy="1600200"/>
          </a:xfrm>
          <a:prstGeom prst="roundRect">
            <a:avLst>
              <a:gd name="adj" fmla="val 5714"/>
            </a:avLst>
          </a:prstGeom>
          <a:solidFill>
            <a:srgbClr val="E1EEE4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475488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E7A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754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17320" y="4727448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17320" y="5010912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0–39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544068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payment — release instantly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416552" y="4526280"/>
            <a:ext cx="3611880" cy="1600200"/>
          </a:xfrm>
          <a:prstGeom prst="roundRect">
            <a:avLst>
              <a:gd name="adj" fmla="val 5714"/>
            </a:avLst>
          </a:prstGeom>
          <a:solidFill>
            <a:srgbClr val="F3E3CE"/>
          </a:solidFill>
          <a:ln/>
        </p:spPr>
      </p:sp>
      <p:sp>
        <p:nvSpPr>
          <p:cNvPr id="17" name="Shape 15"/>
          <p:cNvSpPr/>
          <p:nvPr/>
        </p:nvSpPr>
        <p:spPr>
          <a:xfrm>
            <a:off x="4645152" y="475488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77D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45152" y="4754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77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285232" y="4727448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77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85232" y="5010912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77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40–69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45152" y="544068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— queue for an analyst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284464" y="4526280"/>
            <a:ext cx="3611880" cy="1600200"/>
          </a:xfrm>
          <a:prstGeom prst="roundRect">
            <a:avLst>
              <a:gd name="adj" fmla="val 5714"/>
            </a:avLst>
          </a:prstGeom>
          <a:solidFill>
            <a:srgbClr val="F4E1DD"/>
          </a:solidFill>
          <a:ln/>
        </p:spPr>
      </p:sp>
      <p:sp>
        <p:nvSpPr>
          <p:cNvPr id="23" name="Shape 21"/>
          <p:cNvSpPr/>
          <p:nvPr/>
        </p:nvSpPr>
        <p:spPr>
          <a:xfrm>
            <a:off x="8513064" y="475488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14A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13064" y="4754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1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153144" y="4727448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1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153144" y="5010912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1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70–100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513064" y="544068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 — stop the transaction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INDUS11 · Mentor Deck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91153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77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r>
              <a:rPr lang="en-US" sz="1200" b="1" kern="0" spc="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LANDSCAPE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C2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Existing systems — and our niche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77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ALREADY OUT THERE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FICO Falcon  —  </a:t>
            </a: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+ shared bank data; scores in milliseconds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532888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Feedzai  —  </a:t>
            </a: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AI fraud + anti-money-laundering platform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3099816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Featurespace ARIC  —  </a:t>
            </a: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behavioural profile built per customer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3666744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 Actimize  —  </a:t>
            </a: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fraud + AML investigation suite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4233672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Fraud Detector · Stripe Radar  —  </a:t>
            </a: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cloud ML fraud services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178040" y="1600200"/>
            <a:ext cx="4434840" cy="4709160"/>
          </a:xfrm>
          <a:prstGeom prst="roundRect">
            <a:avLst>
              <a:gd name="adj" fmla="val 2474"/>
            </a:avLst>
          </a:prstGeom>
          <a:solidFill>
            <a:srgbClr val="1C2541"/>
          </a:solidFill>
          <a:ln w="12700">
            <a:solidFill>
              <a:srgbClr val="E6E4DE"/>
            </a:solidFill>
            <a:prstDash val="solid"/>
          </a:ln>
          <a:effectLst>
            <a:outerShdw blurRad="127000" dist="38100" dir="5400000" algn="bl" rotWithShape="0">
              <a:srgbClr val="9C9A9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452360" y="182880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C77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INDUS11 FITS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452360" y="2286000"/>
            <a:ext cx="38862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every decision in plain English — not a black box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+ graph + a capped LLM — every point is traceable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fraud-ring detection via a graph database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· self-hostable · runs free on a laptop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INDUS11 · Mentor Deck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1153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77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</a:t>
            </a:r>
            <a:r>
              <a:rPr lang="en-US" sz="1200" b="1" kern="0" spc="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BUILD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C2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working fraud-detection API and dashboard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6E4DE"/>
            </a:solidFill>
            <a:prstDash val="solid"/>
          </a:ln>
          <a:effectLst>
            <a:outerShdw blurRad="127000" dist="38100" dir="5400000" algn="bl" rotWithShape="0">
              <a:srgbClr val="9C9A9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574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4E9E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63040" y="203911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analysis API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/analyze runs a transaction through all engines and returns a decision; 12 REST endpoints in total.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783080"/>
            <a:ext cx="54406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6E4DE"/>
            </a:solidFill>
            <a:prstDash val="solid"/>
          </a:ln>
          <a:effectLst>
            <a:outerShdw blurRad="127000" dist="38100" dir="5400000" algn="bl" rotWithShape="0">
              <a:srgbClr val="9C9A9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0" y="20574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3E3CE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7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223760" y="203911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83680" y="260604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Recharts: risk distribution, score histogram, and a feed of flagged transactions.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54406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6E4DE"/>
            </a:solidFill>
            <a:prstDash val="solid"/>
          </a:ln>
          <a:effectLst>
            <a:outerShdw blurRad="127000" dist="38100" dir="5400000" algn="bl" rotWithShape="0">
              <a:srgbClr val="9C9A9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1148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1EEE4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409651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test dataset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466344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accounts and ~1,000 transactions with 3 fraud rings planted to test detection.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09360" y="3840480"/>
            <a:ext cx="54406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6E4DE"/>
            </a:solidFill>
            <a:prstDash val="solid"/>
          </a:ln>
          <a:effectLst>
            <a:outerShdw blurRad="127000" dist="38100" dir="5400000" algn="bl" rotWithShape="0">
              <a:srgbClr val="9C9A9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83680" y="41148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4E1DD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1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223760" y="409651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Explained decisions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83680" y="466344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result returns APPROVE / REVIEW / BLOCK with a plain-English reason.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669280"/>
            <a:ext cx="11201400" cy="658368"/>
          </a:xfrm>
          <a:prstGeom prst="roundRect">
            <a:avLst>
              <a:gd name="adj" fmla="val 16667"/>
            </a:avLst>
          </a:prstGeom>
          <a:solidFill>
            <a:srgbClr val="F1E8D8"/>
          </a:solidFill>
          <a:ln w="12700">
            <a:solidFill>
              <a:srgbClr val="F1E8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5788152"/>
            <a:ext cx="10744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 </a:t>
            </a: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prototype on synthetic data that demonstrates the detection approach end-to-end — not a production banking deployment.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INDUS11 · Mentor Deck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91153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77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</a:t>
            </a:r>
            <a:r>
              <a:rPr lang="en-US" sz="1200" b="1" kern="0" spc="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C2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Open-source stack, runs on one laptop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724912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E6E4DE"/>
            </a:solidFill>
            <a:prstDash val="solid"/>
          </a:ln>
          <a:effectLst>
            <a:outerShdw blurRad="127000" dist="38100" dir="5400000" algn="bl" rotWithShape="0">
              <a:srgbClr val="9C9A9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11680"/>
            <a:ext cx="384048" cy="91440"/>
          </a:xfrm>
          <a:prstGeom prst="roundRect">
            <a:avLst>
              <a:gd name="adj" fmla="val 50000"/>
            </a:avLst>
          </a:prstGeom>
          <a:solidFill>
            <a:srgbClr val="3C5A7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221992"/>
            <a:ext cx="22677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2743200"/>
            <a:ext cx="226771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Python 3.12 API — the gateway that runs all engines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56432" y="1783080"/>
            <a:ext cx="2724912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E6E4DE"/>
            </a:solidFill>
            <a:prstDash val="solid"/>
          </a:ln>
          <a:effectLst>
            <a:outerShdw blurRad="127000" dist="38100" dir="5400000" algn="bl" rotWithShape="0">
              <a:srgbClr val="9C9A9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85032" y="2011680"/>
            <a:ext cx="384048" cy="91440"/>
          </a:xfrm>
          <a:prstGeom prst="roundRect">
            <a:avLst>
              <a:gd name="adj" fmla="val 50000"/>
            </a:avLst>
          </a:prstGeom>
          <a:solidFill>
            <a:srgbClr val="3E7A55"/>
          </a:solidFill>
          <a:ln/>
        </p:spPr>
      </p:sp>
      <p:sp>
        <p:nvSpPr>
          <p:cNvPr id="10" name="Text 8"/>
          <p:cNvSpPr/>
          <p:nvPr/>
        </p:nvSpPr>
        <p:spPr>
          <a:xfrm>
            <a:off x="3685032" y="2221992"/>
            <a:ext cx="22677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685032" y="2743200"/>
            <a:ext cx="226771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&amp; accounts (Beanie ODM) — flexible document store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364224" y="1783080"/>
            <a:ext cx="2724912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E6E4DE"/>
            </a:solidFill>
            <a:prstDash val="solid"/>
          </a:ln>
          <a:effectLst>
            <a:outerShdw blurRad="127000" dist="38100" dir="5400000" algn="bl" rotWithShape="0">
              <a:srgbClr val="9C9A9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92824" y="2011680"/>
            <a:ext cx="384048" cy="91440"/>
          </a:xfrm>
          <a:prstGeom prst="roundRect">
            <a:avLst>
              <a:gd name="adj" fmla="val 50000"/>
            </a:avLst>
          </a:prstGeom>
          <a:solidFill>
            <a:srgbClr val="C77D2E"/>
          </a:solidFill>
          <a:ln/>
        </p:spPr>
      </p:sp>
      <p:sp>
        <p:nvSpPr>
          <p:cNvPr id="14" name="Text 12"/>
          <p:cNvSpPr/>
          <p:nvPr/>
        </p:nvSpPr>
        <p:spPr>
          <a:xfrm>
            <a:off x="6592824" y="2221992"/>
            <a:ext cx="22677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592824" y="2743200"/>
            <a:ext cx="226771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database — fraud-ring &amp; shared-device detection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272016" y="1783080"/>
            <a:ext cx="2724912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E6E4DE"/>
            </a:solidFill>
            <a:prstDash val="solid"/>
          </a:ln>
          <a:effectLst>
            <a:outerShdw blurRad="127000" dist="38100" dir="5400000" algn="bl" rotWithShape="0">
              <a:srgbClr val="9C9A9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500616" y="2011680"/>
            <a:ext cx="384048" cy="91440"/>
          </a:xfrm>
          <a:prstGeom prst="roundRect">
            <a:avLst>
              <a:gd name="adj" fmla="val 50000"/>
            </a:avLst>
          </a:prstGeom>
          <a:solidFill>
            <a:srgbClr val="B14A3C"/>
          </a:solidFill>
          <a:ln/>
        </p:spPr>
      </p:sp>
      <p:sp>
        <p:nvSpPr>
          <p:cNvPr id="18" name="Text 16"/>
          <p:cNvSpPr/>
          <p:nvPr/>
        </p:nvSpPr>
        <p:spPr>
          <a:xfrm>
            <a:off x="9500616" y="2221992"/>
            <a:ext cx="22677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500616" y="2743200"/>
            <a:ext cx="226771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cache + rolling velocity windows for speed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160520"/>
            <a:ext cx="2724912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E6E4DE"/>
            </a:solidFill>
            <a:prstDash val="solid"/>
          </a:ln>
          <a:effectLst>
            <a:outerShdw blurRad="127000" dist="38100" dir="5400000" algn="bl" rotWithShape="0">
              <a:srgbClr val="9C9A9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4389120"/>
            <a:ext cx="384048" cy="91440"/>
          </a:xfrm>
          <a:prstGeom prst="roundRect">
            <a:avLst>
              <a:gd name="adj" fmla="val 50000"/>
            </a:avLst>
          </a:prstGeom>
          <a:solidFill>
            <a:srgbClr val="3C5A7A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599432"/>
            <a:ext cx="22677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+ Ollama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77240" y="5120640"/>
            <a:ext cx="226771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 with a local LLM (llama3) — free &amp; offline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456432" y="4160520"/>
            <a:ext cx="2724912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E6E4DE"/>
            </a:solidFill>
            <a:prstDash val="solid"/>
          </a:ln>
          <a:effectLst>
            <a:outerShdw blurRad="127000" dist="38100" dir="5400000" algn="bl" rotWithShape="0">
              <a:srgbClr val="9C9A9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85032" y="4389120"/>
            <a:ext cx="384048" cy="91440"/>
          </a:xfrm>
          <a:prstGeom prst="roundRect">
            <a:avLst>
              <a:gd name="adj" fmla="val 50000"/>
            </a:avLst>
          </a:prstGeom>
          <a:solidFill>
            <a:srgbClr val="3E7A55"/>
          </a:solidFill>
          <a:ln/>
        </p:spPr>
      </p:sp>
      <p:sp>
        <p:nvSpPr>
          <p:cNvPr id="26" name="Text 24"/>
          <p:cNvSpPr/>
          <p:nvPr/>
        </p:nvSpPr>
        <p:spPr>
          <a:xfrm>
            <a:off x="3685032" y="4599432"/>
            <a:ext cx="22677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3685032" y="5120640"/>
            <a:ext cx="226771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 — 58 fraud-pattern documents for retrieval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364224" y="4160520"/>
            <a:ext cx="2724912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E6E4DE"/>
            </a:solidFill>
            <a:prstDash val="solid"/>
          </a:ln>
          <a:effectLst>
            <a:outerShdw blurRad="127000" dist="38100" dir="5400000" algn="bl" rotWithShape="0">
              <a:srgbClr val="9C9A9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592824" y="4389120"/>
            <a:ext cx="384048" cy="91440"/>
          </a:xfrm>
          <a:prstGeom prst="roundRect">
            <a:avLst>
              <a:gd name="adj" fmla="val 50000"/>
            </a:avLst>
          </a:prstGeom>
          <a:solidFill>
            <a:srgbClr val="C77D2E"/>
          </a:solidFill>
          <a:ln/>
        </p:spPr>
      </p:sp>
      <p:sp>
        <p:nvSpPr>
          <p:cNvPr id="30" name="Text 28"/>
          <p:cNvSpPr/>
          <p:nvPr/>
        </p:nvSpPr>
        <p:spPr>
          <a:xfrm>
            <a:off x="6592824" y="4599432"/>
            <a:ext cx="22677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592824" y="5120640"/>
            <a:ext cx="226771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operations dashboard with Recharts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272016" y="4160520"/>
            <a:ext cx="2724912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E6E4DE"/>
            </a:solidFill>
            <a:prstDash val="solid"/>
          </a:ln>
          <a:effectLst>
            <a:outerShdw blurRad="127000" dist="38100" dir="5400000" algn="bl" rotWithShape="0">
              <a:srgbClr val="9C9A9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500616" y="4389120"/>
            <a:ext cx="384048" cy="91440"/>
          </a:xfrm>
          <a:prstGeom prst="roundRect">
            <a:avLst>
              <a:gd name="adj" fmla="val 50000"/>
            </a:avLst>
          </a:prstGeom>
          <a:solidFill>
            <a:srgbClr val="B14A3C"/>
          </a:solidFill>
          <a:ln/>
        </p:spPr>
      </p:sp>
      <p:sp>
        <p:nvSpPr>
          <p:cNvPr id="34" name="Text 32"/>
          <p:cNvSpPr/>
          <p:nvPr/>
        </p:nvSpPr>
        <p:spPr>
          <a:xfrm>
            <a:off x="9500616" y="4599432"/>
            <a:ext cx="22677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9500616" y="5120640"/>
            <a:ext cx="226771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One-command spin-up of the whole stack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INDUS11 · Mentor Deck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1153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77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</a:t>
            </a:r>
            <a:r>
              <a:rPr lang="en-US" sz="1200" b="1" kern="0" spc="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C2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AI layer scores and explains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6E4DE"/>
            </a:solidFill>
            <a:prstDash val="solid"/>
          </a:ln>
          <a:effectLst>
            <a:outerShdw blurRad="127000" dist="38100" dir="5400000" algn="bl" rotWithShape="0">
              <a:srgbClr val="9C9A9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77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49808" y="2487168"/>
            <a:ext cx="22037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flagged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2907792"/>
            <a:ext cx="220370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&amp; graph raise signals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154680" y="2331720"/>
            <a:ext cx="384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77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538728" y="182880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6E4DE"/>
            </a:solidFill>
            <a:prstDash val="solid"/>
          </a:ln>
          <a:effectLst>
            <a:outerShdw blurRad="127000" dist="38100" dir="5400000" algn="bl" rotWithShape="0">
              <a:srgbClr val="9C9A9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739896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77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739896" y="2487168"/>
            <a:ext cx="22037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patterns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739896" y="2907792"/>
            <a:ext cx="220370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similar fraud cases in ChromaDB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144768" y="2331720"/>
            <a:ext cx="384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77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528816" y="182880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6E4DE"/>
            </a:solidFill>
            <a:prstDash val="solid"/>
          </a:ln>
          <a:effectLst>
            <a:outerShdw blurRad="127000" dist="38100" dir="5400000" algn="bl" rotWithShape="0">
              <a:srgbClr val="9C9A9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29984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77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729984" y="2487168"/>
            <a:ext cx="22037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reasons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729984" y="2907792"/>
            <a:ext cx="220370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llama3 reads the examples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134856" y="2331720"/>
            <a:ext cx="384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77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518904" y="182880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1C2541"/>
          </a:solidFill>
          <a:ln w="12700">
            <a:solidFill>
              <a:srgbClr val="E6E4DE"/>
            </a:solidFill>
            <a:prstDash val="solid"/>
          </a:ln>
          <a:effectLst>
            <a:outerShdw blurRad="127000" dist="38100" dir="5400000" algn="bl" rotWithShape="0">
              <a:srgbClr val="9C9A9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720072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77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720072" y="2487168"/>
            <a:ext cx="22037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+ explanation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720072" y="2907792"/>
            <a:ext cx="220370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 points and a plain-English reason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3703320"/>
            <a:ext cx="5486400" cy="1828800"/>
          </a:xfrm>
          <a:prstGeom prst="roundRect">
            <a:avLst>
              <a:gd name="adj" fmla="val 6000"/>
            </a:avLst>
          </a:prstGeom>
          <a:solidFill>
            <a:srgbClr val="E4E9EF"/>
          </a:solidFill>
          <a:ln w="12700">
            <a:solidFill>
              <a:srgbClr val="E4E9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38862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A KNOWLEDGE BASE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7240" y="420624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fraud-pattern documents — wire fraud, money-mule rings, card-not-present, account takeover and more — so the model reasons from real examples, not guesswork.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72200" y="3703320"/>
            <a:ext cx="5440680" cy="1828800"/>
          </a:xfrm>
          <a:prstGeom prst="roundRect">
            <a:avLst>
              <a:gd name="adj" fmla="val 6000"/>
            </a:avLst>
          </a:prstGeom>
          <a:solidFill>
            <a:srgbClr val="F3E3CE"/>
          </a:solidFill>
          <a:ln w="12700">
            <a:solidFill>
              <a:srgbClr val="F3E3C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38862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77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BY DESIGN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0" y="420624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is capped at 30 of 100 points and set to temperature 0, so the reliable rule and graph evidence stays in control. It runs locally — no data leaves the machine.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INDUS11 · Mentor Deck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1153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77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</a:t>
            </a:r>
            <a:r>
              <a:rPr lang="en-US" sz="1200" b="1" kern="0" spc="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AI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C2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&amp; AI — in plain terms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6E4DE"/>
            </a:solidFill>
            <a:prstDash val="solid"/>
          </a:ln>
          <a:effectLst>
            <a:outerShdw blurRad="127000" dist="38100" dir="5400000" algn="bl" rotWithShape="0">
              <a:srgbClr val="9C9A9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01168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security guard for money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48463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stolen accounts — many accounts sharing one device or IP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card testing — too many payments too fast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fraud rings — hidden money-laundering groups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itself — input checks, rate limits, full audit log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783080"/>
            <a:ext cx="5440680" cy="4206240"/>
          </a:xfrm>
          <a:prstGeom prst="roundRect">
            <a:avLst>
              <a:gd name="adj" fmla="val 2609"/>
            </a:avLst>
          </a:prstGeom>
          <a:solidFill>
            <a:srgbClr val="1C2541"/>
          </a:solidFill>
          <a:ln w="12700">
            <a:solidFill>
              <a:srgbClr val="E6E4DE"/>
            </a:solidFill>
            <a:prstDash val="solid"/>
          </a:ln>
          <a:effectLst>
            <a:outerShdw blurRad="127000" dist="38100" dir="5400000" algn="bl" rotWithShape="0">
              <a:srgbClr val="9C9A9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46520" y="201168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77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MACHINE LEARNING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46520" y="23317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Recognises patterns, explains itself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46520" y="2834640"/>
            <a:ext cx="48463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finds transactions similar to known fraud — like a photo app grouping faces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writes a plain-English reason for every decision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privately and offline — no data leaves the machine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on a short leash — capped so the hard checks stay in control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INDUS11 · Mentor Deck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1153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77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</a:t>
            </a:r>
            <a:r>
              <a:rPr lang="en-US" sz="1200" b="1" kern="0" spc="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C2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Grounded in the research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39312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E6E4DE"/>
            </a:solidFill>
            <a:prstDash val="solid"/>
          </a:ln>
          <a:effectLst>
            <a:outerShdw blurRad="127000" dist="38100" dir="5400000" algn="bl" rotWithShape="0">
              <a:srgbClr val="9C9A9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2024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3E3C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77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404872"/>
            <a:ext cx="318211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APATE — network-based fraud detection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3063240"/>
            <a:ext cx="3182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(Van Vlasselaer et al., 2015)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3383280"/>
            <a:ext cx="318211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graph (network) features with traditional features reaches AUC &gt; 0.98 and decides within the industry's 6-second limit.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4297680"/>
            <a:ext cx="3182112" cy="0"/>
          </a:xfrm>
          <a:prstGeom prst="line">
            <a:avLst/>
          </a:prstGeom>
          <a:noFill/>
          <a:ln w="12700">
            <a:solidFill>
              <a:srgbClr val="E6E4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389120"/>
            <a:ext cx="31821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C77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us:  Evidence that rules + graph together beat either alone — our core design.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70832" y="1691640"/>
            <a:ext cx="3639312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E6E4DE"/>
            </a:solidFill>
            <a:prstDash val="solid"/>
          </a:ln>
          <a:effectLst>
            <a:outerShdw blurRad="127000" dist="38100" dir="5400000" algn="bl" rotWithShape="0">
              <a:srgbClr val="9C9A9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99432" y="192024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3E3CE"/>
          </a:solidFill>
          <a:ln/>
        </p:spPr>
      </p:sp>
      <p:sp>
        <p:nvSpPr>
          <p:cNvPr id="14" name="Text 12"/>
          <p:cNvSpPr/>
          <p:nvPr/>
        </p:nvSpPr>
        <p:spPr>
          <a:xfrm>
            <a:off x="4599432" y="1920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77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99432" y="2404872"/>
            <a:ext cx="318211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for fraud — SHAP-based studies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99432" y="3063240"/>
            <a:ext cx="3182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(2024–2025)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99432" y="3383280"/>
            <a:ext cx="318211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improves analyst trust and regulatory compliance, especially under heavy class imbalance.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99432" y="4297680"/>
            <a:ext cx="3182112" cy="0"/>
          </a:xfrm>
          <a:prstGeom prst="line">
            <a:avLst/>
          </a:prstGeom>
          <a:noFill/>
          <a:ln w="12700">
            <a:solidFill>
              <a:srgbClr val="E6E4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99432" y="4389120"/>
            <a:ext cx="31821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C77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us:  Backs our explanation-first approach — a reason with every decision.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193024" y="1691640"/>
            <a:ext cx="3639312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E6E4DE"/>
            </a:solidFill>
            <a:prstDash val="solid"/>
          </a:ln>
          <a:effectLst>
            <a:outerShdw blurRad="127000" dist="38100" dir="5400000" algn="bl" rotWithShape="0">
              <a:srgbClr val="9C9A9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421624" y="192024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3E3CE"/>
          </a:solidFill>
          <a:ln/>
        </p:spPr>
      </p:sp>
      <p:sp>
        <p:nvSpPr>
          <p:cNvPr id="22" name="Text 20"/>
          <p:cNvSpPr/>
          <p:nvPr/>
        </p:nvSpPr>
        <p:spPr>
          <a:xfrm>
            <a:off x="8421624" y="1920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77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421624" y="2404872"/>
            <a:ext cx="318211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LLM-enhanced graph fraud detection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421624" y="3063240"/>
            <a:ext cx="3182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(2025)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421624" y="3383280"/>
            <a:ext cx="318211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latest research pairs LLMs with graphs for fraud — while flagging LLM security as an open risk.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421624" y="4297680"/>
            <a:ext cx="3182112" cy="0"/>
          </a:xfrm>
          <a:prstGeom prst="line">
            <a:avLst/>
          </a:prstGeom>
          <a:noFill/>
          <a:ln w="12700">
            <a:solidFill>
              <a:srgbClr val="E6E4D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21624" y="4389120"/>
            <a:ext cx="31821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C77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us:  Our RAG + graph design sits on this frontier — and is why we cap the LLM at 30/100.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5120640"/>
            <a:ext cx="11283696" cy="914400"/>
          </a:xfrm>
          <a:prstGeom prst="roundRect">
            <a:avLst>
              <a:gd name="adj" fmla="val 12000"/>
            </a:avLst>
          </a:prstGeom>
          <a:solidFill>
            <a:srgbClr val="F1E8D8"/>
          </a:solidFill>
          <a:ln w="12700">
            <a:solidFill>
              <a:srgbClr val="F1E8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5257800"/>
            <a:ext cx="1082649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 </a:t>
            </a: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literature backs our two core bets — graph + traditional features beat either alone, and explainability materially improves fraud systems.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INDUS11 · Mentor Deck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91153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77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</a:t>
            </a:r>
            <a:r>
              <a:rPr lang="en-US" sz="1200" b="1" kern="0" spc="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C2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Contributions — clear ownership per layer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39312" cy="4297680"/>
          </a:xfrm>
          <a:prstGeom prst="roundRect">
            <a:avLst>
              <a:gd name="adj" fmla="val 3015"/>
            </a:avLst>
          </a:prstGeom>
          <a:solidFill>
            <a:srgbClr val="FFFFFF"/>
          </a:solidFill>
          <a:ln w="12700">
            <a:solidFill>
              <a:srgbClr val="E6E4DE"/>
            </a:solidFill>
            <a:prstDash val="solid"/>
          </a:ln>
          <a:effectLst>
            <a:outerShdw blurRad="127000" dist="38100" dir="5400000" algn="bl" rotWithShape="0">
              <a:srgbClr val="9C9A9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11680"/>
            <a:ext cx="640080" cy="640080"/>
          </a:xfrm>
          <a:prstGeom prst="ellipse">
            <a:avLst/>
          </a:prstGeom>
          <a:solidFill>
            <a:srgbClr val="3C5A7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00200" y="2011680"/>
            <a:ext cx="2359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Joshi Om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600200" y="2313432"/>
            <a:ext cx="2359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&amp; Rules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2834640"/>
            <a:ext cx="3090672" cy="0"/>
          </a:xfrm>
          <a:prstGeom prst="line">
            <a:avLst/>
          </a:prstGeom>
          <a:noFill/>
          <a:ln w="12700">
            <a:solidFill>
              <a:srgbClr val="E6E4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017520"/>
            <a:ext cx="3090672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server &amp; REST API design</a:t>
            </a:r>
            <a:endParaRPr lang="en-US" sz="11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schema · Beanie ODM</a:t>
            </a:r>
            <a:endParaRPr lang="en-US" sz="11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caching &amp; velocity windows</a:t>
            </a:r>
            <a:endParaRPr lang="en-US" sz="11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 — amount, velocity, blacklist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70832" y="1737360"/>
            <a:ext cx="3639312" cy="4297680"/>
          </a:xfrm>
          <a:prstGeom prst="roundRect">
            <a:avLst>
              <a:gd name="adj" fmla="val 3015"/>
            </a:avLst>
          </a:prstGeom>
          <a:solidFill>
            <a:srgbClr val="FFFFFF"/>
          </a:solidFill>
          <a:ln w="12700">
            <a:solidFill>
              <a:srgbClr val="E6E4DE"/>
            </a:solidFill>
            <a:prstDash val="solid"/>
          </a:ln>
          <a:effectLst>
            <a:outerShdw blurRad="127000" dist="38100" dir="5400000" algn="bl" rotWithShape="0">
              <a:srgbClr val="9C9A9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45152" y="2011680"/>
            <a:ext cx="640080" cy="640080"/>
          </a:xfrm>
          <a:prstGeom prst="ellipse">
            <a:avLst/>
          </a:prstGeom>
          <a:solidFill>
            <a:srgbClr val="3E7A55"/>
          </a:solidFill>
          <a:ln/>
        </p:spPr>
      </p:sp>
      <p:sp>
        <p:nvSpPr>
          <p:cNvPr id="13" name="Text 11"/>
          <p:cNvSpPr/>
          <p:nvPr/>
        </p:nvSpPr>
        <p:spPr>
          <a:xfrm>
            <a:off x="4645152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22392" y="2011680"/>
            <a:ext cx="2359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 Gajera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422392" y="2313432"/>
            <a:ext cx="2359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Intelligence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45152" y="2834640"/>
            <a:ext cx="3090672" cy="0"/>
          </a:xfrm>
          <a:prstGeom prst="line">
            <a:avLst/>
          </a:prstGeom>
          <a:noFill/>
          <a:ln w="12700">
            <a:solidFill>
              <a:srgbClr val="E6E4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45152" y="3017520"/>
            <a:ext cx="3090672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schema &amp; Cypher fraud queries</a:t>
            </a:r>
            <a:endParaRPr lang="en-US" sz="11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Fraud-ring &amp; shared-device detection</a:t>
            </a:r>
            <a:endParaRPr lang="en-US" sz="11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fraud dataset (500 accounts)</a:t>
            </a:r>
            <a:endParaRPr lang="en-US" sz="11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Fraud-label propagation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93024" y="1737360"/>
            <a:ext cx="3639312" cy="4297680"/>
          </a:xfrm>
          <a:prstGeom prst="roundRect">
            <a:avLst>
              <a:gd name="adj" fmla="val 3015"/>
            </a:avLst>
          </a:prstGeom>
          <a:solidFill>
            <a:srgbClr val="FFFFFF"/>
          </a:solidFill>
          <a:ln w="12700">
            <a:solidFill>
              <a:srgbClr val="E6E4DE"/>
            </a:solidFill>
            <a:prstDash val="solid"/>
          </a:ln>
          <a:effectLst>
            <a:outerShdw blurRad="127000" dist="38100" dir="5400000" algn="bl" rotWithShape="0">
              <a:srgbClr val="9C9A9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467344" y="2011680"/>
            <a:ext cx="640080" cy="640080"/>
          </a:xfrm>
          <a:prstGeom prst="ellipse">
            <a:avLst/>
          </a:prstGeom>
          <a:solidFill>
            <a:srgbClr val="C77D2E"/>
          </a:solidFill>
          <a:ln/>
        </p:spPr>
      </p:sp>
      <p:sp>
        <p:nvSpPr>
          <p:cNvPr id="20" name="Text 18"/>
          <p:cNvSpPr/>
          <p:nvPr/>
        </p:nvSpPr>
        <p:spPr>
          <a:xfrm>
            <a:off x="8467344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244584" y="2011680"/>
            <a:ext cx="2359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Drashti Dedaniya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9244584" y="2313432"/>
            <a:ext cx="2359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77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Experience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467344" y="2834640"/>
            <a:ext cx="3090672" cy="0"/>
          </a:xfrm>
          <a:prstGeom prst="line">
            <a:avLst/>
          </a:prstGeom>
          <a:noFill/>
          <a:ln w="12700">
            <a:solidFill>
              <a:srgbClr val="E6E4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67344" y="3017520"/>
            <a:ext cx="3090672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 — LangChain + ChromaDB</a:t>
            </a:r>
            <a:endParaRPr lang="en-US" sz="11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prompt &amp; local Ollama integration</a:t>
            </a:r>
            <a:endParaRPr lang="en-US" sz="11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engine — score aggregation</a:t>
            </a:r>
            <a:endParaRPr lang="en-US" sz="11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 &amp; stats API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INDUS11 · Mentor Deck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1153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77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</a:t>
            </a:r>
            <a:r>
              <a:rPr lang="en-US" sz="1200" b="1" kern="0" spc="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C2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 &amp; sources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C77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77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2057400"/>
            <a:ext cx="9784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APATE: automated credit-card fraud detection using network-based extensions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60120" y="2350008"/>
            <a:ext cx="97840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Vlasselaer et al. (2015) · Decision Support Systems · ScienceDirect: S0167923615000846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715768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77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2715768"/>
            <a:ext cx="9784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graph-based, semi-supervised credit-card fraud detection system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60120" y="3008376"/>
            <a:ext cx="97840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Lebichot et al. (2017) · Springer · doi:10.1007/978-3-319-50901-3_57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3374136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77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0120" y="3374136"/>
            <a:ext cx="9784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potential of network-based features for fraud detection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60120" y="3666744"/>
            <a:ext cx="97840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(2024) · arXiv:2402.09495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4032504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77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60120" y="4032504"/>
            <a:ext cx="9784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Explainable-AI–enhanced ensemble learning for financial fraud detection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60120" y="4325112"/>
            <a:ext cx="97840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Vijayanand &amp; Smrithy (2025) · SAGE · doi:10.1177/18724981241289751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4690872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77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60120" y="4690872"/>
            <a:ext cx="9784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privacy challenges of large language models: a survey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60120" y="4983480"/>
            <a:ext cx="97840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(2024) · arXiv:2402.00888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5486400"/>
            <a:ext cx="11064240" cy="868680"/>
          </a:xfrm>
          <a:prstGeom prst="roundRect">
            <a:avLst>
              <a:gd name="adj" fmla="val 12632"/>
            </a:avLst>
          </a:prstGeom>
          <a:solidFill>
            <a:srgbClr val="E4E9EF"/>
          </a:solidFill>
          <a:ln w="12700">
            <a:solidFill>
              <a:srgbClr val="E4E9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6235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3C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SOURCES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77240" y="587959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FICO Falcon · Feedzai · Featurespace ARIC · NICE Actimize — vendor &amp; industry overviews (fico.com, intellisoft.io).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INDUS11 · Mentor Deck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91153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602</TotalTime>
  <Words>1173</Words>
  <Application>Microsoft Macintosh PowerPoint</Application>
  <PresentationFormat>Widescreen</PresentationFormat>
  <Paragraphs>201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Joshi Om</cp:lastModifiedBy>
  <cp:revision>4</cp:revision>
  <dcterms:created xsi:type="dcterms:W3CDTF">2026-07-10T16:23:56Z</dcterms:created>
  <dcterms:modified xsi:type="dcterms:W3CDTF">2026-07-11T04:56:36Z</dcterms:modified>
</cp:coreProperties>
</file>